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Montserrat" charset="1" panose="00000500000000000000"/>
      <p:regular r:id="rId25"/>
    </p:embeddedFont>
    <p:embeddedFont>
      <p:font typeface="Anton" charset="1" panose="00000500000000000000"/>
      <p:regular r:id="rId26"/>
    </p:embeddedFont>
    <p:embeddedFont>
      <p:font typeface="Montserrat Bold" charset="1" panose="00000800000000000000"/>
      <p:regular r:id="rId27"/>
    </p:embeddedFont>
    <p:embeddedFont>
      <p:font typeface="Magz" charset="1" panose="02000503000000000000"/>
      <p:regular r:id="rId28"/>
    </p:embeddedFont>
    <p:embeddedFont>
      <p:font typeface="JetBrains Mono" charset="1" panose="02010509020102050004"/>
      <p:regular r:id="rId29"/>
    </p:embeddedFont>
    <p:embeddedFont>
      <p:font typeface="Oswald Bold" charset="1" panose="00000800000000000000"/>
      <p:regular r:id="rId30"/>
    </p:embeddedFont>
    <p:embeddedFont>
      <p:font typeface="Barlow" charset="1" panose="00000500000000000000"/>
      <p:regular r:id="rId31"/>
    </p:embeddedFont>
    <p:embeddedFont>
      <p:font typeface="Oswald" charset="1" panose="000005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6625" y="0"/>
            <a:ext cx="7191375" cy="10287000"/>
          </a:xfrm>
          <a:custGeom>
            <a:avLst/>
            <a:gdLst/>
            <a:ahLst/>
            <a:cxnLst/>
            <a:rect r="r" b="b" t="t" l="l"/>
            <a:pathLst>
              <a:path h="10287000" w="7191375">
                <a:moveTo>
                  <a:pt x="0" y="0"/>
                </a:moveTo>
                <a:lnTo>
                  <a:pt x="7191375" y="0"/>
                </a:lnTo>
                <a:lnTo>
                  <a:pt x="7191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625" y="209550"/>
            <a:ext cx="6324600" cy="1295400"/>
          </a:xfrm>
          <a:custGeom>
            <a:avLst/>
            <a:gdLst/>
            <a:ahLst/>
            <a:cxnLst/>
            <a:rect r="r" b="b" t="t" l="l"/>
            <a:pathLst>
              <a:path h="1295400" w="6324600">
                <a:moveTo>
                  <a:pt x="0" y="0"/>
                </a:moveTo>
                <a:lnTo>
                  <a:pt x="6324600" y="0"/>
                </a:lnTo>
                <a:lnTo>
                  <a:pt x="6324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1495425"/>
            <a:ext cx="9810750" cy="219075"/>
          </a:xfrm>
          <a:custGeom>
            <a:avLst/>
            <a:gdLst/>
            <a:ahLst/>
            <a:cxnLst/>
            <a:rect r="r" b="b" t="t" l="l"/>
            <a:pathLst>
              <a:path h="219075" w="9810750">
                <a:moveTo>
                  <a:pt x="0" y="0"/>
                </a:moveTo>
                <a:lnTo>
                  <a:pt x="9810750" y="0"/>
                </a:lnTo>
                <a:lnTo>
                  <a:pt x="981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6656" y="1731752"/>
            <a:ext cx="4992624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373" spc="206">
                <a:solidFill>
                  <a:srgbClr val="FFFF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PROJECT STORYBOARD // CASE STUDY 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80" y="2210882"/>
            <a:ext cx="7790688" cy="178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74"/>
              </a:lnSpc>
            </a:pPr>
            <a:r>
              <a:rPr lang="en-US" sz="1347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SSU CONNEX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080" y="3929371"/>
            <a:ext cx="7735824" cy="90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C80000"/>
                </a:solidFill>
                <a:latin typeface="Anton"/>
                <a:ea typeface="Anton"/>
                <a:cs typeface="Anton"/>
                <a:sym typeface="Anton"/>
              </a:rPr>
              <a:t>CONTAINER CONVERSION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492442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6656" y="5321915"/>
            <a:ext cx="4828032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373" spc="20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 METAL FABRICATION PROJECT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6429375"/>
            <a:ext cx="2409825" cy="2790825"/>
          </a:xfrm>
          <a:custGeom>
            <a:avLst/>
            <a:gdLst/>
            <a:ahLst/>
            <a:cxnLst/>
            <a:rect r="r" b="b" t="t" l="l"/>
            <a:pathLst>
              <a:path h="2790825" w="2409825">
                <a:moveTo>
                  <a:pt x="0" y="0"/>
                </a:moveTo>
                <a:lnTo>
                  <a:pt x="2409825" y="0"/>
                </a:lnTo>
                <a:lnTo>
                  <a:pt x="24098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48000" y="6429375"/>
            <a:ext cx="5667375" cy="2790825"/>
          </a:xfrm>
          <a:custGeom>
            <a:avLst/>
            <a:gdLst/>
            <a:ahLst/>
            <a:cxnLst/>
            <a:rect r="r" b="b" t="t" l="l"/>
            <a:pathLst>
              <a:path h="2790825" w="5667375">
                <a:moveTo>
                  <a:pt x="0" y="0"/>
                </a:moveTo>
                <a:lnTo>
                  <a:pt x="5667375" y="0"/>
                </a:lnTo>
                <a:lnTo>
                  <a:pt x="5667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05850" y="6429375"/>
            <a:ext cx="2400300" cy="2790825"/>
          </a:xfrm>
          <a:custGeom>
            <a:avLst/>
            <a:gdLst/>
            <a:ahLst/>
            <a:cxnLst/>
            <a:rect r="r" b="b" t="t" l="l"/>
            <a:pathLst>
              <a:path h="2790825" w="2400300">
                <a:moveTo>
                  <a:pt x="0" y="0"/>
                </a:moveTo>
                <a:lnTo>
                  <a:pt x="2400300" y="0"/>
                </a:lnTo>
                <a:lnTo>
                  <a:pt x="2400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7700" y="9210675"/>
            <a:ext cx="10458450" cy="219075"/>
          </a:xfrm>
          <a:custGeom>
            <a:avLst/>
            <a:gdLst/>
            <a:ahLst/>
            <a:cxnLst/>
            <a:rect r="r" b="b" t="t" l="l"/>
            <a:pathLst>
              <a:path h="219075" w="10458450">
                <a:moveTo>
                  <a:pt x="0" y="0"/>
                </a:moveTo>
                <a:lnTo>
                  <a:pt x="10458450" y="0"/>
                </a:lnTo>
                <a:lnTo>
                  <a:pt x="1045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6656" y="9591020"/>
            <a:ext cx="4443984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373" spc="206">
                <a:solidFill>
                  <a:srgbClr val="FFFF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VETERAN OWNED • AMERICAN MADE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95376" y="2159809"/>
            <a:ext cx="2450592" cy="32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1913" spc="9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Logistics / Mobile Ops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95376" y="3205169"/>
            <a:ext cx="2450592" cy="330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1980" spc="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Structural Conversion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95376" y="3830300"/>
            <a:ext cx="1133856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373" spc="20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66976" y="9425086"/>
            <a:ext cx="2944368" cy="34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3"/>
              </a:lnSpc>
            </a:pPr>
            <a:r>
              <a:rPr lang="en-US" sz="2002" spc="1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BUILT STRONG. BUILT RIGHT.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6656" y="5681960"/>
            <a:ext cx="4553712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373" spc="68">
                <a:solidFill>
                  <a:srgbClr val="FFFF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Fayetteville, North Carolina • Delivered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95376" y="1772900"/>
            <a:ext cx="1792224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373" spc="20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 SECTOR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95376" y="2839587"/>
            <a:ext cx="694944" cy="20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b="true" sz="1244" spc="1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95376" y="4199290"/>
            <a:ext cx="1115568" cy="34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spc="1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Q2 - 2026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96128" y="1111663"/>
            <a:ext cx="896112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962" spc="148">
                <a:solidFill>
                  <a:srgbClr val="C80000"/>
                </a:solidFill>
                <a:latin typeface="Magz"/>
                <a:ea typeface="Magz"/>
                <a:cs typeface="Magz"/>
                <a:sym typeface="Magz"/>
              </a:rPr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6000" y="0"/>
            <a:ext cx="12192000" cy="10287000"/>
            <a:chOff x="0" y="0"/>
            <a:chExt cx="1625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232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256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19800" y="0"/>
            <a:ext cx="57150" cy="10287000"/>
            <a:chOff x="0" y="0"/>
            <a:chExt cx="762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2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096000" y="4924425"/>
            <a:ext cx="1219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spc="480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 INSERT PROJECT HERO IMAGE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914400"/>
            <a:ext cx="2705100" cy="400050"/>
            <a:chOff x="0" y="0"/>
            <a:chExt cx="3606800" cy="5334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476625"/>
            <a:ext cx="762000" cy="28575"/>
            <a:chOff x="0" y="0"/>
            <a:chExt cx="1016000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14400" y="3219450"/>
            <a:ext cx="476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STORYBOARD  //  001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3857625"/>
            <a:ext cx="5334000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5"/>
              </a:lnSpc>
            </a:pPr>
            <a:r>
              <a:rPr lang="en-US" sz="9900" spc="198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PROJECT</a:t>
            </a:r>
          </a:p>
          <a:p>
            <a:pPr algn="l">
              <a:lnSpc>
                <a:spcPts val="9405"/>
              </a:lnSpc>
            </a:pPr>
            <a:r>
              <a:rPr lang="en-US" sz="9900" spc="198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NAME</a:t>
            </a:r>
          </a:p>
          <a:p>
            <a:pPr algn="l">
              <a:lnSpc>
                <a:spcPts val="9405"/>
              </a:lnSpc>
            </a:pPr>
            <a:r>
              <a:rPr lang="en-US" sz="9900" spc="198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HERE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7315200"/>
            <a:ext cx="2667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CUSTOMER / LOCATION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750570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Customer or Location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71900" y="7315200"/>
            <a:ext cx="2476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TYPE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71900" y="7505700"/>
            <a:ext cx="2476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Fabrication Category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7981950"/>
            <a:ext cx="2667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DELIVERY QUARTER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172450"/>
            <a:ext cx="2667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QX / YEAR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8934450"/>
            <a:ext cx="476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420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CUSTOM METAL. BUILT TO LAST.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9163050"/>
            <a:ext cx="5334000" cy="11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sz="675" spc="202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VETERAN OWNED  ·  AMERICAN MADE  ·  BUILT STRONG. FINISHED RIGHT.</a:t>
            </a:r>
          </a:p>
        </p:txBody>
      </p:sp>
      <p:sp>
        <p:nvSpPr>
          <p:cNvPr name="AutoShape 28" id="28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18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 //  OVERVIEW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PROJECT EXECUTIVE SUMMARY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14400" y="4032504"/>
            <a:ext cx="381000" cy="19050"/>
            <a:chOff x="0" y="0"/>
            <a:chExt cx="508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0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14400" y="3565779"/>
            <a:ext cx="571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" y="4051554"/>
            <a:ext cx="3238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OBJECTIVE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4400" y="4327779"/>
            <a:ext cx="314325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Concise statement of the fabrication objective and delivery target for this engagement.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438650" y="4032504"/>
            <a:ext cx="381000" cy="19050"/>
            <a:chOff x="0" y="0"/>
            <a:chExt cx="508000" cy="25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0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4438650" y="3565779"/>
            <a:ext cx="571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38650" y="4051554"/>
            <a:ext cx="3238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CUSTOMER NEED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438650" y="4327779"/>
            <a:ext cx="3143250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Operational, structural, or functional need driving the request from the customer.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7962900" y="4032504"/>
            <a:ext cx="381000" cy="19050"/>
            <a:chOff x="0" y="0"/>
            <a:chExt cx="508000" cy="25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0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7962900" y="3565779"/>
            <a:ext cx="571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962900" y="4051554"/>
            <a:ext cx="3238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 SOLUTION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962900" y="4327779"/>
            <a:ext cx="314325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Engineered fabrication and installation approach delivering the required outcome.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487150" y="4032504"/>
            <a:ext cx="381000" cy="19050"/>
            <a:chOff x="0" y="0"/>
            <a:chExt cx="508000" cy="25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0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1487150" y="3565779"/>
            <a:ext cx="571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487150" y="4051554"/>
            <a:ext cx="3238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CURRENT STATUS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487150" y="4327779"/>
            <a:ext cx="3143250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Phase in progress, percent complete, and next scheduled milestone or review.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14400" y="7429500"/>
            <a:ext cx="16459200" cy="9525"/>
            <a:chOff x="0" y="0"/>
            <a:chExt cx="21945600" cy="127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945600" cy="12700"/>
            </a:xfrm>
            <a:custGeom>
              <a:avLst/>
              <a:gdLst/>
              <a:ahLst/>
              <a:cxnLst/>
              <a:rect r="r" b="b" t="t" l="l"/>
              <a:pathLst>
                <a:path h="127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55555"/>
            </a:soli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19456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14400" y="7581900"/>
            <a:ext cx="4000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MAJOR MILESTONES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14400" y="7810500"/>
            <a:ext cx="40005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0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Design approval</a:t>
            </a:r>
          </a:p>
          <a:p>
            <a:pPr algn="l">
              <a:lnSpc>
                <a:spcPts val="1680"/>
              </a:lnSpc>
            </a:pPr>
            <a:r>
              <a:rPr lang="en-US" sz="10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Materials received</a:t>
            </a:r>
          </a:p>
          <a:p>
            <a:pPr algn="l">
              <a:lnSpc>
                <a:spcPts val="1680"/>
              </a:lnSpc>
            </a:pPr>
            <a:r>
              <a:rPr lang="en-US" sz="10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Fabrication complete</a:t>
            </a:r>
          </a:p>
          <a:p>
            <a:pPr algn="l">
              <a:lnSpc>
                <a:spcPts val="1680"/>
              </a:lnSpc>
            </a:pPr>
            <a:r>
              <a:rPr lang="en-US" sz="10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Installation &amp; sign-off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295900" y="7572375"/>
            <a:ext cx="190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SIZE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295900" y="7791450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—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391400" y="7572375"/>
            <a:ext cx="2095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SCOPE TYPE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391400" y="77914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—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677400" y="7572375"/>
            <a:ext cx="2095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MATERIALS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677400" y="77914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—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963400" y="7572375"/>
            <a:ext cx="2095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CLIENT SECTOR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963400" y="77914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—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4897100" y="571500"/>
            <a:ext cx="2476500" cy="857250"/>
            <a:chOff x="0" y="0"/>
            <a:chExt cx="3302000" cy="1143000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0" y="0"/>
              <a:ext cx="3302000" cy="1143000"/>
              <a:chOff x="0" y="0"/>
              <a:chExt cx="3302000" cy="11430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3302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3302000">
                    <a:moveTo>
                      <a:pt x="0" y="0"/>
                    </a:moveTo>
                    <a:lnTo>
                      <a:pt x="3302000" y="0"/>
                    </a:lnTo>
                    <a:lnTo>
                      <a:pt x="3302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38100"/>
                <a:ext cx="3302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0" id="90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0">
              <a:off x="2921000" y="965200"/>
              <a:ext cx="228600" cy="25400"/>
              <a:chOff x="0" y="0"/>
              <a:chExt cx="228600" cy="25400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0">
              <a:off x="3124200" y="762000"/>
              <a:ext cx="25400" cy="228600"/>
              <a:chOff x="0" y="0"/>
              <a:chExt cx="25400" cy="228600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2" id="102"/>
            <p:cNvSpPr txBox="true"/>
            <p:nvPr/>
          </p:nvSpPr>
          <p:spPr>
            <a:xfrm rot="0">
              <a:off x="0" y="123825"/>
              <a:ext cx="3302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0" y="831850"/>
              <a:ext cx="3302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INSERT SUMMARY IMAGE</a:t>
              </a:r>
            </a:p>
          </p:txBody>
        </p:sp>
      </p:grpSp>
      <p:sp>
        <p:nvSpPr>
          <p:cNvPr name="AutoShape 104" id="104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5" id="105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18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 //  BASELINE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ORIGINAL CONDITION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14400" y="3613404"/>
            <a:ext cx="10287000" cy="5905500"/>
            <a:chOff x="0" y="0"/>
            <a:chExt cx="13716000" cy="7874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13716000" cy="7874000"/>
              <a:chOff x="0" y="0"/>
              <a:chExt cx="13716000" cy="7874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3716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13716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13335000" y="7696200"/>
              <a:ext cx="228600" cy="25400"/>
              <a:chOff x="0" y="0"/>
              <a:chExt cx="228600" cy="254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3538200" y="7493000"/>
              <a:ext cx="25400" cy="228600"/>
              <a:chOff x="0" y="0"/>
              <a:chExt cx="25400" cy="2286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0" y="3489325"/>
              <a:ext cx="13716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0" y="4197350"/>
              <a:ext cx="13716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ORIGINAL CONDITION PHOTO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14400" y="9652254"/>
            <a:ext cx="10287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62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CAPTION  //  Insert descriptive caption for original condition photograph.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1449050" y="3594354"/>
            <a:ext cx="19050" cy="952500"/>
            <a:chOff x="0" y="0"/>
            <a:chExt cx="25400" cy="1270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4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54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1582400" y="3594354"/>
            <a:ext cx="57912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BACKGROUND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582400" y="3775329"/>
            <a:ext cx="57912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Context, prior use, and reason the customer engaged Metal Worx.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1449050" y="5023104"/>
            <a:ext cx="19050" cy="952500"/>
            <a:chOff x="0" y="0"/>
            <a:chExt cx="25400" cy="1270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4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54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1582400" y="5023104"/>
            <a:ext cx="57912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ORIGINAL CONDITION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582400" y="5204079"/>
            <a:ext cx="57912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Observed condition, wear points, and any structural or functional issues.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449050" y="6451854"/>
            <a:ext cx="19050" cy="952500"/>
            <a:chOff x="0" y="0"/>
            <a:chExt cx="25400" cy="12700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54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54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1582400" y="6451854"/>
            <a:ext cx="57912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CUSTOMER REQUIREMENTS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582400" y="6632829"/>
            <a:ext cx="57912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What the customer requires from the finished fabrication and installation.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1449050" y="7880604"/>
            <a:ext cx="19050" cy="952500"/>
            <a:chOff x="0" y="0"/>
            <a:chExt cx="25400" cy="1270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4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54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1582400" y="7880604"/>
            <a:ext cx="57912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PLANNED TRANSFORMATION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582400" y="8061579"/>
            <a:ext cx="57912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High-level overview of the intended change and outcome.</a:t>
            </a:r>
          </a:p>
        </p:txBody>
      </p:sp>
      <p:sp>
        <p:nvSpPr>
          <p:cNvPr name="AutoShape 88" id="88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9" id="89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18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 //  DEFINITION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SCOPE AND OBJECTIVES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14400" y="3708654"/>
            <a:ext cx="28575" cy="1714500"/>
            <a:chOff x="0" y="0"/>
            <a:chExt cx="38100" cy="2286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81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81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85850" y="3689604"/>
            <a:ext cx="77724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SCOPE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85850" y="3908679"/>
            <a:ext cx="77724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Overall scope statement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Boundaries and exclusions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Approval authority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429750" y="3708654"/>
            <a:ext cx="28575" cy="1714500"/>
            <a:chOff x="0" y="0"/>
            <a:chExt cx="38100" cy="2286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1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81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601200" y="3689604"/>
            <a:ext cx="77724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MAJOR DELIVERABLES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601200" y="3908679"/>
            <a:ext cx="77724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Primary fabricated assemblies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Sub-components and hardware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Documentation package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14400" y="5994654"/>
            <a:ext cx="28575" cy="1714500"/>
            <a:chOff x="0" y="0"/>
            <a:chExt cx="38100" cy="2286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1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81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85850" y="5975604"/>
            <a:ext cx="77724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MATERIALS &amp; FABRICATION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85850" y="6194679"/>
            <a:ext cx="77724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Steel grade / plate spec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Welding process and standard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Finish and coatings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429750" y="5994654"/>
            <a:ext cx="28575" cy="1714500"/>
            <a:chOff x="0" y="0"/>
            <a:chExt cx="38100" cy="2286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81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81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601200" y="5975604"/>
            <a:ext cx="77724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601200" y="6194679"/>
            <a:ext cx="77724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Site readiness requirements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Rigging and equipment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 Crew and schedule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14400" y="7905750"/>
            <a:ext cx="16459200" cy="1047750"/>
            <a:chOff x="0" y="0"/>
            <a:chExt cx="21945600" cy="1397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945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232323"/>
            </a:solidFill>
            <a:ln w="9525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19456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14400" y="7905750"/>
            <a:ext cx="57150" cy="1047750"/>
            <a:chOff x="0" y="0"/>
            <a:chExt cx="76200" cy="1397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2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762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200150" y="809625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DESIRED OUTCOMES  /  TECHNICAL NOTES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00150" y="8334375"/>
            <a:ext cx="158877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Concise placeholder for measurable outcomes, load specifications, tolerances, or acceptance criteria.</a:t>
            </a:r>
          </a:p>
        </p:txBody>
      </p:sp>
      <p:sp>
        <p:nvSpPr>
          <p:cNvPr name="AutoShape 77" id="77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8" id="78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18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 //  SCHEDULE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PROJECT TIMELINE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14400" y="5905500"/>
            <a:ext cx="16459200" cy="0"/>
          </a:xfrm>
          <a:prstGeom prst="line">
            <a:avLst/>
          </a:prstGeom>
          <a:ln cap="flat" w="19050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" y="5905500"/>
            <a:ext cx="7053943" cy="0"/>
          </a:xfrm>
          <a:prstGeom prst="line">
            <a:avLst/>
          </a:prstGeom>
          <a:ln cap="flat" w="3810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47650" y="3708654"/>
            <a:ext cx="1333500" cy="952500"/>
            <a:chOff x="0" y="0"/>
            <a:chExt cx="1778000" cy="1270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778000" cy="1270000"/>
              <a:chOff x="0" y="0"/>
              <a:chExt cx="1778000" cy="127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778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778000">
                    <a:moveTo>
                      <a:pt x="0" y="0"/>
                    </a:moveTo>
                    <a:lnTo>
                      <a:pt x="1778000" y="0"/>
                    </a:lnTo>
                    <a:lnTo>
                      <a:pt x="1778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778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397000" y="1092200"/>
              <a:ext cx="228600" cy="25400"/>
              <a:chOff x="0" y="0"/>
              <a:chExt cx="228600" cy="254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600200" y="889000"/>
              <a:ext cx="25400" cy="228600"/>
              <a:chOff x="0" y="0"/>
              <a:chExt cx="25400" cy="228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7325"/>
              <a:ext cx="177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895350"/>
              <a:ext cx="177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9150" y="5810250"/>
            <a:ext cx="190500" cy="190500"/>
            <a:chOff x="0" y="0"/>
            <a:chExt cx="254000" cy="254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B5121B"/>
            </a:solidFill>
            <a:ln w="19050" cap="sq">
              <a:solidFill>
                <a:srgbClr val="B5121B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598964" y="3708654"/>
            <a:ext cx="1333500" cy="952500"/>
            <a:chOff x="0" y="0"/>
            <a:chExt cx="1778000" cy="1270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778000" cy="1270000"/>
              <a:chOff x="0" y="0"/>
              <a:chExt cx="1778000" cy="1270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778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778000">
                    <a:moveTo>
                      <a:pt x="0" y="0"/>
                    </a:moveTo>
                    <a:lnTo>
                      <a:pt x="1778000" y="0"/>
                    </a:lnTo>
                    <a:lnTo>
                      <a:pt x="1778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778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397000" y="1092200"/>
              <a:ext cx="228600" cy="25400"/>
              <a:chOff x="0" y="0"/>
              <a:chExt cx="228600" cy="254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1600200" y="889000"/>
              <a:ext cx="25400" cy="228600"/>
              <a:chOff x="0" y="0"/>
              <a:chExt cx="25400" cy="2286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0" y="187325"/>
              <a:ext cx="177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895350"/>
              <a:ext cx="177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170464" y="5810250"/>
            <a:ext cx="190500" cy="190500"/>
            <a:chOff x="0" y="0"/>
            <a:chExt cx="254000" cy="254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B5121B"/>
            </a:solidFill>
            <a:ln w="19050" cap="sq">
              <a:solidFill>
                <a:srgbClr val="B5121B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950279" y="3708654"/>
            <a:ext cx="1333500" cy="952500"/>
            <a:chOff x="0" y="0"/>
            <a:chExt cx="1778000" cy="1270000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1778000" cy="1270000"/>
              <a:chOff x="0" y="0"/>
              <a:chExt cx="1778000" cy="12700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778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778000">
                    <a:moveTo>
                      <a:pt x="0" y="0"/>
                    </a:moveTo>
                    <a:lnTo>
                      <a:pt x="1778000" y="0"/>
                    </a:lnTo>
                    <a:lnTo>
                      <a:pt x="1778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1778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1397000" y="1092200"/>
              <a:ext cx="228600" cy="25400"/>
              <a:chOff x="0" y="0"/>
              <a:chExt cx="228600" cy="254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1600200" y="889000"/>
              <a:ext cx="25400" cy="228600"/>
              <a:chOff x="0" y="0"/>
              <a:chExt cx="25400" cy="2286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3" id="73"/>
            <p:cNvSpPr txBox="true"/>
            <p:nvPr/>
          </p:nvSpPr>
          <p:spPr>
            <a:xfrm rot="0">
              <a:off x="0" y="187325"/>
              <a:ext cx="177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0" y="895350"/>
              <a:ext cx="177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3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521779" y="5810250"/>
            <a:ext cx="190500" cy="190500"/>
            <a:chOff x="0" y="0"/>
            <a:chExt cx="254000" cy="254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B5121B"/>
            </a:solidFill>
            <a:ln w="19050" cap="sq">
              <a:solidFill>
                <a:srgbClr val="B5121B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301593" y="3708654"/>
            <a:ext cx="1333500" cy="952500"/>
            <a:chOff x="0" y="0"/>
            <a:chExt cx="1778000" cy="1270000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1778000" cy="1270000"/>
              <a:chOff x="0" y="0"/>
              <a:chExt cx="1778000" cy="12700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778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778000">
                    <a:moveTo>
                      <a:pt x="0" y="0"/>
                    </a:moveTo>
                    <a:lnTo>
                      <a:pt x="1778000" y="0"/>
                    </a:lnTo>
                    <a:lnTo>
                      <a:pt x="1778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38100"/>
                <a:ext cx="1778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1397000" y="1092200"/>
              <a:ext cx="228600" cy="25400"/>
              <a:chOff x="0" y="0"/>
              <a:chExt cx="228600" cy="254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1600200" y="889000"/>
              <a:ext cx="25400" cy="228600"/>
              <a:chOff x="0" y="0"/>
              <a:chExt cx="25400" cy="22860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4" id="94"/>
            <p:cNvSpPr txBox="true"/>
            <p:nvPr/>
          </p:nvSpPr>
          <p:spPr>
            <a:xfrm rot="0">
              <a:off x="0" y="187325"/>
              <a:ext cx="177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0" y="895350"/>
              <a:ext cx="177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4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873093" y="5810250"/>
            <a:ext cx="190500" cy="190500"/>
            <a:chOff x="0" y="0"/>
            <a:chExt cx="254000" cy="254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B5121B"/>
            </a:solidFill>
            <a:ln w="19050" cap="sq">
              <a:solidFill>
                <a:srgbClr val="B5121B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52907" y="3708654"/>
            <a:ext cx="1333500" cy="952500"/>
            <a:chOff x="0" y="0"/>
            <a:chExt cx="1778000" cy="1270000"/>
          </a:xfrm>
        </p:grpSpPr>
        <p:grpSp>
          <p:nvGrpSpPr>
            <p:cNvPr name="Group 100" id="100"/>
            <p:cNvGrpSpPr/>
            <p:nvPr/>
          </p:nvGrpSpPr>
          <p:grpSpPr>
            <a:xfrm rot="0">
              <a:off x="0" y="0"/>
              <a:ext cx="1778000" cy="1270000"/>
              <a:chOff x="0" y="0"/>
              <a:chExt cx="1778000" cy="127000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778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778000">
                    <a:moveTo>
                      <a:pt x="0" y="0"/>
                    </a:moveTo>
                    <a:lnTo>
                      <a:pt x="1778000" y="0"/>
                    </a:lnTo>
                    <a:lnTo>
                      <a:pt x="1778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38100"/>
                <a:ext cx="1778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397000" y="1092200"/>
              <a:ext cx="228600" cy="25400"/>
              <a:chOff x="0" y="0"/>
              <a:chExt cx="228600" cy="254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1600200" y="889000"/>
              <a:ext cx="25400" cy="228600"/>
              <a:chOff x="0" y="0"/>
              <a:chExt cx="25400" cy="2286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5" id="115"/>
            <p:cNvSpPr txBox="true"/>
            <p:nvPr/>
          </p:nvSpPr>
          <p:spPr>
            <a:xfrm rot="0">
              <a:off x="0" y="187325"/>
              <a:ext cx="177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16" id="116"/>
            <p:cNvSpPr txBox="true"/>
            <p:nvPr/>
          </p:nvSpPr>
          <p:spPr>
            <a:xfrm rot="0">
              <a:off x="0" y="895350"/>
              <a:ext cx="177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5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0224407" y="5810250"/>
            <a:ext cx="190500" cy="190500"/>
            <a:chOff x="0" y="0"/>
            <a:chExt cx="254000" cy="2540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A1A1A"/>
            </a:solidFill>
            <a:ln w="19050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004221" y="3708654"/>
            <a:ext cx="1333500" cy="952500"/>
            <a:chOff x="0" y="0"/>
            <a:chExt cx="1778000" cy="1270000"/>
          </a:xfrm>
        </p:grpSpPr>
        <p:grpSp>
          <p:nvGrpSpPr>
            <p:cNvPr name="Group 121" id="121"/>
            <p:cNvGrpSpPr/>
            <p:nvPr/>
          </p:nvGrpSpPr>
          <p:grpSpPr>
            <a:xfrm rot="0">
              <a:off x="0" y="0"/>
              <a:ext cx="1778000" cy="1270000"/>
              <a:chOff x="0" y="0"/>
              <a:chExt cx="1778000" cy="1270000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1778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778000">
                    <a:moveTo>
                      <a:pt x="0" y="0"/>
                    </a:moveTo>
                    <a:lnTo>
                      <a:pt x="1778000" y="0"/>
                    </a:lnTo>
                    <a:lnTo>
                      <a:pt x="1778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0" y="-38100"/>
                <a:ext cx="1778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1397000" y="1092200"/>
              <a:ext cx="228600" cy="25400"/>
              <a:chOff x="0" y="0"/>
              <a:chExt cx="228600" cy="25400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3" id="133"/>
            <p:cNvGrpSpPr/>
            <p:nvPr/>
          </p:nvGrpSpPr>
          <p:grpSpPr>
            <a:xfrm rot="0">
              <a:off x="1600200" y="889000"/>
              <a:ext cx="25400" cy="228600"/>
              <a:chOff x="0" y="0"/>
              <a:chExt cx="25400" cy="228600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6" id="136"/>
            <p:cNvSpPr txBox="true"/>
            <p:nvPr/>
          </p:nvSpPr>
          <p:spPr>
            <a:xfrm rot="0">
              <a:off x="0" y="187325"/>
              <a:ext cx="177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37" id="137"/>
            <p:cNvSpPr txBox="true"/>
            <p:nvPr/>
          </p:nvSpPr>
          <p:spPr>
            <a:xfrm rot="0">
              <a:off x="0" y="895350"/>
              <a:ext cx="177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6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575721" y="5810250"/>
            <a:ext cx="190500" cy="190500"/>
            <a:chOff x="0" y="0"/>
            <a:chExt cx="254000" cy="2540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A1A1A"/>
            </a:solidFill>
            <a:ln w="19050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4355536" y="3708654"/>
            <a:ext cx="1333500" cy="952500"/>
            <a:chOff x="0" y="0"/>
            <a:chExt cx="1778000" cy="1270000"/>
          </a:xfrm>
        </p:grpSpPr>
        <p:grpSp>
          <p:nvGrpSpPr>
            <p:cNvPr name="Group 142" id="142"/>
            <p:cNvGrpSpPr/>
            <p:nvPr/>
          </p:nvGrpSpPr>
          <p:grpSpPr>
            <a:xfrm rot="0">
              <a:off x="0" y="0"/>
              <a:ext cx="1778000" cy="1270000"/>
              <a:chOff x="0" y="0"/>
              <a:chExt cx="1778000" cy="1270000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1778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778000">
                    <a:moveTo>
                      <a:pt x="0" y="0"/>
                    </a:moveTo>
                    <a:lnTo>
                      <a:pt x="1778000" y="0"/>
                    </a:lnTo>
                    <a:lnTo>
                      <a:pt x="1778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44" id="144"/>
              <p:cNvSpPr txBox="true"/>
              <p:nvPr/>
            </p:nvSpPr>
            <p:spPr>
              <a:xfrm>
                <a:off x="0" y="-38100"/>
                <a:ext cx="1778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5" id="145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7" id="14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0" id="15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1397000" y="1092200"/>
              <a:ext cx="228600" cy="25400"/>
              <a:chOff x="0" y="0"/>
              <a:chExt cx="228600" cy="25400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3" id="15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4" id="154"/>
            <p:cNvGrpSpPr/>
            <p:nvPr/>
          </p:nvGrpSpPr>
          <p:grpSpPr>
            <a:xfrm rot="0">
              <a:off x="1600200" y="889000"/>
              <a:ext cx="25400" cy="228600"/>
              <a:chOff x="0" y="0"/>
              <a:chExt cx="25400" cy="228600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7" id="157"/>
            <p:cNvSpPr txBox="true"/>
            <p:nvPr/>
          </p:nvSpPr>
          <p:spPr>
            <a:xfrm rot="0">
              <a:off x="0" y="187325"/>
              <a:ext cx="177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58" id="158"/>
            <p:cNvSpPr txBox="true"/>
            <p:nvPr/>
          </p:nvSpPr>
          <p:spPr>
            <a:xfrm rot="0">
              <a:off x="0" y="895350"/>
              <a:ext cx="177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7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4927036" y="5810250"/>
            <a:ext cx="190500" cy="190500"/>
            <a:chOff x="0" y="0"/>
            <a:chExt cx="254000" cy="2540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A1A1A"/>
            </a:solidFill>
            <a:ln w="19050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6706850" y="3708654"/>
            <a:ext cx="1333500" cy="952500"/>
            <a:chOff x="0" y="0"/>
            <a:chExt cx="1778000" cy="1270000"/>
          </a:xfrm>
        </p:grpSpPr>
        <p:grpSp>
          <p:nvGrpSpPr>
            <p:cNvPr name="Group 163" id="163"/>
            <p:cNvGrpSpPr/>
            <p:nvPr/>
          </p:nvGrpSpPr>
          <p:grpSpPr>
            <a:xfrm rot="0">
              <a:off x="0" y="0"/>
              <a:ext cx="1778000" cy="1270000"/>
              <a:chOff x="0" y="0"/>
              <a:chExt cx="1778000" cy="1270000"/>
            </a:xfrm>
          </p:grpSpPr>
          <p:sp>
            <p:nvSpPr>
              <p:cNvPr name="Freeform 164" id="164"/>
              <p:cNvSpPr/>
              <p:nvPr/>
            </p:nvSpPr>
            <p:spPr>
              <a:xfrm flipH="false" flipV="false" rot="0">
                <a:off x="0" y="0"/>
                <a:ext cx="1778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778000">
                    <a:moveTo>
                      <a:pt x="0" y="0"/>
                    </a:moveTo>
                    <a:lnTo>
                      <a:pt x="1778000" y="0"/>
                    </a:lnTo>
                    <a:lnTo>
                      <a:pt x="1778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65" id="165"/>
              <p:cNvSpPr txBox="true"/>
              <p:nvPr/>
            </p:nvSpPr>
            <p:spPr>
              <a:xfrm>
                <a:off x="0" y="-38100"/>
                <a:ext cx="1778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6" id="166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67" id="167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8" id="168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9" id="169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70" id="170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1" id="171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2" id="172"/>
            <p:cNvGrpSpPr/>
            <p:nvPr/>
          </p:nvGrpSpPr>
          <p:grpSpPr>
            <a:xfrm rot="0">
              <a:off x="1397000" y="1092200"/>
              <a:ext cx="228600" cy="25400"/>
              <a:chOff x="0" y="0"/>
              <a:chExt cx="228600" cy="25400"/>
            </a:xfrm>
          </p:grpSpPr>
          <p:sp>
            <p:nvSpPr>
              <p:cNvPr name="Freeform 173" id="173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4" id="174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5" id="175"/>
            <p:cNvGrpSpPr/>
            <p:nvPr/>
          </p:nvGrpSpPr>
          <p:grpSpPr>
            <a:xfrm rot="0">
              <a:off x="1600200" y="889000"/>
              <a:ext cx="25400" cy="228600"/>
              <a:chOff x="0" y="0"/>
              <a:chExt cx="25400" cy="228600"/>
            </a:xfrm>
          </p:grpSpPr>
          <p:sp>
            <p:nvSpPr>
              <p:cNvPr name="Freeform 176" id="176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7" id="177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8" id="178"/>
            <p:cNvSpPr txBox="true"/>
            <p:nvPr/>
          </p:nvSpPr>
          <p:spPr>
            <a:xfrm rot="0">
              <a:off x="0" y="187325"/>
              <a:ext cx="177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79" id="179"/>
            <p:cNvSpPr txBox="true"/>
            <p:nvPr/>
          </p:nvSpPr>
          <p:spPr>
            <a:xfrm rot="0">
              <a:off x="0" y="895350"/>
              <a:ext cx="177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8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7278350" y="5810250"/>
            <a:ext cx="190500" cy="190500"/>
            <a:chOff x="0" y="0"/>
            <a:chExt cx="254000" cy="2540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A1A1A"/>
            </a:solidFill>
            <a:ln w="19050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3" id="183"/>
          <p:cNvSpPr txBox="true"/>
          <p:nvPr/>
        </p:nvSpPr>
        <p:spPr>
          <a:xfrm rot="0">
            <a:off x="533400" y="5353050"/>
            <a:ext cx="762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92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57150" y="6096000"/>
            <a:ext cx="1714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43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ARRIVAL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57150" y="6324600"/>
            <a:ext cx="1714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06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QX · WK 00</a:t>
            </a:r>
          </a:p>
        </p:txBody>
      </p:sp>
      <p:sp>
        <p:nvSpPr>
          <p:cNvPr name="TextBox 186" id="186"/>
          <p:cNvSpPr txBox="true"/>
          <p:nvPr/>
        </p:nvSpPr>
        <p:spPr>
          <a:xfrm rot="0">
            <a:off x="2884714" y="5353050"/>
            <a:ext cx="762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92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2408464" y="6096000"/>
            <a:ext cx="1714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43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INSPECTION</a:t>
            </a:r>
          </a:p>
        </p:txBody>
      </p:sp>
      <p:sp>
        <p:nvSpPr>
          <p:cNvPr name="TextBox 188" id="188"/>
          <p:cNvSpPr txBox="true"/>
          <p:nvPr/>
        </p:nvSpPr>
        <p:spPr>
          <a:xfrm rot="0">
            <a:off x="2408464" y="6324600"/>
            <a:ext cx="1714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06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QX · WK 00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5236029" y="5353050"/>
            <a:ext cx="762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92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4759779" y="6096000"/>
            <a:ext cx="1714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43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DESIGN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4759779" y="6324600"/>
            <a:ext cx="1714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06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QX · WK 00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7587343" y="5353050"/>
            <a:ext cx="762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92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7111093" y="6096000"/>
            <a:ext cx="1714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43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FABRICATION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7111093" y="6324600"/>
            <a:ext cx="1714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06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QX · WK 00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9938657" y="5353050"/>
            <a:ext cx="762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92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</a:p>
        </p:txBody>
      </p:sp>
      <p:sp>
        <p:nvSpPr>
          <p:cNvPr name="TextBox 196" id="196"/>
          <p:cNvSpPr txBox="true"/>
          <p:nvPr/>
        </p:nvSpPr>
        <p:spPr>
          <a:xfrm rot="0">
            <a:off x="9462407" y="6096000"/>
            <a:ext cx="1714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43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 FIT</a:t>
            </a:r>
          </a:p>
        </p:txBody>
      </p:sp>
      <p:sp>
        <p:nvSpPr>
          <p:cNvPr name="TextBox 197" id="197"/>
          <p:cNvSpPr txBox="true"/>
          <p:nvPr/>
        </p:nvSpPr>
        <p:spPr>
          <a:xfrm rot="0">
            <a:off x="9462407" y="6324600"/>
            <a:ext cx="1714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06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QX · WK 00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12289971" y="5353050"/>
            <a:ext cx="762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92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11813721" y="6096000"/>
            <a:ext cx="1714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43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FINISH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11813721" y="6324600"/>
            <a:ext cx="1714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06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QX · WK 00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14641286" y="5353050"/>
            <a:ext cx="762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92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14165036" y="6096000"/>
            <a:ext cx="1714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43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INSTALLATION</a:t>
            </a:r>
          </a:p>
        </p:txBody>
      </p:sp>
      <p:sp>
        <p:nvSpPr>
          <p:cNvPr name="TextBox 203" id="203"/>
          <p:cNvSpPr txBox="true"/>
          <p:nvPr/>
        </p:nvSpPr>
        <p:spPr>
          <a:xfrm rot="0">
            <a:off x="14165036" y="6324600"/>
            <a:ext cx="1714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06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QX · WK 00</a:t>
            </a:r>
          </a:p>
        </p:txBody>
      </p:sp>
      <p:sp>
        <p:nvSpPr>
          <p:cNvPr name="TextBox 204" id="204"/>
          <p:cNvSpPr txBox="true"/>
          <p:nvPr/>
        </p:nvSpPr>
        <p:spPr>
          <a:xfrm rot="0">
            <a:off x="16992600" y="5353050"/>
            <a:ext cx="762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92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</a:p>
        </p:txBody>
      </p:sp>
      <p:sp>
        <p:nvSpPr>
          <p:cNvPr name="TextBox 205" id="205"/>
          <p:cNvSpPr txBox="true"/>
          <p:nvPr/>
        </p:nvSpPr>
        <p:spPr>
          <a:xfrm rot="0">
            <a:off x="16516350" y="6096000"/>
            <a:ext cx="1714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43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COMPLETION</a:t>
            </a:r>
          </a:p>
        </p:txBody>
      </p:sp>
      <p:sp>
        <p:nvSpPr>
          <p:cNvPr name="TextBox 206" id="206"/>
          <p:cNvSpPr txBox="true"/>
          <p:nvPr/>
        </p:nvSpPr>
        <p:spPr>
          <a:xfrm rot="0">
            <a:off x="16516350" y="6324600"/>
            <a:ext cx="1714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06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QX · WK 00</a:t>
            </a:r>
          </a:p>
        </p:txBody>
      </p:sp>
      <p:grpSp>
        <p:nvGrpSpPr>
          <p:cNvPr name="Group 207" id="207"/>
          <p:cNvGrpSpPr/>
          <p:nvPr/>
        </p:nvGrpSpPr>
        <p:grpSpPr>
          <a:xfrm rot="0">
            <a:off x="914400" y="7772400"/>
            <a:ext cx="57150" cy="209550"/>
            <a:chOff x="0" y="0"/>
            <a:chExt cx="76200" cy="279400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76200" cy="279400"/>
            </a:xfrm>
            <a:custGeom>
              <a:avLst/>
              <a:gdLst/>
              <a:ahLst/>
              <a:cxnLst/>
              <a:rect r="r" b="b" t="t" l="l"/>
              <a:pathLst>
                <a:path h="2794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209" id="209"/>
            <p:cNvSpPr txBox="true"/>
            <p:nvPr/>
          </p:nvSpPr>
          <p:spPr>
            <a:xfrm>
              <a:off x="0" y="-38100"/>
              <a:ext cx="762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0" id="210"/>
          <p:cNvSpPr txBox="true"/>
          <p:nvPr/>
        </p:nvSpPr>
        <p:spPr>
          <a:xfrm rot="0">
            <a:off x="1085850" y="7791450"/>
            <a:ext cx="164592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67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CURRENT PHASE  //  FABRICATION IN PROGRESS   ·   38% COMPLETE</a:t>
            </a:r>
          </a:p>
        </p:txBody>
      </p:sp>
      <p:sp>
        <p:nvSpPr>
          <p:cNvPr name="AutoShape 211" id="211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2" id="212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213" id="213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214" id="214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18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192000" cy="13716000"/>
              <a:chOff x="0" y="0"/>
              <a:chExt cx="12192000" cy="13716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192000" cy="137160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0" w="12192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2192000" cy="137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811000" y="13538200"/>
              <a:ext cx="228600" cy="25400"/>
              <a:chOff x="0" y="0"/>
              <a:chExt cx="228600" cy="25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014200" y="13335000"/>
              <a:ext cx="25400" cy="228600"/>
              <a:chOff x="0" y="0"/>
              <a:chExt cx="25400" cy="2286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6410325"/>
              <a:ext cx="12192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118350"/>
              <a:ext cx="12192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INSERT PHASE PHOTO HERE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2905125"/>
            <a:ext cx="1143000" cy="38100"/>
            <a:chOff x="0" y="0"/>
            <a:chExt cx="1524000" cy="50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0" cy="50800"/>
            </a:xfrm>
            <a:custGeom>
              <a:avLst/>
              <a:gdLst/>
              <a:ahLst/>
              <a:cxnLst/>
              <a:rect r="r" b="b" t="t" l="l"/>
              <a:pathLst>
                <a:path h="508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2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" y="26479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DIVIDER  //  PHASE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3486150"/>
            <a:ext cx="7810500" cy="399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0"/>
              </a:lnSpc>
            </a:pPr>
            <a:r>
              <a:rPr lang="en-US" sz="16500" spc="33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PHASE</a:t>
            </a:r>
          </a:p>
          <a:p>
            <a:pPr algn="l">
              <a:lnSpc>
                <a:spcPts val="15180"/>
              </a:lnSpc>
            </a:pPr>
            <a:r>
              <a:rPr lang="en-US" sz="16500" spc="33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7658100"/>
            <a:ext cx="7810500" cy="34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PHASE NAME HERE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8048625"/>
            <a:ext cx="72390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Short description placeholder summarizing the scope, deliverables, and intent of this phase.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14400" y="9048750"/>
            <a:ext cx="7239000" cy="57150"/>
            <a:chOff x="0" y="0"/>
            <a:chExt cx="9652000" cy="76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52000" cy="76200"/>
            </a:xfrm>
            <a:custGeom>
              <a:avLst/>
              <a:gdLst/>
              <a:ahLst/>
              <a:cxnLst/>
              <a:rect r="r" b="b" t="t" l="l"/>
              <a:pathLst>
                <a:path h="76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652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9048750"/>
            <a:ext cx="2667000" cy="57150"/>
            <a:chOff x="0" y="0"/>
            <a:chExt cx="3556000" cy="76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56000" cy="76200"/>
            </a:xfrm>
            <a:custGeom>
              <a:avLst/>
              <a:gdLst/>
              <a:ahLst/>
              <a:cxnLst/>
              <a:rect r="r" b="b" t="t" l="l"/>
              <a:pathLst>
                <a:path h="762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556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14400" y="8801100"/>
            <a:ext cx="2857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PROGRESS  ·  35%</a:t>
            </a:r>
          </a:p>
        </p:txBody>
      </p:sp>
      <p:sp>
        <p:nvSpPr>
          <p:cNvPr name="AutoShape 40" id="40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18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62400" y="8953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0X  //  MILESTONE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68600" y="885825"/>
            <a:ext cx="190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QX · YEAR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1714500"/>
            <a:ext cx="16459200" cy="6477000"/>
            <a:chOff x="0" y="0"/>
            <a:chExt cx="21945600" cy="8636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1945600" cy="8636000"/>
              <a:chOff x="0" y="0"/>
              <a:chExt cx="21945600" cy="8636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9456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19456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1564600" y="8458200"/>
              <a:ext cx="228600" cy="25400"/>
              <a:chOff x="0" y="0"/>
              <a:chExt cx="228600" cy="25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1767800" y="8255000"/>
              <a:ext cx="25400" cy="228600"/>
              <a:chOff x="0" y="0"/>
              <a:chExt cx="25400" cy="2286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3870325"/>
              <a:ext cx="219456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4578350"/>
              <a:ext cx="219456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HERO PHOTO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8515350"/>
            <a:ext cx="9525000" cy="34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CONCISE TITLE PLACEHOLDER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15600" y="8429625"/>
            <a:ext cx="68580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Milestone statement placeholder describing the significance of this image.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8982075"/>
            <a:ext cx="164592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62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CAPTION  //  Professional caption placeholder describing scene, materials, or crew activity.</a:t>
            </a:r>
          </a:p>
        </p:txBody>
      </p:sp>
      <p:sp>
        <p:nvSpPr>
          <p:cNvPr name="AutoShape 31" id="31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18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0X  //  DOCUMENTATION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TWO-PHOTO EDITORIAL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3613404"/>
            <a:ext cx="10668000" cy="5905500"/>
            <a:chOff x="0" y="0"/>
            <a:chExt cx="14224000" cy="787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4224000" cy="7874000"/>
              <a:chOff x="0" y="0"/>
              <a:chExt cx="14224000" cy="787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224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4224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3843000" y="7696200"/>
              <a:ext cx="228600" cy="25400"/>
              <a:chOff x="0" y="0"/>
              <a:chExt cx="228600" cy="25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4046200" y="7493000"/>
              <a:ext cx="25400" cy="228600"/>
              <a:chOff x="0" y="0"/>
              <a:chExt cx="25400" cy="228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3489325"/>
              <a:ext cx="1422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4197350"/>
              <a:ext cx="1422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PRIMARY IMAGE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63400" y="3613404"/>
            <a:ext cx="4953000" cy="3238500"/>
            <a:chOff x="0" y="0"/>
            <a:chExt cx="6604000" cy="4318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604000" cy="4318000"/>
              <a:chOff x="0" y="0"/>
              <a:chExt cx="6604000" cy="4318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0" cy="4318000"/>
              </a:xfrm>
              <a:custGeom>
                <a:avLst/>
                <a:gdLst/>
                <a:ahLst/>
                <a:cxnLst/>
                <a:rect r="r" b="b" t="t" l="l"/>
                <a:pathLst>
                  <a:path h="4318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318000"/>
                    </a:lnTo>
                    <a:lnTo>
                      <a:pt x="0" y="4318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04000" cy="435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6223000" y="4140200"/>
              <a:ext cx="228600" cy="25400"/>
              <a:chOff x="0" y="0"/>
              <a:chExt cx="228600" cy="25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6426200" y="3937000"/>
              <a:ext cx="25400" cy="228600"/>
              <a:chOff x="0" y="0"/>
              <a:chExt cx="25400" cy="2286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1711325"/>
              <a:ext cx="660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2419350"/>
              <a:ext cx="660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SECONDARY IMAGE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963400" y="7328154"/>
            <a:ext cx="4953000" cy="2190750"/>
            <a:chOff x="0" y="0"/>
            <a:chExt cx="6604000" cy="2921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04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232323"/>
            </a:solidFill>
            <a:ln w="9525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604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963400" y="7328154"/>
            <a:ext cx="38100" cy="2190750"/>
            <a:chOff x="0" y="0"/>
            <a:chExt cx="50800" cy="2921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8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08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14400" y="9633204"/>
            <a:ext cx="10668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62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CAPTION 01  //  Short caption placeholder for primary image.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963400" y="6966204"/>
            <a:ext cx="4953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225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CAPTION 02  //  Short caption for secondary image.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963400" y="7404354"/>
            <a:ext cx="4953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TECHNICAL DETAIL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963400" y="7642479"/>
            <a:ext cx="4953000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for fabrication or installation details — process, spec, tolerance, or finish notes.</a:t>
            </a:r>
          </a:p>
        </p:txBody>
      </p:sp>
      <p:sp>
        <p:nvSpPr>
          <p:cNvPr name="AutoShape 59" id="59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18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0X  //  PROGRESS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THREE-PHOTO PROGRESS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3613404"/>
            <a:ext cx="10287000" cy="5334000"/>
            <a:chOff x="0" y="0"/>
            <a:chExt cx="13716000" cy="7112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3716000" cy="7112000"/>
              <a:chOff x="0" y="0"/>
              <a:chExt cx="13716000" cy="7112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716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3716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3335000" y="6934200"/>
              <a:ext cx="228600" cy="25400"/>
              <a:chOff x="0" y="0"/>
              <a:chExt cx="228600" cy="25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3538200" y="6731000"/>
              <a:ext cx="25400" cy="228600"/>
              <a:chOff x="0" y="0"/>
              <a:chExt cx="25400" cy="228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3108325"/>
              <a:ext cx="13716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3816350"/>
              <a:ext cx="13716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MAIN PROGRESS PHOTO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582400" y="3613404"/>
            <a:ext cx="5334000" cy="2552700"/>
            <a:chOff x="0" y="0"/>
            <a:chExt cx="7112000" cy="34036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112000" cy="3403600"/>
              <a:chOff x="0" y="0"/>
              <a:chExt cx="7112000" cy="34036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112000" cy="3403600"/>
              </a:xfrm>
              <a:custGeom>
                <a:avLst/>
                <a:gdLst/>
                <a:ahLst/>
                <a:cxnLst/>
                <a:rect r="r" b="b" t="t" l="l"/>
                <a:pathLst>
                  <a:path h="34036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403600"/>
                    </a:lnTo>
                    <a:lnTo>
                      <a:pt x="0" y="34036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7112000" cy="3441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6731000" y="3225800"/>
              <a:ext cx="228600" cy="25400"/>
              <a:chOff x="0" y="0"/>
              <a:chExt cx="228600" cy="25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6934200" y="3022600"/>
              <a:ext cx="25400" cy="228600"/>
              <a:chOff x="0" y="0"/>
              <a:chExt cx="25400" cy="2286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1254125"/>
              <a:ext cx="7112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1962150"/>
              <a:ext cx="7112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SUPPORTING PHOTO 1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582400" y="6394704"/>
            <a:ext cx="5334000" cy="2552700"/>
            <a:chOff x="0" y="0"/>
            <a:chExt cx="7112000" cy="34036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7112000" cy="3403600"/>
              <a:chOff x="0" y="0"/>
              <a:chExt cx="7112000" cy="34036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7112000" cy="3403600"/>
              </a:xfrm>
              <a:custGeom>
                <a:avLst/>
                <a:gdLst/>
                <a:ahLst/>
                <a:cxnLst/>
                <a:rect r="r" b="b" t="t" l="l"/>
                <a:pathLst>
                  <a:path h="34036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403600"/>
                    </a:lnTo>
                    <a:lnTo>
                      <a:pt x="0" y="34036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7112000" cy="3441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6731000" y="3225800"/>
              <a:ext cx="228600" cy="25400"/>
              <a:chOff x="0" y="0"/>
              <a:chExt cx="228600" cy="254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6934200" y="3022600"/>
              <a:ext cx="25400" cy="228600"/>
              <a:chOff x="0" y="0"/>
              <a:chExt cx="25400" cy="2286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0" y="1254125"/>
              <a:ext cx="7112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0" y="1962150"/>
              <a:ext cx="7112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SUPPORTING PHOTO 2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14400" y="9299829"/>
            <a:ext cx="5715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09700" y="9347454"/>
            <a:ext cx="48006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WAS COMPLETED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09700" y="9566529"/>
            <a:ext cx="4800600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summary of completed work in this progress update.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496050" y="9299829"/>
            <a:ext cx="5715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991350" y="9347454"/>
            <a:ext cx="48006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IT MATTERED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991350" y="9566529"/>
            <a:ext cx="48006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for significance and value of this milestone.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077700" y="9299829"/>
            <a:ext cx="5715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573000" y="9347454"/>
            <a:ext cx="48006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STEP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573000" y="9566529"/>
            <a:ext cx="48006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for the upcoming task or next scheduled activity.</a:t>
            </a:r>
          </a:p>
        </p:txBody>
      </p:sp>
      <p:sp>
        <p:nvSpPr>
          <p:cNvPr name="AutoShape 76" id="76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7" id="77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18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0X  //  FIELD JOURNAL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CONSTRUCTION JOURNAL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3613404"/>
            <a:ext cx="6858000" cy="4000500"/>
            <a:chOff x="0" y="0"/>
            <a:chExt cx="9144000" cy="533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144000" cy="5334000"/>
              <a:chOff x="0" y="0"/>
              <a:chExt cx="9144000" cy="533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144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144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8763000" y="5156200"/>
              <a:ext cx="228600" cy="25400"/>
              <a:chOff x="0" y="0"/>
              <a:chExt cx="228600" cy="25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8966200" y="4953000"/>
              <a:ext cx="25400" cy="228600"/>
              <a:chOff x="0" y="0"/>
              <a:chExt cx="25400" cy="228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2219325"/>
              <a:ext cx="914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2927350"/>
              <a:ext cx="914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962900" y="3613404"/>
            <a:ext cx="4381500" cy="1905000"/>
            <a:chOff x="0" y="0"/>
            <a:chExt cx="5842000" cy="2540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842000" cy="2540000"/>
              <a:chOff x="0" y="0"/>
              <a:chExt cx="5842000" cy="2540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842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5842000">
                    <a:moveTo>
                      <a:pt x="0" y="0"/>
                    </a:moveTo>
                    <a:lnTo>
                      <a:pt x="5842000" y="0"/>
                    </a:lnTo>
                    <a:lnTo>
                      <a:pt x="5842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5842000" cy="257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5461000" y="2362200"/>
              <a:ext cx="228600" cy="25400"/>
              <a:chOff x="0" y="0"/>
              <a:chExt cx="228600" cy="25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5664200" y="2159000"/>
              <a:ext cx="25400" cy="228600"/>
              <a:chOff x="0" y="0"/>
              <a:chExt cx="25400" cy="2286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822325"/>
              <a:ext cx="5842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1530350"/>
              <a:ext cx="5842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534900" y="3613404"/>
            <a:ext cx="4381500" cy="1905000"/>
            <a:chOff x="0" y="0"/>
            <a:chExt cx="5842000" cy="2540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5842000" cy="2540000"/>
              <a:chOff x="0" y="0"/>
              <a:chExt cx="5842000" cy="2540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842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5842000">
                    <a:moveTo>
                      <a:pt x="0" y="0"/>
                    </a:moveTo>
                    <a:lnTo>
                      <a:pt x="5842000" y="0"/>
                    </a:lnTo>
                    <a:lnTo>
                      <a:pt x="5842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5842000" cy="257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5461000" y="2362200"/>
              <a:ext cx="228600" cy="25400"/>
              <a:chOff x="0" y="0"/>
              <a:chExt cx="228600" cy="254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5664200" y="2159000"/>
              <a:ext cx="25400" cy="228600"/>
              <a:chOff x="0" y="0"/>
              <a:chExt cx="25400" cy="2286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0" y="822325"/>
              <a:ext cx="5842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0" y="1530350"/>
              <a:ext cx="5842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962900" y="5708904"/>
            <a:ext cx="8953500" cy="1905000"/>
            <a:chOff x="0" y="0"/>
            <a:chExt cx="11938000" cy="2540000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11938000" cy="2540000"/>
              <a:chOff x="0" y="0"/>
              <a:chExt cx="11938000" cy="25400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1938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11938000">
                    <a:moveTo>
                      <a:pt x="0" y="0"/>
                    </a:moveTo>
                    <a:lnTo>
                      <a:pt x="11938000" y="0"/>
                    </a:lnTo>
                    <a:lnTo>
                      <a:pt x="11938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11938000" cy="257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11557000" y="2362200"/>
              <a:ext cx="228600" cy="25400"/>
              <a:chOff x="0" y="0"/>
              <a:chExt cx="228600" cy="254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11760200" y="2159000"/>
              <a:ext cx="25400" cy="228600"/>
              <a:chOff x="0" y="0"/>
              <a:chExt cx="25400" cy="2286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3" id="83"/>
            <p:cNvSpPr txBox="true"/>
            <p:nvPr/>
          </p:nvSpPr>
          <p:spPr>
            <a:xfrm rot="0">
              <a:off x="0" y="822325"/>
              <a:ext cx="1193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0" y="1530350"/>
              <a:ext cx="1193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14400" y="7804404"/>
            <a:ext cx="4381500" cy="2476500"/>
            <a:chOff x="0" y="0"/>
            <a:chExt cx="5842000" cy="3302000"/>
          </a:xfrm>
        </p:grpSpPr>
        <p:grpSp>
          <p:nvGrpSpPr>
            <p:cNvPr name="Group 86" id="86"/>
            <p:cNvGrpSpPr/>
            <p:nvPr/>
          </p:nvGrpSpPr>
          <p:grpSpPr>
            <a:xfrm rot="0">
              <a:off x="0" y="0"/>
              <a:ext cx="5842000" cy="3302000"/>
              <a:chOff x="0" y="0"/>
              <a:chExt cx="5842000" cy="330200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5842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5842000">
                    <a:moveTo>
                      <a:pt x="0" y="0"/>
                    </a:moveTo>
                    <a:lnTo>
                      <a:pt x="5842000" y="0"/>
                    </a:lnTo>
                    <a:lnTo>
                      <a:pt x="5842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38100"/>
                <a:ext cx="5842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9" id="89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5" id="95"/>
            <p:cNvGrpSpPr/>
            <p:nvPr/>
          </p:nvGrpSpPr>
          <p:grpSpPr>
            <a:xfrm rot="0">
              <a:off x="5461000" y="3124200"/>
              <a:ext cx="228600" cy="25400"/>
              <a:chOff x="0" y="0"/>
              <a:chExt cx="228600" cy="2540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8" id="98"/>
            <p:cNvGrpSpPr/>
            <p:nvPr/>
          </p:nvGrpSpPr>
          <p:grpSpPr>
            <a:xfrm rot="0">
              <a:off x="5664200" y="2921000"/>
              <a:ext cx="25400" cy="228600"/>
              <a:chOff x="0" y="0"/>
              <a:chExt cx="25400" cy="228600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1" id="101"/>
            <p:cNvSpPr txBox="true"/>
            <p:nvPr/>
          </p:nvSpPr>
          <p:spPr>
            <a:xfrm rot="0">
              <a:off x="0" y="1203325"/>
              <a:ext cx="5842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0" y="1911350"/>
              <a:ext cx="5842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5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486400" y="7804404"/>
            <a:ext cx="6858000" cy="2476500"/>
            <a:chOff x="0" y="0"/>
            <a:chExt cx="9144000" cy="3302000"/>
          </a:xfrm>
        </p:grpSpPr>
        <p:grpSp>
          <p:nvGrpSpPr>
            <p:cNvPr name="Group 104" id="104"/>
            <p:cNvGrpSpPr/>
            <p:nvPr/>
          </p:nvGrpSpPr>
          <p:grpSpPr>
            <a:xfrm rot="0">
              <a:off x="0" y="0"/>
              <a:ext cx="9144000" cy="3302000"/>
              <a:chOff x="0" y="0"/>
              <a:chExt cx="9144000" cy="330200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914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38100"/>
                <a:ext cx="914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2" id="11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8763000" y="3124200"/>
              <a:ext cx="228600" cy="25400"/>
              <a:chOff x="0" y="0"/>
              <a:chExt cx="228600" cy="25400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5" id="11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8966200" y="2921000"/>
              <a:ext cx="25400" cy="228600"/>
              <a:chOff x="0" y="0"/>
              <a:chExt cx="25400" cy="228600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9" id="119"/>
            <p:cNvSpPr txBox="true"/>
            <p:nvPr/>
          </p:nvSpPr>
          <p:spPr>
            <a:xfrm rot="0">
              <a:off x="0" y="1203325"/>
              <a:ext cx="914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20" id="120"/>
            <p:cNvSpPr txBox="true"/>
            <p:nvPr/>
          </p:nvSpPr>
          <p:spPr>
            <a:xfrm rot="0">
              <a:off x="0" y="1911350"/>
              <a:ext cx="914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PHOTO 6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534900" y="7804404"/>
            <a:ext cx="4381500" cy="2476500"/>
            <a:chOff x="0" y="0"/>
            <a:chExt cx="5842000" cy="33020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84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232323"/>
            </a:solidFill>
            <a:ln w="9525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584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534900" y="7804404"/>
            <a:ext cx="38100" cy="2476500"/>
            <a:chOff x="0" y="0"/>
            <a:chExt cx="50800" cy="33020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08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508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12744450" y="7975854"/>
            <a:ext cx="4000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292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CREW NOTES  //  FIELD OBSERVATIONS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2744450" y="8252079"/>
            <a:ext cx="40005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0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Field challenge placeholder</a:t>
            </a:r>
          </a:p>
          <a:p>
            <a:pPr algn="l">
              <a:lnSpc>
                <a:spcPts val="1784"/>
              </a:lnSpc>
            </a:pPr>
            <a:r>
              <a:rPr lang="en-US" sz="10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Crew and equipment note</a:t>
            </a:r>
          </a:p>
          <a:p>
            <a:pPr algn="l">
              <a:lnSpc>
                <a:spcPts val="1784"/>
              </a:lnSpc>
            </a:pPr>
            <a:r>
              <a:rPr lang="en-US" sz="10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Safety observation</a:t>
            </a:r>
          </a:p>
          <a:p>
            <a:pPr algn="l">
              <a:lnSpc>
                <a:spcPts val="1784"/>
              </a:lnSpc>
            </a:pPr>
            <a:r>
              <a:rPr lang="en-US" sz="10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Materials handling note</a:t>
            </a:r>
          </a:p>
        </p:txBody>
      </p:sp>
      <p:sp>
        <p:nvSpPr>
          <p:cNvPr name="AutoShape 129" id="129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0" id="130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18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TRANSFORMATION  //  COMPARISON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BEFORE  /  AFTER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4184904"/>
            <a:ext cx="8039100" cy="5524500"/>
            <a:chOff x="0" y="0"/>
            <a:chExt cx="10718800" cy="7366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718800" cy="7366000"/>
              <a:chOff x="0" y="0"/>
              <a:chExt cx="10718800" cy="7366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718800" cy="7366000"/>
              </a:xfrm>
              <a:custGeom>
                <a:avLst/>
                <a:gdLst/>
                <a:ahLst/>
                <a:cxnLst/>
                <a:rect r="r" b="b" t="t" l="l"/>
                <a:pathLst>
                  <a:path h="7366000" w="10718800">
                    <a:moveTo>
                      <a:pt x="0" y="0"/>
                    </a:moveTo>
                    <a:lnTo>
                      <a:pt x="10718800" y="0"/>
                    </a:lnTo>
                    <a:lnTo>
                      <a:pt x="10718800" y="7366000"/>
                    </a:lnTo>
                    <a:lnTo>
                      <a:pt x="0" y="7366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718800" cy="740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0337800" y="7188200"/>
              <a:ext cx="228600" cy="25400"/>
              <a:chOff x="0" y="0"/>
              <a:chExt cx="228600" cy="25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0541000" y="6985000"/>
              <a:ext cx="25400" cy="228600"/>
              <a:chOff x="0" y="0"/>
              <a:chExt cx="25400" cy="228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3235325"/>
              <a:ext cx="107188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3943350"/>
              <a:ext cx="107188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BEFORE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34500" y="4184904"/>
            <a:ext cx="8039100" cy="5524500"/>
            <a:chOff x="0" y="0"/>
            <a:chExt cx="10718800" cy="7366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718800" cy="7366000"/>
              <a:chOff x="0" y="0"/>
              <a:chExt cx="10718800" cy="7366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718800" cy="7366000"/>
              </a:xfrm>
              <a:custGeom>
                <a:avLst/>
                <a:gdLst/>
                <a:ahLst/>
                <a:cxnLst/>
                <a:rect r="r" b="b" t="t" l="l"/>
                <a:pathLst>
                  <a:path h="7366000" w="10718800">
                    <a:moveTo>
                      <a:pt x="0" y="0"/>
                    </a:moveTo>
                    <a:lnTo>
                      <a:pt x="10718800" y="0"/>
                    </a:lnTo>
                    <a:lnTo>
                      <a:pt x="10718800" y="7366000"/>
                    </a:lnTo>
                    <a:lnTo>
                      <a:pt x="0" y="7366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0718800" cy="740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0337800" y="7188200"/>
              <a:ext cx="228600" cy="25400"/>
              <a:chOff x="0" y="0"/>
              <a:chExt cx="228600" cy="25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0541000" y="6985000"/>
              <a:ext cx="25400" cy="228600"/>
              <a:chOff x="0" y="0"/>
              <a:chExt cx="25400" cy="2286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3235325"/>
              <a:ext cx="107188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3943350"/>
              <a:ext cx="107188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AFTER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24950" y="4184904"/>
            <a:ext cx="38100" cy="5524500"/>
            <a:chOff x="0" y="0"/>
            <a:chExt cx="50800" cy="7366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08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366000"/>
                  </a:lnTo>
                  <a:lnTo>
                    <a:pt x="0" y="7366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08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14400" y="3670554"/>
            <a:ext cx="80391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7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BEFORE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334500" y="3670554"/>
            <a:ext cx="80391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7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AFTER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4400" y="10071354"/>
            <a:ext cx="8039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TRANSFORMATION SUMMARY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14400" y="10309479"/>
            <a:ext cx="80391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describing the transformation and scope of change delivered.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334500" y="10071354"/>
            <a:ext cx="8039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 IMPROVEMENTS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34500" y="10309479"/>
            <a:ext cx="8039100" cy="6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12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Structural improvement</a:t>
            </a:r>
          </a:p>
          <a:p>
            <a:pPr algn="l">
              <a:lnSpc>
                <a:spcPts val="1856"/>
              </a:lnSpc>
            </a:pPr>
            <a:r>
              <a:rPr lang="en-US" sz="112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Finish and durability</a:t>
            </a:r>
          </a:p>
          <a:p>
            <a:pPr algn="l">
              <a:lnSpc>
                <a:spcPts val="1856"/>
              </a:lnSpc>
            </a:pPr>
            <a:r>
              <a:rPr lang="en-US" sz="112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Fit, function, and safety</a:t>
            </a:r>
          </a:p>
        </p:txBody>
      </p:sp>
      <p:sp>
        <p:nvSpPr>
          <p:cNvPr name="AutoShape 58" id="58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9" id="59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/ 18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 //  RESPONSE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CHALLENGE AND 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689604"/>
            <a:ext cx="8039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CHALLENGE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3918204"/>
            <a:ext cx="80391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Placeholder describing the fabrication or installation challenge — constraints, risks, or complexity to resolve.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4500" y="3689604"/>
            <a:ext cx="8039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 SOLUTION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34500" y="3918204"/>
            <a:ext cx="80391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Placeholder describing the engineered response, materials, process, and delivered outcome.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" y="5327904"/>
            <a:ext cx="8039100" cy="4762500"/>
            <a:chOff x="0" y="0"/>
            <a:chExt cx="10718800" cy="6350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718800" cy="6350000"/>
              <a:chOff x="0" y="0"/>
              <a:chExt cx="107188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7188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0718800">
                    <a:moveTo>
                      <a:pt x="0" y="0"/>
                    </a:moveTo>
                    <a:lnTo>
                      <a:pt x="10718800" y="0"/>
                    </a:lnTo>
                    <a:lnTo>
                      <a:pt x="107188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7188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0337800" y="6172200"/>
              <a:ext cx="228600" cy="25400"/>
              <a:chOff x="0" y="0"/>
              <a:chExt cx="228600" cy="25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0541000" y="5969000"/>
              <a:ext cx="25400" cy="228600"/>
              <a:chOff x="0" y="0"/>
              <a:chExt cx="25400" cy="2286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2727325"/>
              <a:ext cx="107188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3435350"/>
              <a:ext cx="107188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CHALLENGE CONTEXT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34500" y="5327904"/>
            <a:ext cx="8039100" cy="4762500"/>
            <a:chOff x="0" y="0"/>
            <a:chExt cx="10718800" cy="6350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0718800" cy="6350000"/>
              <a:chOff x="0" y="0"/>
              <a:chExt cx="10718800" cy="6350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7188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0718800">
                    <a:moveTo>
                      <a:pt x="0" y="0"/>
                    </a:moveTo>
                    <a:lnTo>
                      <a:pt x="10718800" y="0"/>
                    </a:lnTo>
                    <a:lnTo>
                      <a:pt x="107188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07188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0337800" y="6172200"/>
              <a:ext cx="228600" cy="25400"/>
              <a:chOff x="0" y="0"/>
              <a:chExt cx="228600" cy="254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0541000" y="5969000"/>
              <a:ext cx="25400" cy="228600"/>
              <a:chOff x="0" y="0"/>
              <a:chExt cx="25400" cy="2286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2727325"/>
              <a:ext cx="107188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3435350"/>
              <a:ext cx="107188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SOLUTION / RESULT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" y="10280904"/>
            <a:ext cx="16459200" cy="762000"/>
            <a:chOff x="0" y="0"/>
            <a:chExt cx="21945600" cy="1016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9456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200150" y="10509504"/>
            <a:ext cx="158877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RESULT  //  Placeholder result statement — measurable outcome, delivery, or acceptance.</a:t>
            </a:r>
          </a:p>
        </p:txBody>
      </p:sp>
      <p:sp>
        <p:nvSpPr>
          <p:cNvPr name="AutoShape 57" id="57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/ 18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CRAFTSMANSHIP  //  CLOSE-UP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FABRICATION DETAIL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3613404"/>
            <a:ext cx="10477500" cy="5905500"/>
            <a:chOff x="0" y="0"/>
            <a:chExt cx="13970000" cy="787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3970000" cy="7874000"/>
              <a:chOff x="0" y="0"/>
              <a:chExt cx="13970000" cy="787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970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13970000">
                    <a:moveTo>
                      <a:pt x="0" y="0"/>
                    </a:moveTo>
                    <a:lnTo>
                      <a:pt x="13970000" y="0"/>
                    </a:lnTo>
                    <a:lnTo>
                      <a:pt x="13970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3970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3589000" y="7696200"/>
              <a:ext cx="228600" cy="25400"/>
              <a:chOff x="0" y="0"/>
              <a:chExt cx="228600" cy="25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3792200" y="7493000"/>
              <a:ext cx="25400" cy="228600"/>
              <a:chOff x="0" y="0"/>
              <a:chExt cx="25400" cy="228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3489325"/>
              <a:ext cx="13970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4197350"/>
              <a:ext cx="13970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DETAIL CLOSE-UP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772900" y="3613404"/>
            <a:ext cx="5143500" cy="2857500"/>
            <a:chOff x="0" y="0"/>
            <a:chExt cx="6858000" cy="3810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858000" cy="3810000"/>
              <a:chOff x="0" y="0"/>
              <a:chExt cx="6858000" cy="3810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858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858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6477000" y="3632200"/>
              <a:ext cx="228600" cy="25400"/>
              <a:chOff x="0" y="0"/>
              <a:chExt cx="228600" cy="25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6680200" y="3429000"/>
              <a:ext cx="25400" cy="228600"/>
              <a:chOff x="0" y="0"/>
              <a:chExt cx="25400" cy="2286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1457325"/>
              <a:ext cx="685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2165350"/>
              <a:ext cx="685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SUPPORT DETAIL 1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772900" y="6661404"/>
            <a:ext cx="5143500" cy="2857500"/>
            <a:chOff x="0" y="0"/>
            <a:chExt cx="6858000" cy="3810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6858000" cy="3810000"/>
              <a:chOff x="0" y="0"/>
              <a:chExt cx="6858000" cy="3810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6858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6858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6477000" y="3632200"/>
              <a:ext cx="228600" cy="25400"/>
              <a:chOff x="0" y="0"/>
              <a:chExt cx="228600" cy="254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6680200" y="3429000"/>
              <a:ext cx="25400" cy="228600"/>
              <a:chOff x="0" y="0"/>
              <a:chExt cx="25400" cy="2286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0" y="1457325"/>
              <a:ext cx="6858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0" y="2165350"/>
              <a:ext cx="6858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SUPPORT DETAIL 2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4400" y="9880854"/>
            <a:ext cx="28575" cy="571500"/>
            <a:chOff x="0" y="0"/>
            <a:chExt cx="38100" cy="762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066800" y="9861804"/>
            <a:ext cx="5143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MATERIAL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66800" y="10080879"/>
            <a:ext cx="501015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for material spec, grade, and thickness.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6496050" y="9880854"/>
            <a:ext cx="28575" cy="571500"/>
            <a:chOff x="0" y="0"/>
            <a:chExt cx="38100" cy="762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6648450" y="9861804"/>
            <a:ext cx="5143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648450" y="10080879"/>
            <a:ext cx="501015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for welding process, joint prep, and standard.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077700" y="9880854"/>
            <a:ext cx="28575" cy="571500"/>
            <a:chOff x="0" y="0"/>
            <a:chExt cx="38100" cy="762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2230100" y="9861804"/>
            <a:ext cx="5143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FINISH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230100" y="10080879"/>
            <a:ext cx="501015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for coating, tolerance, or acceptance criteria.</a:t>
            </a:r>
          </a:p>
        </p:txBody>
      </p:sp>
      <p:sp>
        <p:nvSpPr>
          <p:cNvPr name="AutoShape 82" id="82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3" id="83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/ 18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392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PROGRESS  //  CHECKLIST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MILESTONE SUMMARY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14400" y="3784854"/>
            <a:ext cx="342900" cy="342900"/>
            <a:chOff x="0" y="0"/>
            <a:chExt cx="457200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14400" y="3765804"/>
            <a:ext cx="3429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✓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7715250" y="3708654"/>
            <a:ext cx="1143000" cy="857250"/>
            <a:chOff x="0" y="0"/>
            <a:chExt cx="1524000" cy="1143000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1524000" cy="1143000"/>
              <a:chOff x="0" y="0"/>
              <a:chExt cx="1524000" cy="11430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524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1524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1143000" y="965200"/>
              <a:ext cx="228600" cy="25400"/>
              <a:chOff x="0" y="0"/>
              <a:chExt cx="228600" cy="254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1346200" y="762000"/>
              <a:ext cx="25400" cy="228600"/>
              <a:chOff x="0" y="0"/>
              <a:chExt cx="25400" cy="2286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0" y="123825"/>
              <a:ext cx="152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0" y="831850"/>
              <a:ext cx="152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>
            <a:off x="914400" y="4927854"/>
            <a:ext cx="794385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2" id="72"/>
          <p:cNvSpPr txBox="true"/>
          <p:nvPr/>
        </p:nvSpPr>
        <p:spPr>
          <a:xfrm rot="0">
            <a:off x="1771650" y="3737229"/>
            <a:ext cx="571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533650" y="3803904"/>
            <a:ext cx="489585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Milestone 1 achievement statement placeholder — concise result description.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334500" y="3784854"/>
            <a:ext cx="342900" cy="342900"/>
            <a:chOff x="0" y="0"/>
            <a:chExt cx="457200" cy="457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9334500" y="3765804"/>
            <a:ext cx="3429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✓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6135350" y="3708654"/>
            <a:ext cx="1143000" cy="857250"/>
            <a:chOff x="0" y="0"/>
            <a:chExt cx="1524000" cy="1143000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1524000" cy="1143000"/>
              <a:chOff x="0" y="0"/>
              <a:chExt cx="1524000" cy="11430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524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38100"/>
                <a:ext cx="1524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1143000" y="965200"/>
              <a:ext cx="228600" cy="25400"/>
              <a:chOff x="0" y="0"/>
              <a:chExt cx="228600" cy="254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1346200" y="762000"/>
              <a:ext cx="25400" cy="228600"/>
              <a:chOff x="0" y="0"/>
              <a:chExt cx="25400" cy="22860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4" id="94"/>
            <p:cNvSpPr txBox="true"/>
            <p:nvPr/>
          </p:nvSpPr>
          <p:spPr>
            <a:xfrm rot="0">
              <a:off x="0" y="123825"/>
              <a:ext cx="152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0" y="831850"/>
              <a:ext cx="152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</a:t>
              </a:r>
            </a:p>
          </p:txBody>
        </p:sp>
      </p:grpSp>
      <p:sp>
        <p:nvSpPr>
          <p:cNvPr name="AutoShape 96" id="96"/>
          <p:cNvSpPr/>
          <p:nvPr/>
        </p:nvSpPr>
        <p:spPr>
          <a:xfrm>
            <a:off x="9334500" y="4927854"/>
            <a:ext cx="794385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7" id="97"/>
          <p:cNvSpPr txBox="true"/>
          <p:nvPr/>
        </p:nvSpPr>
        <p:spPr>
          <a:xfrm rot="0">
            <a:off x="10191750" y="3737229"/>
            <a:ext cx="571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953750" y="3803904"/>
            <a:ext cx="489585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Milestone 2 achievement statement placeholder — concise result description.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914400" y="5213604"/>
            <a:ext cx="342900" cy="342900"/>
            <a:chOff x="0" y="0"/>
            <a:chExt cx="457200" cy="4572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914400" y="5194554"/>
            <a:ext cx="3429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✓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7715250" y="5137404"/>
            <a:ext cx="1143000" cy="857250"/>
            <a:chOff x="0" y="0"/>
            <a:chExt cx="1524000" cy="1143000"/>
          </a:xfrm>
        </p:grpSpPr>
        <p:grpSp>
          <p:nvGrpSpPr>
            <p:cNvPr name="Group 104" id="104"/>
            <p:cNvGrpSpPr/>
            <p:nvPr/>
          </p:nvGrpSpPr>
          <p:grpSpPr>
            <a:xfrm rot="0">
              <a:off x="0" y="0"/>
              <a:ext cx="1524000" cy="1143000"/>
              <a:chOff x="0" y="0"/>
              <a:chExt cx="1524000" cy="114300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1524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38100"/>
                <a:ext cx="1524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2" id="11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1143000" y="965200"/>
              <a:ext cx="228600" cy="25400"/>
              <a:chOff x="0" y="0"/>
              <a:chExt cx="228600" cy="25400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5" id="11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1346200" y="762000"/>
              <a:ext cx="25400" cy="228600"/>
              <a:chOff x="0" y="0"/>
              <a:chExt cx="25400" cy="228600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9" id="119"/>
            <p:cNvSpPr txBox="true"/>
            <p:nvPr/>
          </p:nvSpPr>
          <p:spPr>
            <a:xfrm rot="0">
              <a:off x="0" y="123825"/>
              <a:ext cx="152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20" id="120"/>
            <p:cNvSpPr txBox="true"/>
            <p:nvPr/>
          </p:nvSpPr>
          <p:spPr>
            <a:xfrm rot="0">
              <a:off x="0" y="831850"/>
              <a:ext cx="152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3</a:t>
              </a:r>
            </a:p>
          </p:txBody>
        </p:sp>
      </p:grpSp>
      <p:sp>
        <p:nvSpPr>
          <p:cNvPr name="AutoShape 121" id="121"/>
          <p:cNvSpPr/>
          <p:nvPr/>
        </p:nvSpPr>
        <p:spPr>
          <a:xfrm>
            <a:off x="914400" y="6356604"/>
            <a:ext cx="794385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2" id="122"/>
          <p:cNvSpPr txBox="true"/>
          <p:nvPr/>
        </p:nvSpPr>
        <p:spPr>
          <a:xfrm rot="0">
            <a:off x="1771650" y="5165979"/>
            <a:ext cx="571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533650" y="5232654"/>
            <a:ext cx="489585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Milestone 3 achievement statement placeholder — concise result description.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9334500" y="5213604"/>
            <a:ext cx="342900" cy="342900"/>
            <a:chOff x="0" y="0"/>
            <a:chExt cx="457200" cy="4572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9334500" y="5194554"/>
            <a:ext cx="3429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✓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6135350" y="5137404"/>
            <a:ext cx="1143000" cy="857250"/>
            <a:chOff x="0" y="0"/>
            <a:chExt cx="1524000" cy="1143000"/>
          </a:xfrm>
        </p:grpSpPr>
        <p:grpSp>
          <p:nvGrpSpPr>
            <p:cNvPr name="Group 129" id="129"/>
            <p:cNvGrpSpPr/>
            <p:nvPr/>
          </p:nvGrpSpPr>
          <p:grpSpPr>
            <a:xfrm rot="0">
              <a:off x="0" y="0"/>
              <a:ext cx="1524000" cy="1143000"/>
              <a:chOff x="0" y="0"/>
              <a:chExt cx="1524000" cy="1143000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1524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31" id="131"/>
              <p:cNvSpPr txBox="true"/>
              <p:nvPr/>
            </p:nvSpPr>
            <p:spPr>
              <a:xfrm>
                <a:off x="0" y="-38100"/>
                <a:ext cx="1524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5" id="135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7" id="137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8" id="138"/>
            <p:cNvGrpSpPr/>
            <p:nvPr/>
          </p:nvGrpSpPr>
          <p:grpSpPr>
            <a:xfrm rot="0">
              <a:off x="1143000" y="965200"/>
              <a:ext cx="228600" cy="25400"/>
              <a:chOff x="0" y="0"/>
              <a:chExt cx="228600" cy="25400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0" id="140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1" id="141"/>
            <p:cNvGrpSpPr/>
            <p:nvPr/>
          </p:nvGrpSpPr>
          <p:grpSpPr>
            <a:xfrm rot="0">
              <a:off x="1346200" y="762000"/>
              <a:ext cx="25400" cy="228600"/>
              <a:chOff x="0" y="0"/>
              <a:chExt cx="25400" cy="228600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3" id="143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4" id="144"/>
            <p:cNvSpPr txBox="true"/>
            <p:nvPr/>
          </p:nvSpPr>
          <p:spPr>
            <a:xfrm rot="0">
              <a:off x="0" y="123825"/>
              <a:ext cx="152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45" id="145"/>
            <p:cNvSpPr txBox="true"/>
            <p:nvPr/>
          </p:nvSpPr>
          <p:spPr>
            <a:xfrm rot="0">
              <a:off x="0" y="831850"/>
              <a:ext cx="152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4</a:t>
              </a:r>
            </a:p>
          </p:txBody>
        </p:sp>
      </p:grpSp>
      <p:sp>
        <p:nvSpPr>
          <p:cNvPr name="AutoShape 146" id="146"/>
          <p:cNvSpPr/>
          <p:nvPr/>
        </p:nvSpPr>
        <p:spPr>
          <a:xfrm>
            <a:off x="9334500" y="6356604"/>
            <a:ext cx="794385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7" id="147"/>
          <p:cNvSpPr txBox="true"/>
          <p:nvPr/>
        </p:nvSpPr>
        <p:spPr>
          <a:xfrm rot="0">
            <a:off x="10191750" y="5165979"/>
            <a:ext cx="571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0953750" y="5232654"/>
            <a:ext cx="489585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Milestone 4 achievement statement placeholder — concise result description.</a:t>
            </a:r>
          </a:p>
        </p:txBody>
      </p:sp>
      <p:grpSp>
        <p:nvGrpSpPr>
          <p:cNvPr name="Group 149" id="149"/>
          <p:cNvGrpSpPr/>
          <p:nvPr/>
        </p:nvGrpSpPr>
        <p:grpSpPr>
          <a:xfrm rot="0">
            <a:off x="914400" y="6642354"/>
            <a:ext cx="342900" cy="342900"/>
            <a:chOff x="0" y="0"/>
            <a:chExt cx="457200" cy="4572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2" id="152"/>
          <p:cNvSpPr txBox="true"/>
          <p:nvPr/>
        </p:nvSpPr>
        <p:spPr>
          <a:xfrm rot="0">
            <a:off x="914400" y="6623304"/>
            <a:ext cx="3429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✓</a:t>
            </a:r>
          </a:p>
        </p:txBody>
      </p:sp>
      <p:grpSp>
        <p:nvGrpSpPr>
          <p:cNvPr name="Group 153" id="153"/>
          <p:cNvGrpSpPr/>
          <p:nvPr/>
        </p:nvGrpSpPr>
        <p:grpSpPr>
          <a:xfrm rot="0">
            <a:off x="7715250" y="6566154"/>
            <a:ext cx="1143000" cy="857250"/>
            <a:chOff x="0" y="0"/>
            <a:chExt cx="1524000" cy="1143000"/>
          </a:xfrm>
        </p:grpSpPr>
        <p:grpSp>
          <p:nvGrpSpPr>
            <p:cNvPr name="Group 154" id="154"/>
            <p:cNvGrpSpPr/>
            <p:nvPr/>
          </p:nvGrpSpPr>
          <p:grpSpPr>
            <a:xfrm rot="0">
              <a:off x="0" y="0"/>
              <a:ext cx="1524000" cy="1143000"/>
              <a:chOff x="0" y="0"/>
              <a:chExt cx="1524000" cy="1143000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1524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0" y="-38100"/>
                <a:ext cx="1524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7" id="15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58" id="15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9" id="15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0" id="16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61" id="16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2" id="16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3" id="163"/>
            <p:cNvGrpSpPr/>
            <p:nvPr/>
          </p:nvGrpSpPr>
          <p:grpSpPr>
            <a:xfrm rot="0">
              <a:off x="1143000" y="965200"/>
              <a:ext cx="228600" cy="25400"/>
              <a:chOff x="0" y="0"/>
              <a:chExt cx="228600" cy="25400"/>
            </a:xfrm>
          </p:grpSpPr>
          <p:sp>
            <p:nvSpPr>
              <p:cNvPr name="Freeform 164" id="16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5" id="16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6" id="166"/>
            <p:cNvGrpSpPr/>
            <p:nvPr/>
          </p:nvGrpSpPr>
          <p:grpSpPr>
            <a:xfrm rot="0">
              <a:off x="1346200" y="762000"/>
              <a:ext cx="25400" cy="228600"/>
              <a:chOff x="0" y="0"/>
              <a:chExt cx="25400" cy="228600"/>
            </a:xfrm>
          </p:grpSpPr>
          <p:sp>
            <p:nvSpPr>
              <p:cNvPr name="Freeform 167" id="16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8" id="16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9" id="169"/>
            <p:cNvSpPr txBox="true"/>
            <p:nvPr/>
          </p:nvSpPr>
          <p:spPr>
            <a:xfrm rot="0">
              <a:off x="0" y="123825"/>
              <a:ext cx="152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70" id="170"/>
            <p:cNvSpPr txBox="true"/>
            <p:nvPr/>
          </p:nvSpPr>
          <p:spPr>
            <a:xfrm rot="0">
              <a:off x="0" y="831850"/>
              <a:ext cx="152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5</a:t>
              </a:r>
            </a:p>
          </p:txBody>
        </p:sp>
      </p:grpSp>
      <p:sp>
        <p:nvSpPr>
          <p:cNvPr name="AutoShape 171" id="171"/>
          <p:cNvSpPr/>
          <p:nvPr/>
        </p:nvSpPr>
        <p:spPr>
          <a:xfrm>
            <a:off x="914400" y="7785354"/>
            <a:ext cx="794385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2" id="172"/>
          <p:cNvSpPr txBox="true"/>
          <p:nvPr/>
        </p:nvSpPr>
        <p:spPr>
          <a:xfrm rot="0">
            <a:off x="1771650" y="6594729"/>
            <a:ext cx="571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2533650" y="6661404"/>
            <a:ext cx="489585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Milestone 5 achievement statement placeholder — concise result description.</a:t>
            </a:r>
          </a:p>
        </p:txBody>
      </p:sp>
      <p:grpSp>
        <p:nvGrpSpPr>
          <p:cNvPr name="Group 174" id="174"/>
          <p:cNvGrpSpPr/>
          <p:nvPr/>
        </p:nvGrpSpPr>
        <p:grpSpPr>
          <a:xfrm rot="0">
            <a:off x="9334500" y="6642354"/>
            <a:ext cx="342900" cy="342900"/>
            <a:chOff x="0" y="0"/>
            <a:chExt cx="457200" cy="4572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6" id="176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7" id="177"/>
          <p:cNvSpPr txBox="true"/>
          <p:nvPr/>
        </p:nvSpPr>
        <p:spPr>
          <a:xfrm rot="0">
            <a:off x="9334500" y="6623304"/>
            <a:ext cx="3429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✓</a:t>
            </a:r>
          </a:p>
        </p:txBody>
      </p:sp>
      <p:grpSp>
        <p:nvGrpSpPr>
          <p:cNvPr name="Group 178" id="178"/>
          <p:cNvGrpSpPr/>
          <p:nvPr/>
        </p:nvGrpSpPr>
        <p:grpSpPr>
          <a:xfrm rot="0">
            <a:off x="16135350" y="6566154"/>
            <a:ext cx="1143000" cy="857250"/>
            <a:chOff x="0" y="0"/>
            <a:chExt cx="1524000" cy="1143000"/>
          </a:xfrm>
        </p:grpSpPr>
        <p:grpSp>
          <p:nvGrpSpPr>
            <p:cNvPr name="Group 179" id="179"/>
            <p:cNvGrpSpPr/>
            <p:nvPr/>
          </p:nvGrpSpPr>
          <p:grpSpPr>
            <a:xfrm rot="0">
              <a:off x="0" y="0"/>
              <a:ext cx="1524000" cy="1143000"/>
              <a:chOff x="0" y="0"/>
              <a:chExt cx="1524000" cy="1143000"/>
            </a:xfrm>
          </p:grpSpPr>
          <p:sp>
            <p:nvSpPr>
              <p:cNvPr name="Freeform 180" id="180"/>
              <p:cNvSpPr/>
              <p:nvPr/>
            </p:nvSpPr>
            <p:spPr>
              <a:xfrm flipH="false" flipV="false" rot="0">
                <a:off x="0" y="0"/>
                <a:ext cx="1524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81" id="181"/>
              <p:cNvSpPr txBox="true"/>
              <p:nvPr/>
            </p:nvSpPr>
            <p:spPr>
              <a:xfrm>
                <a:off x="0" y="-38100"/>
                <a:ext cx="1524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2" id="182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83" id="183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4" id="184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5" id="185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86" id="186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7" id="187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8" id="188"/>
            <p:cNvGrpSpPr/>
            <p:nvPr/>
          </p:nvGrpSpPr>
          <p:grpSpPr>
            <a:xfrm rot="0">
              <a:off x="1143000" y="965200"/>
              <a:ext cx="228600" cy="25400"/>
              <a:chOff x="0" y="0"/>
              <a:chExt cx="228600" cy="25400"/>
            </a:xfrm>
          </p:grpSpPr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0" id="190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1" id="191"/>
            <p:cNvGrpSpPr/>
            <p:nvPr/>
          </p:nvGrpSpPr>
          <p:grpSpPr>
            <a:xfrm rot="0">
              <a:off x="1346200" y="762000"/>
              <a:ext cx="25400" cy="228600"/>
              <a:chOff x="0" y="0"/>
              <a:chExt cx="25400" cy="228600"/>
            </a:xfrm>
          </p:grpSpPr>
          <p:sp>
            <p:nvSpPr>
              <p:cNvPr name="Freeform 192" id="192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3" id="193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4" id="194"/>
            <p:cNvSpPr txBox="true"/>
            <p:nvPr/>
          </p:nvSpPr>
          <p:spPr>
            <a:xfrm rot="0">
              <a:off x="0" y="123825"/>
              <a:ext cx="152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95" id="195"/>
            <p:cNvSpPr txBox="true"/>
            <p:nvPr/>
          </p:nvSpPr>
          <p:spPr>
            <a:xfrm rot="0">
              <a:off x="0" y="831850"/>
              <a:ext cx="152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6</a:t>
              </a:r>
            </a:p>
          </p:txBody>
        </p:sp>
      </p:grpSp>
      <p:sp>
        <p:nvSpPr>
          <p:cNvPr name="AutoShape 196" id="196"/>
          <p:cNvSpPr/>
          <p:nvPr/>
        </p:nvSpPr>
        <p:spPr>
          <a:xfrm>
            <a:off x="9334500" y="7785354"/>
            <a:ext cx="794385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7" id="197"/>
          <p:cNvSpPr txBox="true"/>
          <p:nvPr/>
        </p:nvSpPr>
        <p:spPr>
          <a:xfrm rot="0">
            <a:off x="10191750" y="6594729"/>
            <a:ext cx="571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10953750" y="6661404"/>
            <a:ext cx="489585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Milestone 6 achievement statement placeholder — concise result description.</a:t>
            </a:r>
          </a:p>
        </p:txBody>
      </p:sp>
      <p:grpSp>
        <p:nvGrpSpPr>
          <p:cNvPr name="Group 199" id="199"/>
          <p:cNvGrpSpPr/>
          <p:nvPr/>
        </p:nvGrpSpPr>
        <p:grpSpPr>
          <a:xfrm rot="0">
            <a:off x="914400" y="8071104"/>
            <a:ext cx="342900" cy="342900"/>
            <a:chOff x="0" y="0"/>
            <a:chExt cx="457200" cy="45720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201" id="201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2" id="202"/>
          <p:cNvSpPr txBox="true"/>
          <p:nvPr/>
        </p:nvSpPr>
        <p:spPr>
          <a:xfrm rot="0">
            <a:off x="914400" y="8052054"/>
            <a:ext cx="3429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✓</a:t>
            </a:r>
          </a:p>
        </p:txBody>
      </p:sp>
      <p:grpSp>
        <p:nvGrpSpPr>
          <p:cNvPr name="Group 203" id="203"/>
          <p:cNvGrpSpPr/>
          <p:nvPr/>
        </p:nvGrpSpPr>
        <p:grpSpPr>
          <a:xfrm rot="0">
            <a:off x="7715250" y="7994904"/>
            <a:ext cx="1143000" cy="857250"/>
            <a:chOff x="0" y="0"/>
            <a:chExt cx="1524000" cy="1143000"/>
          </a:xfrm>
        </p:grpSpPr>
        <p:grpSp>
          <p:nvGrpSpPr>
            <p:cNvPr name="Group 204" id="204"/>
            <p:cNvGrpSpPr/>
            <p:nvPr/>
          </p:nvGrpSpPr>
          <p:grpSpPr>
            <a:xfrm rot="0">
              <a:off x="0" y="0"/>
              <a:ext cx="1524000" cy="1143000"/>
              <a:chOff x="0" y="0"/>
              <a:chExt cx="1524000" cy="1143000"/>
            </a:xfrm>
          </p:grpSpPr>
          <p:sp>
            <p:nvSpPr>
              <p:cNvPr name="Freeform 205" id="205"/>
              <p:cNvSpPr/>
              <p:nvPr/>
            </p:nvSpPr>
            <p:spPr>
              <a:xfrm flipH="false" flipV="false" rot="0">
                <a:off x="0" y="0"/>
                <a:ext cx="1524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206" id="206"/>
              <p:cNvSpPr txBox="true"/>
              <p:nvPr/>
            </p:nvSpPr>
            <p:spPr>
              <a:xfrm>
                <a:off x="0" y="-38100"/>
                <a:ext cx="1524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7" id="20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208" id="20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9" id="20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0" id="21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11" id="21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2" id="21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3" id="213"/>
            <p:cNvGrpSpPr/>
            <p:nvPr/>
          </p:nvGrpSpPr>
          <p:grpSpPr>
            <a:xfrm rot="0">
              <a:off x="1143000" y="965200"/>
              <a:ext cx="228600" cy="25400"/>
              <a:chOff x="0" y="0"/>
              <a:chExt cx="228600" cy="25400"/>
            </a:xfrm>
          </p:grpSpPr>
          <p:sp>
            <p:nvSpPr>
              <p:cNvPr name="Freeform 214" id="21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5" id="21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6" id="216"/>
            <p:cNvGrpSpPr/>
            <p:nvPr/>
          </p:nvGrpSpPr>
          <p:grpSpPr>
            <a:xfrm rot="0">
              <a:off x="1346200" y="762000"/>
              <a:ext cx="25400" cy="228600"/>
              <a:chOff x="0" y="0"/>
              <a:chExt cx="25400" cy="228600"/>
            </a:xfrm>
          </p:grpSpPr>
          <p:sp>
            <p:nvSpPr>
              <p:cNvPr name="Freeform 217" id="21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8" id="21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9" id="219"/>
            <p:cNvSpPr txBox="true"/>
            <p:nvPr/>
          </p:nvSpPr>
          <p:spPr>
            <a:xfrm rot="0">
              <a:off x="0" y="123825"/>
              <a:ext cx="152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220" id="220"/>
            <p:cNvSpPr txBox="true"/>
            <p:nvPr/>
          </p:nvSpPr>
          <p:spPr>
            <a:xfrm rot="0">
              <a:off x="0" y="831850"/>
              <a:ext cx="152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7</a:t>
              </a:r>
            </a:p>
          </p:txBody>
        </p:sp>
      </p:grpSp>
      <p:sp>
        <p:nvSpPr>
          <p:cNvPr name="AutoShape 221" id="221"/>
          <p:cNvSpPr/>
          <p:nvPr/>
        </p:nvSpPr>
        <p:spPr>
          <a:xfrm>
            <a:off x="914400" y="9214104"/>
            <a:ext cx="794385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2" id="222"/>
          <p:cNvSpPr txBox="true"/>
          <p:nvPr/>
        </p:nvSpPr>
        <p:spPr>
          <a:xfrm rot="0">
            <a:off x="1771650" y="8023479"/>
            <a:ext cx="571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07</a:t>
            </a:r>
          </a:p>
        </p:txBody>
      </p:sp>
      <p:sp>
        <p:nvSpPr>
          <p:cNvPr name="TextBox 223" id="223"/>
          <p:cNvSpPr txBox="true"/>
          <p:nvPr/>
        </p:nvSpPr>
        <p:spPr>
          <a:xfrm rot="0">
            <a:off x="2533650" y="8090154"/>
            <a:ext cx="489585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Milestone 7 achievement statement placeholder — concise result description.</a:t>
            </a:r>
          </a:p>
        </p:txBody>
      </p:sp>
      <p:grpSp>
        <p:nvGrpSpPr>
          <p:cNvPr name="Group 224" id="224"/>
          <p:cNvGrpSpPr/>
          <p:nvPr/>
        </p:nvGrpSpPr>
        <p:grpSpPr>
          <a:xfrm rot="0">
            <a:off x="9334500" y="8071104"/>
            <a:ext cx="342900" cy="342900"/>
            <a:chOff x="0" y="0"/>
            <a:chExt cx="457200" cy="45720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6" id="226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7" id="227"/>
          <p:cNvSpPr txBox="true"/>
          <p:nvPr/>
        </p:nvSpPr>
        <p:spPr>
          <a:xfrm rot="0">
            <a:off x="9334500" y="8052054"/>
            <a:ext cx="3429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✓</a:t>
            </a:r>
          </a:p>
        </p:txBody>
      </p:sp>
      <p:grpSp>
        <p:nvGrpSpPr>
          <p:cNvPr name="Group 228" id="228"/>
          <p:cNvGrpSpPr/>
          <p:nvPr/>
        </p:nvGrpSpPr>
        <p:grpSpPr>
          <a:xfrm rot="0">
            <a:off x="16135350" y="7994904"/>
            <a:ext cx="1143000" cy="857250"/>
            <a:chOff x="0" y="0"/>
            <a:chExt cx="1524000" cy="1143000"/>
          </a:xfrm>
        </p:grpSpPr>
        <p:grpSp>
          <p:nvGrpSpPr>
            <p:cNvPr name="Group 229" id="229"/>
            <p:cNvGrpSpPr/>
            <p:nvPr/>
          </p:nvGrpSpPr>
          <p:grpSpPr>
            <a:xfrm rot="0">
              <a:off x="0" y="0"/>
              <a:ext cx="1524000" cy="1143000"/>
              <a:chOff x="0" y="0"/>
              <a:chExt cx="1524000" cy="1143000"/>
            </a:xfrm>
          </p:grpSpPr>
          <p:sp>
            <p:nvSpPr>
              <p:cNvPr name="Freeform 230" id="230"/>
              <p:cNvSpPr/>
              <p:nvPr/>
            </p:nvSpPr>
            <p:spPr>
              <a:xfrm flipH="false" flipV="false" rot="0">
                <a:off x="0" y="0"/>
                <a:ext cx="1524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231" id="231"/>
              <p:cNvSpPr txBox="true"/>
              <p:nvPr/>
            </p:nvSpPr>
            <p:spPr>
              <a:xfrm>
                <a:off x="0" y="-38100"/>
                <a:ext cx="1524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2" id="232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233" id="233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4" id="234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5" id="235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36" id="236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7" id="237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8" id="238"/>
            <p:cNvGrpSpPr/>
            <p:nvPr/>
          </p:nvGrpSpPr>
          <p:grpSpPr>
            <a:xfrm rot="0">
              <a:off x="1143000" y="965200"/>
              <a:ext cx="228600" cy="25400"/>
              <a:chOff x="0" y="0"/>
              <a:chExt cx="228600" cy="25400"/>
            </a:xfrm>
          </p:grpSpPr>
          <p:sp>
            <p:nvSpPr>
              <p:cNvPr name="Freeform 239" id="239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0" id="240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41" id="241"/>
            <p:cNvGrpSpPr/>
            <p:nvPr/>
          </p:nvGrpSpPr>
          <p:grpSpPr>
            <a:xfrm rot="0">
              <a:off x="1346200" y="762000"/>
              <a:ext cx="25400" cy="228600"/>
              <a:chOff x="0" y="0"/>
              <a:chExt cx="25400" cy="228600"/>
            </a:xfrm>
          </p:grpSpPr>
          <p:sp>
            <p:nvSpPr>
              <p:cNvPr name="Freeform 242" id="242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3" id="243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4" id="244"/>
            <p:cNvSpPr txBox="true"/>
            <p:nvPr/>
          </p:nvSpPr>
          <p:spPr>
            <a:xfrm rot="0">
              <a:off x="0" y="123825"/>
              <a:ext cx="152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245" id="245"/>
            <p:cNvSpPr txBox="true"/>
            <p:nvPr/>
          </p:nvSpPr>
          <p:spPr>
            <a:xfrm rot="0">
              <a:off x="0" y="831850"/>
              <a:ext cx="152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8</a:t>
              </a:r>
            </a:p>
          </p:txBody>
        </p:sp>
      </p:grpSp>
      <p:sp>
        <p:nvSpPr>
          <p:cNvPr name="AutoShape 246" id="246"/>
          <p:cNvSpPr/>
          <p:nvPr/>
        </p:nvSpPr>
        <p:spPr>
          <a:xfrm>
            <a:off x="9334500" y="9214104"/>
            <a:ext cx="794385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7" id="247"/>
          <p:cNvSpPr txBox="true"/>
          <p:nvPr/>
        </p:nvSpPr>
        <p:spPr>
          <a:xfrm rot="0">
            <a:off x="10191750" y="8023479"/>
            <a:ext cx="571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08</a:t>
            </a:r>
          </a:p>
        </p:txBody>
      </p:sp>
      <p:sp>
        <p:nvSpPr>
          <p:cNvPr name="TextBox 248" id="248"/>
          <p:cNvSpPr txBox="true"/>
          <p:nvPr/>
        </p:nvSpPr>
        <p:spPr>
          <a:xfrm rot="0">
            <a:off x="10953750" y="8090154"/>
            <a:ext cx="489585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Milestone 8 achievement statement placeholder — concise result description.</a:t>
            </a:r>
          </a:p>
        </p:txBody>
      </p:sp>
      <p:sp>
        <p:nvSpPr>
          <p:cNvPr name="AutoShape 249" id="249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0" id="250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251" id="251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252" id="252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/ 18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0X  //  SITE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INSTALLATION FIELDWORK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3613404"/>
            <a:ext cx="8382000" cy="5715000"/>
            <a:chOff x="0" y="0"/>
            <a:chExt cx="11176000" cy="7620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176000" cy="7620000"/>
              <a:chOff x="0" y="0"/>
              <a:chExt cx="11176000" cy="762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1760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11176000">
                    <a:moveTo>
                      <a:pt x="0" y="0"/>
                    </a:moveTo>
                    <a:lnTo>
                      <a:pt x="11176000" y="0"/>
                    </a:lnTo>
                    <a:lnTo>
                      <a:pt x="11176000" y="7620000"/>
                    </a:lnTo>
                    <a:lnTo>
                      <a:pt x="0" y="7620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1176000" cy="765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0795000" y="7442200"/>
              <a:ext cx="228600" cy="25400"/>
              <a:chOff x="0" y="0"/>
              <a:chExt cx="228600" cy="25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0998200" y="7239000"/>
              <a:ext cx="25400" cy="228600"/>
              <a:chOff x="0" y="0"/>
              <a:chExt cx="25400" cy="228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3362325"/>
              <a:ext cx="11176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4070350"/>
              <a:ext cx="11176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CREW AT WORK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86900" y="3613404"/>
            <a:ext cx="3619500" cy="2762250"/>
            <a:chOff x="0" y="0"/>
            <a:chExt cx="4826000" cy="3683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826000" cy="3683000"/>
              <a:chOff x="0" y="0"/>
              <a:chExt cx="4826000" cy="3683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826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826000">
                    <a:moveTo>
                      <a:pt x="0" y="0"/>
                    </a:moveTo>
                    <a:lnTo>
                      <a:pt x="4826000" y="0"/>
                    </a:lnTo>
                    <a:lnTo>
                      <a:pt x="4826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826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4445000" y="3505200"/>
              <a:ext cx="228600" cy="25400"/>
              <a:chOff x="0" y="0"/>
              <a:chExt cx="228600" cy="25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4648200" y="3302000"/>
              <a:ext cx="25400" cy="228600"/>
              <a:chOff x="0" y="0"/>
              <a:chExt cx="25400" cy="2286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1393825"/>
              <a:ext cx="4826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2101850"/>
              <a:ext cx="4826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SITE CONDITIONS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296900" y="3613404"/>
            <a:ext cx="3619500" cy="2762250"/>
            <a:chOff x="0" y="0"/>
            <a:chExt cx="4826000" cy="3683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4826000" cy="3683000"/>
              <a:chOff x="0" y="0"/>
              <a:chExt cx="4826000" cy="3683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826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826000">
                    <a:moveTo>
                      <a:pt x="0" y="0"/>
                    </a:moveTo>
                    <a:lnTo>
                      <a:pt x="4826000" y="0"/>
                    </a:lnTo>
                    <a:lnTo>
                      <a:pt x="4826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4826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4445000" y="3505200"/>
              <a:ext cx="228600" cy="25400"/>
              <a:chOff x="0" y="0"/>
              <a:chExt cx="228600" cy="254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4648200" y="3302000"/>
              <a:ext cx="25400" cy="228600"/>
              <a:chOff x="0" y="0"/>
              <a:chExt cx="25400" cy="2286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0" y="1393825"/>
              <a:ext cx="4826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0" y="2101850"/>
              <a:ext cx="4826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EQUIPMENT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486900" y="6566154"/>
            <a:ext cx="7429500" cy="2762250"/>
            <a:chOff x="0" y="0"/>
            <a:chExt cx="9906000" cy="3683000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9906000" cy="3683000"/>
              <a:chOff x="0" y="0"/>
              <a:chExt cx="9906000" cy="36830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9906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9906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9525000" y="3505200"/>
              <a:ext cx="228600" cy="25400"/>
              <a:chOff x="0" y="0"/>
              <a:chExt cx="228600" cy="254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9728200" y="3302000"/>
              <a:ext cx="25400" cy="228600"/>
              <a:chOff x="0" y="0"/>
              <a:chExt cx="25400" cy="2286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3" id="83"/>
            <p:cNvSpPr txBox="true"/>
            <p:nvPr/>
          </p:nvSpPr>
          <p:spPr>
            <a:xfrm rot="0">
              <a:off x="0" y="1393825"/>
              <a:ext cx="9906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0" y="2101850"/>
              <a:ext cx="9906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INSTALLATION DETAIL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914400" y="9461754"/>
            <a:ext cx="8382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62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CAPTION  //  Crew activity, safety, and installation note placeholder.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14400" y="9938004"/>
            <a:ext cx="164592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INSTALLATION NOTES  &amp;  FIELD ACCOMPLISHMENTS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14400" y="10204704"/>
            <a:ext cx="16459200" cy="9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Placeholder for site prep and staging notes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Placeholder for lift plans and rigging observations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Placeholder for safety measures and PPE requirements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·  Placeholder for field accomplishments and daily progress</a:t>
            </a:r>
          </a:p>
        </p:txBody>
      </p:sp>
      <p:sp>
        <p:nvSpPr>
          <p:cNvPr name="AutoShape 88" id="88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9" id="89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/ 18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0"/>
              <a:chOff x="0" y="0"/>
              <a:chExt cx="24384000" cy="13716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384000" cy="137160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4384000" cy="137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003000" y="13538200"/>
              <a:ext cx="228600" cy="25400"/>
              <a:chOff x="0" y="0"/>
              <a:chExt cx="228600" cy="25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4206200" y="13335000"/>
              <a:ext cx="25400" cy="228600"/>
              <a:chOff x="0" y="0"/>
              <a:chExt cx="25400" cy="2286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6410325"/>
              <a:ext cx="243840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118350"/>
              <a:ext cx="243840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COMPLETED PROJECT PHOTO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true">
              <a:gsLst>
                <a:gs pos="0">
                  <a:srgbClr val="1A1A1A">
                    <a:alpha val="0"/>
                  </a:srgbClr>
                </a:gs>
                <a:gs pos="100000">
                  <a:srgbClr val="1A1A1A">
                    <a:alpha val="9200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8239125"/>
            <a:ext cx="762000" cy="38100"/>
            <a:chOff x="0" y="0"/>
            <a:chExt cx="1016000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14400" y="79819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COMPLETED  //  PROJECT REVEAL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8420100"/>
            <a:ext cx="11430000" cy="7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5400" spc="108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PROJECT TITLE PLACEHOLDER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913447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COMPLETED  //  QX · YEAR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44100" y="9115425"/>
            <a:ext cx="742950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35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Brief outcome statement placeholder — craftsmanship, quality, and delivery.</a:t>
            </a:r>
          </a:p>
        </p:txBody>
      </p:sp>
      <p:sp>
        <p:nvSpPr>
          <p:cNvPr name="AutoShape 36" id="36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/ 18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2705100" cy="400050"/>
            <a:chOff x="0" y="0"/>
            <a:chExt cx="3606800" cy="5334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790700"/>
            <a:ext cx="457200" cy="38100"/>
            <a:chOff x="0" y="0"/>
            <a:chExt cx="6096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1695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OUTCOME  //  CUSTOMER VALUE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2181225"/>
            <a:ext cx="16459200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spc="13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RESULTS AND PROJECT IMPACT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3613404"/>
            <a:ext cx="38100" cy="1238250"/>
            <a:chOff x="0" y="0"/>
            <a:chExt cx="50800" cy="165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8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85850" y="3594354"/>
            <a:ext cx="84010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METAL WORX DELIVERED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5850" y="3813429"/>
            <a:ext cx="8401050" cy="23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27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describing the delivered fabrication and installation scope.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4400" y="5232654"/>
            <a:ext cx="38100" cy="1238250"/>
            <a:chOff x="0" y="0"/>
            <a:chExt cx="50800" cy="165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08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85850" y="5213604"/>
            <a:ext cx="84010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CRAFTSMANSHIP HIGHLIGHTS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5850" y="5432679"/>
            <a:ext cx="8401050" cy="23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27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for materials, welding, finish, and quality highlights.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4400" y="6851904"/>
            <a:ext cx="38100" cy="1238250"/>
            <a:chOff x="0" y="0"/>
            <a:chExt cx="508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08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5850" y="6832854"/>
            <a:ext cx="84010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CUSTOMER 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5850" y="7051929"/>
            <a:ext cx="8401050" cy="23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275">
                <a:solidFill>
                  <a:srgbClr val="C0C0C0"/>
                </a:solidFill>
                <a:latin typeface="Barlow"/>
                <a:ea typeface="Barlow"/>
                <a:cs typeface="Barlow"/>
                <a:sym typeface="Barlow"/>
              </a:rPr>
              <a:t>Placeholder for operational value, durability, and outcome for the customer.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67900" y="3613404"/>
            <a:ext cx="7505700" cy="5334000"/>
            <a:chOff x="0" y="0"/>
            <a:chExt cx="10007600" cy="7112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007600" cy="7112000"/>
              <a:chOff x="0" y="0"/>
              <a:chExt cx="10007600" cy="7112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0076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10007600">
                    <a:moveTo>
                      <a:pt x="0" y="0"/>
                    </a:moveTo>
                    <a:lnTo>
                      <a:pt x="10007600" y="0"/>
                    </a:lnTo>
                    <a:lnTo>
                      <a:pt x="100076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232323"/>
              </a:solidFill>
              <a:ln w="9525" cap="sq">
                <a:solidFill>
                  <a:srgbClr val="555555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0076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52400" y="152400"/>
              <a:ext cx="228600" cy="25400"/>
              <a:chOff x="0" y="0"/>
              <a:chExt cx="228600" cy="25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2400" y="152400"/>
              <a:ext cx="25400" cy="228600"/>
              <a:chOff x="0" y="0"/>
              <a:chExt cx="25400" cy="2286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626600" y="6934200"/>
              <a:ext cx="228600" cy="25400"/>
              <a:chOff x="0" y="0"/>
              <a:chExt cx="228600" cy="25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286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286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9829800" y="6731000"/>
              <a:ext cx="25400" cy="228600"/>
              <a:chOff x="0" y="0"/>
              <a:chExt cx="25400" cy="2286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54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54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0" y="3108325"/>
              <a:ext cx="10007600" cy="91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555555"/>
                  </a:solidFill>
                  <a:latin typeface="Oswald"/>
                  <a:ea typeface="Oswald"/>
                  <a:cs typeface="Oswald"/>
                  <a:sym typeface="Oswald"/>
                </a:rPr>
                <a:t>+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3816350"/>
              <a:ext cx="10007600" cy="191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0"/>
                </a:lnSpc>
              </a:pPr>
              <a:r>
                <a:rPr lang="en-US" sz="900" spc="359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COMPLETED PROJECT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867900" y="9328404"/>
            <a:ext cx="7505700" cy="1714500"/>
            <a:chOff x="0" y="0"/>
            <a:chExt cx="10007600" cy="2286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07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007600">
                  <a:moveTo>
                    <a:pt x="0" y="0"/>
                  </a:moveTo>
                  <a:lnTo>
                    <a:pt x="10007600" y="0"/>
                  </a:lnTo>
                  <a:lnTo>
                    <a:pt x="10007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0076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0058400" y="9652254"/>
            <a:ext cx="7124700" cy="85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33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CUSTOM METAL.</a:t>
            </a:r>
          </a:p>
          <a:p>
            <a:pPr algn="l">
              <a:lnSpc>
                <a:spcPts val="3366"/>
              </a:lnSpc>
            </a:pPr>
            <a:r>
              <a:rPr lang="en-US" sz="33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BUILT TO LAST.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058400" y="10719054"/>
            <a:ext cx="71247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VETERAN OWNED  ·  AMERICAN MADE  ·  BUILT STRONG. FINISHED RIGHT.</a:t>
            </a:r>
          </a:p>
        </p:txBody>
      </p:sp>
      <p:sp>
        <p:nvSpPr>
          <p:cNvPr name="AutoShape 51" id="51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2" id="52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 / 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54000" y="0"/>
            <a:ext cx="5334000" cy="10287000"/>
            <a:chOff x="0" y="0"/>
            <a:chExt cx="711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1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2705100" cy="400050"/>
            <a:chOff x="0" y="0"/>
            <a:chExt cx="3606800" cy="5334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76200"/>
              <a:ext cx="177800" cy="457200"/>
              <a:chOff x="0" y="0"/>
              <a:chExt cx="177800" cy="4572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78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778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04800" y="-381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04800" y="336550"/>
              <a:ext cx="3302000" cy="17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en-US" sz="750" spc="225">
                  <a:solidFill>
                    <a:srgbClr val="C0C0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 METAL FABRICATION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476625"/>
            <a:ext cx="1143000" cy="38100"/>
            <a:chOff x="0" y="0"/>
            <a:chExt cx="1524000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0" cy="50800"/>
            </a:xfrm>
            <a:custGeom>
              <a:avLst/>
              <a:gdLst/>
              <a:ahLst/>
              <a:cxnLst/>
              <a:rect r="r" b="b" t="t" l="l"/>
              <a:pathLst>
                <a:path h="508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2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87400" y="2095500"/>
            <a:ext cx="571500" cy="19050"/>
            <a:chOff x="0" y="0"/>
            <a:chExt cx="7620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62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" y="3219450"/>
            <a:ext cx="857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37">
                <a:solidFill>
                  <a:srgbClr val="B512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STORYBOARD  //  CLOSING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3857625"/>
            <a:ext cx="11430000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5"/>
              </a:lnSpc>
            </a:pPr>
            <a:r>
              <a:rPr lang="en-US" sz="9900" spc="198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BUILT STRONG.</a:t>
            </a:r>
          </a:p>
          <a:p>
            <a:pPr algn="l">
              <a:lnSpc>
                <a:spcPts val="9405"/>
              </a:lnSpc>
            </a:pPr>
            <a:r>
              <a:rPr lang="en-US" sz="9900" spc="198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BUILT RIGHT.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64389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CUSTOM METAL. BUILT TO LAST.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6838950"/>
            <a:ext cx="11430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341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VETERAN OWNED   ·   AMERICAN MADE   ·   BUILT STRONG. FINISHED RIGHT.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87400" y="895350"/>
            <a:ext cx="4381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341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 PLACEHOLDER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87400" y="1695450"/>
            <a:ext cx="4381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35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87400" y="2171700"/>
            <a:ext cx="4381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>
                <a:solidFill>
                  <a:srgbClr val="FFFFFF">
                    <a:alpha val="8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7400" y="2362200"/>
            <a:ext cx="438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000.000.0000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7400" y="3028950"/>
            <a:ext cx="4381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>
                <a:solidFill>
                  <a:srgbClr val="FFFFFF">
                    <a:alpha val="8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EMAIL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87400" y="3219450"/>
            <a:ext cx="4381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info@company.com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87400" y="3886200"/>
            <a:ext cx="4381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>
                <a:solidFill>
                  <a:srgbClr val="FFFFFF">
                    <a:alpha val="8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87400" y="4076700"/>
            <a:ext cx="4381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www.metalworxinc.com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87400" y="4743450"/>
            <a:ext cx="4381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>
                <a:solidFill>
                  <a:srgbClr val="FFFFFF">
                    <a:alpha val="8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LOCATION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87400" y="4933950"/>
            <a:ext cx="4381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Fayetteville, North Carolina</a:t>
            </a:r>
          </a:p>
        </p:txBody>
      </p:sp>
      <p:sp>
        <p:nvSpPr>
          <p:cNvPr name="AutoShape 31" id="31"/>
          <p:cNvSpPr/>
          <p:nvPr/>
        </p:nvSpPr>
        <p:spPr>
          <a:xfrm>
            <a:off x="914400" y="9753600"/>
            <a:ext cx="164592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14400" y="9867900"/>
            <a:ext cx="85725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METAL WORX, INC.  //  BUILT STRONG. BUILT RIGHT.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39000" y="9867900"/>
            <a:ext cx="3810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468600" y="9867900"/>
            <a:ext cx="190500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5"/>
              </a:lnSpc>
            </a:pPr>
            <a:r>
              <a:rPr lang="en-US" sz="825" spc="247">
                <a:solidFill>
                  <a:srgbClr val="C0C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DAHWIqHVpjg</dc:identifier>
  <dcterms:modified xsi:type="dcterms:W3CDTF">2011-08-01T06:04:30Z</dcterms:modified>
  <cp:revision>1</cp:revision>
  <dc:title>Base Storyboard</dc:title>
</cp:coreProperties>
</file>