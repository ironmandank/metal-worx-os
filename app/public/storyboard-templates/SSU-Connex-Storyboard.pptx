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x="18288000" cy="10287000"/>
  <p:notesSz cx="6858000" cy="9144000"/>
  <p:embeddedFontLst>
    <p:embeddedFont>
      <p:font typeface="Montserrat" charset="1" panose="00000500000000000000"/>
      <p:regular r:id="rId24"/>
    </p:embeddedFont>
    <p:embeddedFont>
      <p:font typeface="Anton" charset="1" panose="00000500000000000000"/>
      <p:regular r:id="rId25"/>
    </p:embeddedFont>
    <p:embeddedFont>
      <p:font typeface="Montserrat Bold" charset="1" panose="00000800000000000000"/>
      <p:regular r:id="rId26"/>
    </p:embeddedFont>
    <p:embeddedFont>
      <p:font typeface="Magz" charset="1" panose="02000503000000000000"/>
      <p:regular r:id="rId27"/>
    </p:embeddedFont>
    <p:embeddedFont>
      <p:font typeface="Roboto Bold" charset="1" panose="02000000000000000000"/>
      <p:regular r:id="rId28"/>
    </p:embeddedFont>
    <p:embeddedFont>
      <p:font typeface="Roboto" charset="1" panose="02000000000000000000"/>
      <p:regular r:id="rId29"/>
    </p:embeddedFont>
    <p:embeddedFont>
      <p:font typeface="Norwester" charset="1" panose="00000506000000000000"/>
      <p:regular r:id="rId30"/>
    </p:embeddedFont>
    <p:embeddedFont>
      <p:font typeface="Garet Bold" charset="1" panose="00000000000000000000"/>
      <p:regular r:id="rId31"/>
    </p:embeddedFont>
    <p:embeddedFont>
      <p:font typeface="Oswald Bold" charset="1" panose="00000800000000000000"/>
      <p:regular r:id="rId32"/>
    </p:embeddedFont>
    <p:embeddedFont>
      <p:font typeface="Barlow Bold" charset="1" panose="00000800000000000000"/>
      <p:regular r:id="rId33"/>
    </p:embeddedFont>
    <p:embeddedFont>
      <p:font typeface="Barlow Medium" charset="1" panose="00000600000000000000"/>
      <p:regular r:id="rId34"/>
    </p:embeddedFont>
    <p:embeddedFont>
      <p:font typeface="Barlow" charset="1" panose="00000500000000000000"/>
      <p:regular r:id="rId35"/>
    </p:embeddedFont>
    <p:embeddedFont>
      <p:font typeface="Inter 1 Bold" charset="1" panose="020B0802030000000004"/>
      <p:regular r:id="rId36"/>
    </p:embeddedFont>
    <p:embeddedFont>
      <p:font typeface="Inter 1" charset="1" panose="020B0502030000000004"/>
      <p:regular r:id="rId37"/>
    </p:embeddedFont>
    <p:embeddedFont>
      <p:font typeface="Poppins Bold" charset="1" panose="00000800000000000000"/>
      <p:regular r:id="rId38"/>
    </p:embeddedFont>
    <p:embeddedFont>
      <p:font typeface="Saira Condensed Bold" charset="1" panose="00000806000000000000"/>
      <p:regular r:id="rId39"/>
    </p:embeddedFont>
    <p:embeddedFont>
      <p:font typeface="Poppins" charset="1" panose="00000500000000000000"/>
      <p:regular r:id="rId40"/>
    </p:embeddedFont>
    <p:embeddedFont>
      <p:font typeface="Poppins Medium" charset="1" panose="00000600000000000000"/>
      <p:regular r:id="rId41"/>
    </p:embeddedFont>
    <p:embeddedFont>
      <p:font typeface="Gotham Condensed Bold" charset="1" panose="00000000000000000000"/>
      <p:regular r:id="rId42"/>
    </p:embeddedFont>
    <p:embeddedFont>
      <p:font typeface="Gotham" charset="1" panose="00000000000000000000"/>
      <p:regular r:id="rId43"/>
    </p:embeddedFont>
    <p:embeddedFont>
      <p:font typeface="Gotham Bold" charset="1" panose="00000000000000000000"/>
      <p:regular r:id="rId44"/>
    </p:embeddedFont>
    <p:embeddedFont>
      <p:font typeface="HK Grotesk Bold" charset="1" panose="00000800000000000000"/>
      <p:regular r:id="rId45"/>
    </p:embeddedFont>
    <p:embeddedFont>
      <p:font typeface="HK Grotesk" charset="1" panose="00000500000000000000"/>
      <p:regular r:id="rId46"/>
    </p:embeddedFont>
    <p:embeddedFont>
      <p:font typeface="Inter 2 Bold" charset="1" panose="02000503000000020004"/>
      <p:regular r:id="rId47"/>
    </p:embeddedFont>
    <p:embeddedFont>
      <p:font typeface="Inter 2" charset="1" panose="02000503000000020004"/>
      <p:regular r:id="rId4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26" Target="fonts/font26.fntdata" Type="http://schemas.openxmlformats.org/officeDocument/2006/relationships/font"/><Relationship Id="rId27" Target="fonts/font27.fntdata" Type="http://schemas.openxmlformats.org/officeDocument/2006/relationships/font"/><Relationship Id="rId28" Target="fonts/font28.fntdata" Type="http://schemas.openxmlformats.org/officeDocument/2006/relationships/font"/><Relationship Id="rId29" Target="fonts/font29.fntdata" Type="http://schemas.openxmlformats.org/officeDocument/2006/relationships/font"/><Relationship Id="rId3" Target="viewProps.xml" Type="http://schemas.openxmlformats.org/officeDocument/2006/relationships/viewProps"/><Relationship Id="rId30" Target="fonts/font30.fntdata" Type="http://schemas.openxmlformats.org/officeDocument/2006/relationships/font"/><Relationship Id="rId31" Target="fonts/font31.fntdata" Type="http://schemas.openxmlformats.org/officeDocument/2006/relationships/font"/><Relationship Id="rId32" Target="fonts/font32.fntdata" Type="http://schemas.openxmlformats.org/officeDocument/2006/relationships/font"/><Relationship Id="rId33" Target="fonts/font33.fntdata" Type="http://schemas.openxmlformats.org/officeDocument/2006/relationships/font"/><Relationship Id="rId34" Target="fonts/font34.fntdata" Type="http://schemas.openxmlformats.org/officeDocument/2006/relationships/font"/><Relationship Id="rId35" Target="fonts/font35.fntdata" Type="http://schemas.openxmlformats.org/officeDocument/2006/relationships/font"/><Relationship Id="rId36" Target="fonts/font36.fntdata" Type="http://schemas.openxmlformats.org/officeDocument/2006/relationships/font"/><Relationship Id="rId37" Target="fonts/font37.fntdata" Type="http://schemas.openxmlformats.org/officeDocument/2006/relationships/font"/><Relationship Id="rId38" Target="fonts/font38.fntdata" Type="http://schemas.openxmlformats.org/officeDocument/2006/relationships/font"/><Relationship Id="rId39" Target="fonts/font39.fntdata" Type="http://schemas.openxmlformats.org/officeDocument/2006/relationships/font"/><Relationship Id="rId4" Target="theme/theme1.xml" Type="http://schemas.openxmlformats.org/officeDocument/2006/relationships/theme"/><Relationship Id="rId40" Target="fonts/font40.fntdata" Type="http://schemas.openxmlformats.org/officeDocument/2006/relationships/font"/><Relationship Id="rId41" Target="fonts/font41.fntdata" Type="http://schemas.openxmlformats.org/officeDocument/2006/relationships/font"/><Relationship Id="rId42" Target="fonts/font42.fntdata" Type="http://schemas.openxmlformats.org/officeDocument/2006/relationships/font"/><Relationship Id="rId43" Target="fonts/font43.fntdata" Type="http://schemas.openxmlformats.org/officeDocument/2006/relationships/font"/><Relationship Id="rId44" Target="fonts/font44.fntdata" Type="http://schemas.openxmlformats.org/officeDocument/2006/relationships/font"/><Relationship Id="rId45" Target="fonts/font45.fntdata" Type="http://schemas.openxmlformats.org/officeDocument/2006/relationships/font"/><Relationship Id="rId46" Target="fonts/font46.fntdata" Type="http://schemas.openxmlformats.org/officeDocument/2006/relationships/font"/><Relationship Id="rId47" Target="fonts/font47.fntdata" Type="http://schemas.openxmlformats.org/officeDocument/2006/relationships/font"/><Relationship Id="rId48" Target="fonts/font48.fntdata" Type="http://schemas.openxmlformats.org/officeDocument/2006/relationships/font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png" Type="http://schemas.openxmlformats.org/officeDocument/2006/relationships/image"/><Relationship Id="rId8" Target="../media/image7.pn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8.png" Type="http://schemas.openxmlformats.org/officeDocument/2006/relationships/image"/><Relationship Id="rId11" Target="../media/image19.png" Type="http://schemas.openxmlformats.org/officeDocument/2006/relationships/image"/><Relationship Id="rId12" Target="../media/image20.png" Type="http://schemas.openxmlformats.org/officeDocument/2006/relationships/image"/><Relationship Id="rId13" Target="../media/image21.png" Type="http://schemas.openxmlformats.org/officeDocument/2006/relationships/image"/><Relationship Id="rId14" Target="../media/image22.png" Type="http://schemas.openxmlformats.org/officeDocument/2006/relationships/image"/><Relationship Id="rId15" Target="../media/image23.png" Type="http://schemas.openxmlformats.org/officeDocument/2006/relationships/image"/><Relationship Id="rId16" Target="../media/image24.png" Type="http://schemas.openxmlformats.org/officeDocument/2006/relationships/image"/><Relationship Id="rId17" Target="../media/image25.png" Type="http://schemas.openxmlformats.org/officeDocument/2006/relationships/image"/><Relationship Id="rId18" Target="../media/image26.png" Type="http://schemas.openxmlformats.org/officeDocument/2006/relationships/image"/><Relationship Id="rId19" Target="../media/image27.png" Type="http://schemas.openxmlformats.org/officeDocument/2006/relationships/image"/><Relationship Id="rId2" Target="../media/image10.png" Type="http://schemas.openxmlformats.org/officeDocument/2006/relationships/image"/><Relationship Id="rId20" Target="../media/image28.png" Type="http://schemas.openxmlformats.org/officeDocument/2006/relationships/image"/><Relationship Id="rId21" Target="../media/image29.png" Type="http://schemas.openxmlformats.org/officeDocument/2006/relationships/image"/><Relationship Id="rId22" Target="../media/image30.png" Type="http://schemas.openxmlformats.org/officeDocument/2006/relationships/image"/><Relationship Id="rId23" Target="../media/image31.png" Type="http://schemas.openxmlformats.org/officeDocument/2006/relationships/image"/><Relationship Id="rId24" Target="../media/image32.png" Type="http://schemas.openxmlformats.org/officeDocument/2006/relationships/image"/><Relationship Id="rId3" Target="../media/image11.png" Type="http://schemas.openxmlformats.org/officeDocument/2006/relationships/image"/><Relationship Id="rId4" Target="../media/image12.png" Type="http://schemas.openxmlformats.org/officeDocument/2006/relationships/image"/><Relationship Id="rId5" Target="../media/image13.png" Type="http://schemas.openxmlformats.org/officeDocument/2006/relationships/image"/><Relationship Id="rId6" Target="../media/image14.png" Type="http://schemas.openxmlformats.org/officeDocument/2006/relationships/image"/><Relationship Id="rId7" Target="../media/image15.png" Type="http://schemas.openxmlformats.org/officeDocument/2006/relationships/image"/><Relationship Id="rId8" Target="../media/image16.png" Type="http://schemas.openxmlformats.org/officeDocument/2006/relationships/image"/><Relationship Id="rId9" Target="../media/image17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1.png" Type="http://schemas.openxmlformats.org/officeDocument/2006/relationships/image"/><Relationship Id="rId11" Target="../media/image42.png" Type="http://schemas.openxmlformats.org/officeDocument/2006/relationships/image"/><Relationship Id="rId12" Target="../media/image43.png" Type="http://schemas.openxmlformats.org/officeDocument/2006/relationships/image"/><Relationship Id="rId13" Target="../media/image44.png" Type="http://schemas.openxmlformats.org/officeDocument/2006/relationships/image"/><Relationship Id="rId2" Target="../media/image33.png" Type="http://schemas.openxmlformats.org/officeDocument/2006/relationships/image"/><Relationship Id="rId3" Target="../media/image34.png" Type="http://schemas.openxmlformats.org/officeDocument/2006/relationships/image"/><Relationship Id="rId4" Target="../media/image35.png" Type="http://schemas.openxmlformats.org/officeDocument/2006/relationships/image"/><Relationship Id="rId5" Target="../media/image36.png" Type="http://schemas.openxmlformats.org/officeDocument/2006/relationships/image"/><Relationship Id="rId6" Target="../media/image37.png" Type="http://schemas.openxmlformats.org/officeDocument/2006/relationships/image"/><Relationship Id="rId7" Target="../media/image38.png" Type="http://schemas.openxmlformats.org/officeDocument/2006/relationships/image"/><Relationship Id="rId8" Target="../media/image39.png" Type="http://schemas.openxmlformats.org/officeDocument/2006/relationships/image"/><Relationship Id="rId9" Target="../media/image40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3.png" Type="http://schemas.openxmlformats.org/officeDocument/2006/relationships/image"/><Relationship Id="rId11" Target="../media/image54.png" Type="http://schemas.openxmlformats.org/officeDocument/2006/relationships/image"/><Relationship Id="rId12" Target="../media/image55.png" Type="http://schemas.openxmlformats.org/officeDocument/2006/relationships/image"/><Relationship Id="rId13" Target="../media/image56.png" Type="http://schemas.openxmlformats.org/officeDocument/2006/relationships/image"/><Relationship Id="rId14" Target="../media/image57.png" Type="http://schemas.openxmlformats.org/officeDocument/2006/relationships/image"/><Relationship Id="rId15" Target="../media/image58.png" Type="http://schemas.openxmlformats.org/officeDocument/2006/relationships/image"/><Relationship Id="rId16" Target="../media/image59.png" Type="http://schemas.openxmlformats.org/officeDocument/2006/relationships/image"/><Relationship Id="rId17" Target="../media/image60.png" Type="http://schemas.openxmlformats.org/officeDocument/2006/relationships/image"/><Relationship Id="rId18" Target="../media/image61.png" Type="http://schemas.openxmlformats.org/officeDocument/2006/relationships/image"/><Relationship Id="rId19" Target="../media/image62.png" Type="http://schemas.openxmlformats.org/officeDocument/2006/relationships/image"/><Relationship Id="rId2" Target="../media/image45.png" Type="http://schemas.openxmlformats.org/officeDocument/2006/relationships/image"/><Relationship Id="rId20" Target="../media/image63.png" Type="http://schemas.openxmlformats.org/officeDocument/2006/relationships/image"/><Relationship Id="rId3" Target="../media/image46.png" Type="http://schemas.openxmlformats.org/officeDocument/2006/relationships/image"/><Relationship Id="rId4" Target="../media/image47.png" Type="http://schemas.openxmlformats.org/officeDocument/2006/relationships/image"/><Relationship Id="rId5" Target="../media/image48.png" Type="http://schemas.openxmlformats.org/officeDocument/2006/relationships/image"/><Relationship Id="rId6" Target="../media/image49.png" Type="http://schemas.openxmlformats.org/officeDocument/2006/relationships/image"/><Relationship Id="rId7" Target="../media/image50.png" Type="http://schemas.openxmlformats.org/officeDocument/2006/relationships/image"/><Relationship Id="rId8" Target="../media/image51.png" Type="http://schemas.openxmlformats.org/officeDocument/2006/relationships/image"/><Relationship Id="rId9" Target="../media/image52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72.png" Type="http://schemas.openxmlformats.org/officeDocument/2006/relationships/image"/><Relationship Id="rId11" Target="../media/image73.png" Type="http://schemas.openxmlformats.org/officeDocument/2006/relationships/image"/><Relationship Id="rId12" Target="../media/image74.png" Type="http://schemas.openxmlformats.org/officeDocument/2006/relationships/image"/><Relationship Id="rId13" Target="../media/image75.png" Type="http://schemas.openxmlformats.org/officeDocument/2006/relationships/image"/><Relationship Id="rId14" Target="../media/image76.png" Type="http://schemas.openxmlformats.org/officeDocument/2006/relationships/image"/><Relationship Id="rId15" Target="../media/image77.png" Type="http://schemas.openxmlformats.org/officeDocument/2006/relationships/image"/><Relationship Id="rId16" Target="../media/image78.png" Type="http://schemas.openxmlformats.org/officeDocument/2006/relationships/image"/><Relationship Id="rId17" Target="../media/image79.png" Type="http://schemas.openxmlformats.org/officeDocument/2006/relationships/image"/><Relationship Id="rId18" Target="../media/image80.png" Type="http://schemas.openxmlformats.org/officeDocument/2006/relationships/image"/><Relationship Id="rId19" Target="../media/image81.png" Type="http://schemas.openxmlformats.org/officeDocument/2006/relationships/image"/><Relationship Id="rId2" Target="../media/image64.png" Type="http://schemas.openxmlformats.org/officeDocument/2006/relationships/image"/><Relationship Id="rId20" Target="../media/image82.png" Type="http://schemas.openxmlformats.org/officeDocument/2006/relationships/image"/><Relationship Id="rId21" Target="../media/image83.png" Type="http://schemas.openxmlformats.org/officeDocument/2006/relationships/image"/><Relationship Id="rId22" Target="../media/image84.png" Type="http://schemas.openxmlformats.org/officeDocument/2006/relationships/image"/><Relationship Id="rId23" Target="../media/image85.png" Type="http://schemas.openxmlformats.org/officeDocument/2006/relationships/image"/><Relationship Id="rId24" Target="../media/image86.png" Type="http://schemas.openxmlformats.org/officeDocument/2006/relationships/image"/><Relationship Id="rId25" Target="../media/image87.png" Type="http://schemas.openxmlformats.org/officeDocument/2006/relationships/image"/><Relationship Id="rId26" Target="../media/image88.png" Type="http://schemas.openxmlformats.org/officeDocument/2006/relationships/image"/><Relationship Id="rId27" Target="../media/image89.png" Type="http://schemas.openxmlformats.org/officeDocument/2006/relationships/image"/><Relationship Id="rId28" Target="../media/image90.png" Type="http://schemas.openxmlformats.org/officeDocument/2006/relationships/image"/><Relationship Id="rId29" Target="../media/image91.png" Type="http://schemas.openxmlformats.org/officeDocument/2006/relationships/image"/><Relationship Id="rId3" Target="../media/image65.png" Type="http://schemas.openxmlformats.org/officeDocument/2006/relationships/image"/><Relationship Id="rId30" Target="../media/image92.png" Type="http://schemas.openxmlformats.org/officeDocument/2006/relationships/image"/><Relationship Id="rId31" Target="../media/image93.png" Type="http://schemas.openxmlformats.org/officeDocument/2006/relationships/image"/><Relationship Id="rId32" Target="../media/image94.png" Type="http://schemas.openxmlformats.org/officeDocument/2006/relationships/image"/><Relationship Id="rId33" Target="../media/image95.png" Type="http://schemas.openxmlformats.org/officeDocument/2006/relationships/image"/><Relationship Id="rId34" Target="../media/image96.png" Type="http://schemas.openxmlformats.org/officeDocument/2006/relationships/image"/><Relationship Id="rId35" Target="../media/image97.png" Type="http://schemas.openxmlformats.org/officeDocument/2006/relationships/image"/><Relationship Id="rId36" Target="../media/image98.png" Type="http://schemas.openxmlformats.org/officeDocument/2006/relationships/image"/><Relationship Id="rId4" Target="../media/image66.png" Type="http://schemas.openxmlformats.org/officeDocument/2006/relationships/image"/><Relationship Id="rId5" Target="../media/image67.png" Type="http://schemas.openxmlformats.org/officeDocument/2006/relationships/image"/><Relationship Id="rId6" Target="../media/image68.png" Type="http://schemas.openxmlformats.org/officeDocument/2006/relationships/image"/><Relationship Id="rId7" Target="../media/image69.png" Type="http://schemas.openxmlformats.org/officeDocument/2006/relationships/image"/><Relationship Id="rId8" Target="../media/image70.png" Type="http://schemas.openxmlformats.org/officeDocument/2006/relationships/image"/><Relationship Id="rId9" Target="../media/image71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07.png" Type="http://schemas.openxmlformats.org/officeDocument/2006/relationships/image"/><Relationship Id="rId11" Target="../media/image108.png" Type="http://schemas.openxmlformats.org/officeDocument/2006/relationships/image"/><Relationship Id="rId2" Target="../media/image99.png" Type="http://schemas.openxmlformats.org/officeDocument/2006/relationships/image"/><Relationship Id="rId3" Target="../media/image100.png" Type="http://schemas.openxmlformats.org/officeDocument/2006/relationships/image"/><Relationship Id="rId4" Target="../media/image101.png" Type="http://schemas.openxmlformats.org/officeDocument/2006/relationships/image"/><Relationship Id="rId5" Target="../media/image102.png" Type="http://schemas.openxmlformats.org/officeDocument/2006/relationships/image"/><Relationship Id="rId6" Target="../media/image103.png" Type="http://schemas.openxmlformats.org/officeDocument/2006/relationships/image"/><Relationship Id="rId7" Target="../media/image104.png" Type="http://schemas.openxmlformats.org/officeDocument/2006/relationships/image"/><Relationship Id="rId8" Target="../media/image105.png" Type="http://schemas.openxmlformats.org/officeDocument/2006/relationships/image"/><Relationship Id="rId9" Target="../media/image106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7.png" Type="http://schemas.openxmlformats.org/officeDocument/2006/relationships/image"/><Relationship Id="rId2" Target="../media/image109.png" Type="http://schemas.openxmlformats.org/officeDocument/2006/relationships/image"/><Relationship Id="rId3" Target="../media/image110.png" Type="http://schemas.openxmlformats.org/officeDocument/2006/relationships/image"/><Relationship Id="rId4" Target="../media/image111.png" Type="http://schemas.openxmlformats.org/officeDocument/2006/relationships/image"/><Relationship Id="rId5" Target="../media/image112.png" Type="http://schemas.openxmlformats.org/officeDocument/2006/relationships/image"/><Relationship Id="rId6" Target="../media/image113.png" Type="http://schemas.openxmlformats.org/officeDocument/2006/relationships/image"/><Relationship Id="rId7" Target="../media/image114.png" Type="http://schemas.openxmlformats.org/officeDocument/2006/relationships/image"/><Relationship Id="rId8" Target="../media/image115.png" Type="http://schemas.openxmlformats.org/officeDocument/2006/relationships/image"/><Relationship Id="rId9" Target="../media/image116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26.png" Type="http://schemas.openxmlformats.org/officeDocument/2006/relationships/image"/><Relationship Id="rId11" Target="../media/image127.png" Type="http://schemas.openxmlformats.org/officeDocument/2006/relationships/image"/><Relationship Id="rId2" Target="../media/image118.png" Type="http://schemas.openxmlformats.org/officeDocument/2006/relationships/image"/><Relationship Id="rId3" Target="../media/image119.png" Type="http://schemas.openxmlformats.org/officeDocument/2006/relationships/image"/><Relationship Id="rId4" Target="../media/image120.png" Type="http://schemas.openxmlformats.org/officeDocument/2006/relationships/image"/><Relationship Id="rId5" Target="../media/image121.png" Type="http://schemas.openxmlformats.org/officeDocument/2006/relationships/image"/><Relationship Id="rId6" Target="../media/image122.png" Type="http://schemas.openxmlformats.org/officeDocument/2006/relationships/image"/><Relationship Id="rId7" Target="../media/image123.png" Type="http://schemas.openxmlformats.org/officeDocument/2006/relationships/image"/><Relationship Id="rId8" Target="../media/image124.png" Type="http://schemas.openxmlformats.org/officeDocument/2006/relationships/image"/><Relationship Id="rId9" Target="../media/image125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6.png" Type="http://schemas.openxmlformats.org/officeDocument/2006/relationships/image"/><Relationship Id="rId11" Target="../media/image137.png" Type="http://schemas.openxmlformats.org/officeDocument/2006/relationships/image"/><Relationship Id="rId12" Target="../media/image138.png" Type="http://schemas.openxmlformats.org/officeDocument/2006/relationships/image"/><Relationship Id="rId13" Target="../media/image139.png" Type="http://schemas.openxmlformats.org/officeDocument/2006/relationships/image"/><Relationship Id="rId2" Target="../media/image128.png" Type="http://schemas.openxmlformats.org/officeDocument/2006/relationships/image"/><Relationship Id="rId3" Target="../media/image129.png" Type="http://schemas.openxmlformats.org/officeDocument/2006/relationships/image"/><Relationship Id="rId4" Target="../media/image130.png" Type="http://schemas.openxmlformats.org/officeDocument/2006/relationships/image"/><Relationship Id="rId5" Target="../media/image131.png" Type="http://schemas.openxmlformats.org/officeDocument/2006/relationships/image"/><Relationship Id="rId6" Target="../media/image132.png" Type="http://schemas.openxmlformats.org/officeDocument/2006/relationships/image"/><Relationship Id="rId7" Target="../media/image133.png" Type="http://schemas.openxmlformats.org/officeDocument/2006/relationships/image"/><Relationship Id="rId8" Target="../media/image134.png" Type="http://schemas.openxmlformats.org/officeDocument/2006/relationships/image"/><Relationship Id="rId9" Target="../media/image135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48.png" Type="http://schemas.openxmlformats.org/officeDocument/2006/relationships/image"/><Relationship Id="rId11" Target="../media/image149.png" Type="http://schemas.openxmlformats.org/officeDocument/2006/relationships/image"/><Relationship Id="rId12" Target="../media/image150.png" Type="http://schemas.openxmlformats.org/officeDocument/2006/relationships/image"/><Relationship Id="rId13" Target="../media/image151.png" Type="http://schemas.openxmlformats.org/officeDocument/2006/relationships/image"/><Relationship Id="rId14" Target="../media/image152.png" Type="http://schemas.openxmlformats.org/officeDocument/2006/relationships/image"/><Relationship Id="rId2" Target="../media/image140.png" Type="http://schemas.openxmlformats.org/officeDocument/2006/relationships/image"/><Relationship Id="rId3" Target="../media/image141.png" Type="http://schemas.openxmlformats.org/officeDocument/2006/relationships/image"/><Relationship Id="rId4" Target="../media/image142.png" Type="http://schemas.openxmlformats.org/officeDocument/2006/relationships/image"/><Relationship Id="rId5" Target="../media/image143.png" Type="http://schemas.openxmlformats.org/officeDocument/2006/relationships/image"/><Relationship Id="rId6" Target="../media/image144.png" Type="http://schemas.openxmlformats.org/officeDocument/2006/relationships/image"/><Relationship Id="rId7" Target="../media/image145.png" Type="http://schemas.openxmlformats.org/officeDocument/2006/relationships/image"/><Relationship Id="rId8" Target="../media/image146.png" Type="http://schemas.openxmlformats.org/officeDocument/2006/relationships/image"/><Relationship Id="rId9" Target="../media/image147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1096625" y="0"/>
            <a:ext cx="7191375" cy="10287000"/>
          </a:xfrm>
          <a:custGeom>
            <a:avLst/>
            <a:gdLst/>
            <a:ahLst/>
            <a:cxnLst/>
            <a:rect r="r" b="b" t="t" l="l"/>
            <a:pathLst>
              <a:path h="10287000" w="7191375">
                <a:moveTo>
                  <a:pt x="0" y="0"/>
                </a:moveTo>
                <a:lnTo>
                  <a:pt x="7191375" y="0"/>
                </a:lnTo>
                <a:lnTo>
                  <a:pt x="7191375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428625" y="209550"/>
            <a:ext cx="6324600" cy="1295400"/>
          </a:xfrm>
          <a:custGeom>
            <a:avLst/>
            <a:gdLst/>
            <a:ahLst/>
            <a:cxnLst/>
            <a:rect r="r" b="b" t="t" l="l"/>
            <a:pathLst>
              <a:path h="1295400" w="6324600">
                <a:moveTo>
                  <a:pt x="0" y="0"/>
                </a:moveTo>
                <a:lnTo>
                  <a:pt x="6324600" y="0"/>
                </a:lnTo>
                <a:lnTo>
                  <a:pt x="6324600" y="1295400"/>
                </a:lnTo>
                <a:lnTo>
                  <a:pt x="0" y="12954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647700" y="1495425"/>
            <a:ext cx="9810750" cy="219075"/>
          </a:xfrm>
          <a:custGeom>
            <a:avLst/>
            <a:gdLst/>
            <a:ahLst/>
            <a:cxnLst/>
            <a:rect r="r" b="b" t="t" l="l"/>
            <a:pathLst>
              <a:path h="219075" w="9810750">
                <a:moveTo>
                  <a:pt x="0" y="0"/>
                </a:moveTo>
                <a:lnTo>
                  <a:pt x="9810750" y="0"/>
                </a:lnTo>
                <a:lnTo>
                  <a:pt x="9810750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676656" y="1731752"/>
            <a:ext cx="4992624" cy="2318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2"/>
              </a:lnSpc>
            </a:pPr>
            <a:r>
              <a:rPr lang="en-US" sz="1373" spc="206">
                <a:solidFill>
                  <a:srgbClr val="FFFFFF">
                    <a:alpha val="49804"/>
                  </a:srgbClr>
                </a:solidFill>
                <a:latin typeface="Montserrat"/>
                <a:ea typeface="Montserrat"/>
                <a:cs typeface="Montserrat"/>
                <a:sym typeface="Montserrat"/>
              </a:rPr>
              <a:t>PROJECT STORYBOARD // CASE STUDY 01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40080" y="2210882"/>
            <a:ext cx="7790688" cy="17805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474"/>
              </a:lnSpc>
            </a:pPr>
            <a:r>
              <a:rPr lang="en-US" sz="13474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SSU CONNEX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40080" y="3929371"/>
            <a:ext cx="7735824" cy="9061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00"/>
              </a:lnSpc>
            </a:pPr>
            <a:r>
              <a:rPr lang="en-US" sz="6800">
                <a:solidFill>
                  <a:srgbClr val="C80000"/>
                </a:solidFill>
                <a:latin typeface="Anton"/>
                <a:ea typeface="Anton"/>
                <a:cs typeface="Anton"/>
                <a:sym typeface="Anton"/>
              </a:rPr>
              <a:t>CONTAINER CONVERSION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647700" y="4924425"/>
            <a:ext cx="666750" cy="219075"/>
          </a:xfrm>
          <a:custGeom>
            <a:avLst/>
            <a:gdLst/>
            <a:ahLst/>
            <a:cxnLst/>
            <a:rect r="r" b="b" t="t" l="l"/>
            <a:pathLst>
              <a:path h="219075" w="666750">
                <a:moveTo>
                  <a:pt x="0" y="0"/>
                </a:moveTo>
                <a:lnTo>
                  <a:pt x="666750" y="0"/>
                </a:lnTo>
                <a:lnTo>
                  <a:pt x="666750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676656" y="5321915"/>
            <a:ext cx="4828032" cy="2318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2"/>
              </a:lnSpc>
            </a:pPr>
            <a:r>
              <a:rPr lang="en-US" b="true" sz="1373" spc="206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CUSTOM METAL FABRICATION PROJECT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428625" y="6429375"/>
            <a:ext cx="2409825" cy="2790825"/>
          </a:xfrm>
          <a:custGeom>
            <a:avLst/>
            <a:gdLst/>
            <a:ahLst/>
            <a:cxnLst/>
            <a:rect r="r" b="b" t="t" l="l"/>
            <a:pathLst>
              <a:path h="2790825" w="2409825">
                <a:moveTo>
                  <a:pt x="0" y="0"/>
                </a:moveTo>
                <a:lnTo>
                  <a:pt x="2409825" y="0"/>
                </a:lnTo>
                <a:lnTo>
                  <a:pt x="2409825" y="2790825"/>
                </a:lnTo>
                <a:lnTo>
                  <a:pt x="0" y="279082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3048000" y="6429375"/>
            <a:ext cx="5667375" cy="2790825"/>
          </a:xfrm>
          <a:custGeom>
            <a:avLst/>
            <a:gdLst/>
            <a:ahLst/>
            <a:cxnLst/>
            <a:rect r="r" b="b" t="t" l="l"/>
            <a:pathLst>
              <a:path h="2790825" w="5667375">
                <a:moveTo>
                  <a:pt x="0" y="0"/>
                </a:moveTo>
                <a:lnTo>
                  <a:pt x="5667375" y="0"/>
                </a:lnTo>
                <a:lnTo>
                  <a:pt x="5667375" y="2790825"/>
                </a:lnTo>
                <a:lnTo>
                  <a:pt x="0" y="279082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8705850" y="6429375"/>
            <a:ext cx="2400300" cy="2790825"/>
          </a:xfrm>
          <a:custGeom>
            <a:avLst/>
            <a:gdLst/>
            <a:ahLst/>
            <a:cxnLst/>
            <a:rect r="r" b="b" t="t" l="l"/>
            <a:pathLst>
              <a:path h="2790825" w="2400300">
                <a:moveTo>
                  <a:pt x="0" y="0"/>
                </a:moveTo>
                <a:lnTo>
                  <a:pt x="2400300" y="0"/>
                </a:lnTo>
                <a:lnTo>
                  <a:pt x="2400300" y="2790825"/>
                </a:lnTo>
                <a:lnTo>
                  <a:pt x="0" y="279082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647700" y="9210675"/>
            <a:ext cx="10458450" cy="219075"/>
          </a:xfrm>
          <a:custGeom>
            <a:avLst/>
            <a:gdLst/>
            <a:ahLst/>
            <a:cxnLst/>
            <a:rect r="r" b="b" t="t" l="l"/>
            <a:pathLst>
              <a:path h="219075" w="10458450">
                <a:moveTo>
                  <a:pt x="0" y="0"/>
                </a:moveTo>
                <a:lnTo>
                  <a:pt x="10458450" y="0"/>
                </a:lnTo>
                <a:lnTo>
                  <a:pt x="10458450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676656" y="9591020"/>
            <a:ext cx="4443984" cy="2318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2"/>
              </a:lnSpc>
            </a:pPr>
            <a:r>
              <a:rPr lang="en-US" sz="1373" spc="206">
                <a:solidFill>
                  <a:srgbClr val="FFFFFF">
                    <a:alpha val="49804"/>
                  </a:srgbClr>
                </a:solidFill>
                <a:latin typeface="Montserrat"/>
                <a:ea typeface="Montserrat"/>
                <a:cs typeface="Montserrat"/>
                <a:sym typeface="Montserrat"/>
              </a:rPr>
              <a:t>VETERAN OWNED • AMERICAN MADE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3295376" y="2159809"/>
            <a:ext cx="2450592" cy="3228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79"/>
              </a:lnSpc>
            </a:pPr>
            <a:r>
              <a:rPr lang="en-US" sz="1913" spc="9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Logistics / Mobile Ops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3295376" y="3205169"/>
            <a:ext cx="2450592" cy="3306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72"/>
              </a:lnSpc>
            </a:pPr>
            <a:r>
              <a:rPr lang="en-US" sz="1980" spc="99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Structural Conversion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3295376" y="3830300"/>
            <a:ext cx="1133856" cy="2318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2"/>
              </a:lnSpc>
            </a:pPr>
            <a:r>
              <a:rPr lang="en-US" b="true" sz="1373" spc="206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DELIVERY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4666976" y="9425086"/>
            <a:ext cx="2944368" cy="3491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803"/>
              </a:lnSpc>
            </a:pPr>
            <a:r>
              <a:rPr lang="en-US" sz="2002" spc="100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BUILT STRONG. BUILT RIGHT.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76656" y="5681960"/>
            <a:ext cx="4553712" cy="2318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2"/>
              </a:lnSpc>
            </a:pPr>
            <a:r>
              <a:rPr lang="en-US" sz="1373" spc="68">
                <a:solidFill>
                  <a:srgbClr val="FFFFFF">
                    <a:alpha val="49804"/>
                  </a:srgbClr>
                </a:solidFill>
                <a:latin typeface="Montserrat"/>
                <a:ea typeface="Montserrat"/>
                <a:cs typeface="Montserrat"/>
                <a:sym typeface="Montserrat"/>
              </a:rPr>
              <a:t>Fayetteville, North Carolina • Delivered 2026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3295376" y="1772900"/>
            <a:ext cx="1792224" cy="2318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2"/>
              </a:lnSpc>
            </a:pPr>
            <a:r>
              <a:rPr lang="en-US" b="true" sz="1373" spc="206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CLIENT SECTOR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3295376" y="2839587"/>
            <a:ext cx="694944" cy="2065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42"/>
              </a:lnSpc>
            </a:pPr>
            <a:r>
              <a:rPr lang="en-US" b="true" sz="1244" spc="186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SCOPE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3295376" y="4199290"/>
            <a:ext cx="1115568" cy="3491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3"/>
              </a:lnSpc>
            </a:pPr>
            <a:r>
              <a:rPr lang="en-US" sz="2002" spc="100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Q2 - 2026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5596128" y="1111663"/>
            <a:ext cx="896112" cy="4181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62"/>
              </a:lnSpc>
            </a:pPr>
            <a:r>
              <a:rPr lang="en-US" sz="2962" spc="148">
                <a:solidFill>
                  <a:srgbClr val="C80000"/>
                </a:solidFill>
                <a:latin typeface="Magz"/>
                <a:ea typeface="Magz"/>
                <a:cs typeface="Magz"/>
                <a:sym typeface="Magz"/>
              </a:rPr>
              <a:t>INC.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9639300"/>
            <a:ext cx="18288000" cy="219075"/>
          </a:xfrm>
          <a:custGeom>
            <a:avLst/>
            <a:gdLst/>
            <a:ahLst/>
            <a:cxnLst/>
            <a:rect r="r" b="b" t="t" l="l"/>
            <a:pathLst>
              <a:path h="219075" w="18288000">
                <a:moveTo>
                  <a:pt x="0" y="0"/>
                </a:moveTo>
                <a:lnTo>
                  <a:pt x="18288000" y="0"/>
                </a:lnTo>
                <a:lnTo>
                  <a:pt x="18288000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1972925" y="0"/>
            <a:ext cx="438150" cy="10287000"/>
          </a:xfrm>
          <a:custGeom>
            <a:avLst/>
            <a:gdLst/>
            <a:ahLst/>
            <a:cxnLst/>
            <a:rect r="r" b="b" t="t" l="l"/>
            <a:pathLst>
              <a:path h="10287000" w="438150">
                <a:moveTo>
                  <a:pt x="0" y="0"/>
                </a:moveTo>
                <a:lnTo>
                  <a:pt x="438150" y="0"/>
                </a:lnTo>
                <a:lnTo>
                  <a:pt x="43815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647700" y="428625"/>
            <a:ext cx="447675" cy="428625"/>
          </a:xfrm>
          <a:custGeom>
            <a:avLst/>
            <a:gdLst/>
            <a:ahLst/>
            <a:cxnLst/>
            <a:rect r="r" b="b" t="t" l="l"/>
            <a:pathLst>
              <a:path h="428625" w="447675">
                <a:moveTo>
                  <a:pt x="0" y="0"/>
                </a:moveTo>
                <a:lnTo>
                  <a:pt x="447675" y="0"/>
                </a:lnTo>
                <a:lnTo>
                  <a:pt x="447675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2390775" y="428625"/>
            <a:ext cx="447675" cy="428625"/>
          </a:xfrm>
          <a:custGeom>
            <a:avLst/>
            <a:gdLst/>
            <a:ahLst/>
            <a:cxnLst/>
            <a:rect r="r" b="b" t="t" l="l"/>
            <a:pathLst>
              <a:path h="428625" w="447675">
                <a:moveTo>
                  <a:pt x="0" y="0"/>
                </a:moveTo>
                <a:lnTo>
                  <a:pt x="447675" y="0"/>
                </a:lnTo>
                <a:lnTo>
                  <a:pt x="447675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2980944" y="508183"/>
            <a:ext cx="2487168" cy="2836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18"/>
              </a:lnSpc>
            </a:pPr>
            <a:r>
              <a:rPr lang="en-US" b="true" sz="1584" spc="158">
                <a:solidFill>
                  <a:srgbClr val="FF0000"/>
                </a:solidFill>
                <a:latin typeface="Roboto Bold"/>
                <a:ea typeface="Roboto Bold"/>
                <a:cs typeface="Roboto Bold"/>
                <a:sym typeface="Roboto Bold"/>
              </a:rPr>
              <a:t>EXECUTIVE SUMMARY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786384" y="1090081"/>
            <a:ext cx="9253728" cy="14568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35"/>
              </a:lnSpc>
            </a:pPr>
            <a:r>
              <a:rPr lang="en-US" sz="5213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A shipping container, reengineered from the frame out.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647700" y="2781300"/>
            <a:ext cx="2190750" cy="219075"/>
          </a:xfrm>
          <a:custGeom>
            <a:avLst/>
            <a:gdLst/>
            <a:ahLst/>
            <a:cxnLst/>
            <a:rect r="r" b="b" t="t" l="l"/>
            <a:pathLst>
              <a:path h="219075" w="2190750">
                <a:moveTo>
                  <a:pt x="0" y="0"/>
                </a:moveTo>
                <a:lnTo>
                  <a:pt x="2190750" y="0"/>
                </a:lnTo>
                <a:lnTo>
                  <a:pt x="2190750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786384" y="3232261"/>
            <a:ext cx="987552" cy="2205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73"/>
              </a:lnSpc>
            </a:pPr>
            <a:r>
              <a:rPr lang="en-US" sz="1612" spc="161">
                <a:solidFill>
                  <a:srgbClr val="FF0000"/>
                </a:solidFill>
                <a:latin typeface="Anton"/>
                <a:ea typeface="Anton"/>
                <a:cs typeface="Anton"/>
                <a:sym typeface="Anton"/>
              </a:rPr>
              <a:t>OBJECTIVE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786384" y="3574619"/>
            <a:ext cx="4590288" cy="6814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14"/>
              </a:lnSpc>
            </a:pPr>
            <a:r>
              <a:rPr lang="en-US" sz="1296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Convert a standard SSU Connex container into a mission-ready structural enclosure with reinforced floor walls, and overhead framing.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86384" y="4744260"/>
            <a:ext cx="1847088" cy="2414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38"/>
              </a:lnSpc>
            </a:pPr>
            <a:r>
              <a:rPr lang="en-US" sz="1762" spc="176">
                <a:solidFill>
                  <a:srgbClr val="FF0000"/>
                </a:solidFill>
                <a:latin typeface="Anton"/>
                <a:ea typeface="Anton"/>
                <a:cs typeface="Anton"/>
                <a:sym typeface="Anton"/>
              </a:rPr>
              <a:t>CUSTOMER NEED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86384" y="5029444"/>
            <a:ext cx="4133088" cy="7455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58"/>
              </a:lnSpc>
            </a:pPr>
            <a:r>
              <a:rPr lang="en-US" sz="1399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A durable, transportable steel structure engineered for repeat deployment and heavy interior loading • beyond factory tolerances.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866775" y="6000750"/>
            <a:ext cx="228600" cy="3219450"/>
          </a:xfrm>
          <a:custGeom>
            <a:avLst/>
            <a:gdLst/>
            <a:ahLst/>
            <a:cxnLst/>
            <a:rect r="r" b="b" t="t" l="l"/>
            <a:pathLst>
              <a:path h="3219450" w="228600">
                <a:moveTo>
                  <a:pt x="0" y="0"/>
                </a:moveTo>
                <a:lnTo>
                  <a:pt x="228600" y="0"/>
                </a:lnTo>
                <a:lnTo>
                  <a:pt x="228600" y="3219450"/>
                </a:lnTo>
                <a:lnTo>
                  <a:pt x="0" y="321945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866775" y="9001125"/>
            <a:ext cx="1095375" cy="219075"/>
          </a:xfrm>
          <a:custGeom>
            <a:avLst/>
            <a:gdLst/>
            <a:ahLst/>
            <a:cxnLst/>
            <a:rect r="r" b="b" t="t" l="l"/>
            <a:pathLst>
              <a:path h="219075" w="1095375">
                <a:moveTo>
                  <a:pt x="0" y="0"/>
                </a:moveTo>
                <a:lnTo>
                  <a:pt x="1095375" y="0"/>
                </a:lnTo>
                <a:lnTo>
                  <a:pt x="1095375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733550" y="5781675"/>
            <a:ext cx="9153525" cy="3648075"/>
          </a:xfrm>
          <a:custGeom>
            <a:avLst/>
            <a:gdLst/>
            <a:ahLst/>
            <a:cxnLst/>
            <a:rect r="r" b="b" t="t" l="l"/>
            <a:pathLst>
              <a:path h="3648075" w="9153525">
                <a:moveTo>
                  <a:pt x="0" y="0"/>
                </a:moveTo>
                <a:lnTo>
                  <a:pt x="9153525" y="0"/>
                </a:lnTo>
                <a:lnTo>
                  <a:pt x="9153525" y="3648075"/>
                </a:lnTo>
                <a:lnTo>
                  <a:pt x="0" y="364807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4352925" y="9210675"/>
            <a:ext cx="2400300" cy="219075"/>
          </a:xfrm>
          <a:custGeom>
            <a:avLst/>
            <a:gdLst/>
            <a:ahLst/>
            <a:cxnLst/>
            <a:rect r="r" b="b" t="t" l="l"/>
            <a:pathLst>
              <a:path h="219075" w="2400300">
                <a:moveTo>
                  <a:pt x="0" y="0"/>
                </a:moveTo>
                <a:lnTo>
                  <a:pt x="2400300" y="0"/>
                </a:lnTo>
                <a:lnTo>
                  <a:pt x="2400300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6784848" y="9197507"/>
            <a:ext cx="694944" cy="2583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34"/>
              </a:lnSpc>
            </a:pPr>
            <a:r>
              <a:rPr lang="en-US" b="true" sz="1453" spc="145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12.192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7400925" y="9210675"/>
            <a:ext cx="3486150" cy="219075"/>
          </a:xfrm>
          <a:custGeom>
            <a:avLst/>
            <a:gdLst/>
            <a:ahLst/>
            <a:cxnLst/>
            <a:rect r="r" b="b" t="t" l="l"/>
            <a:pathLst>
              <a:path h="219075" w="3486150">
                <a:moveTo>
                  <a:pt x="0" y="0"/>
                </a:moveTo>
                <a:lnTo>
                  <a:pt x="3486150" y="0"/>
                </a:lnTo>
                <a:lnTo>
                  <a:pt x="3486150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786384" y="9838373"/>
            <a:ext cx="1755648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b="true" sz="1125" spc="225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METAL WROX, INC.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6565392" y="9829324"/>
            <a:ext cx="1883664" cy="2085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7"/>
              </a:lnSpc>
            </a:pPr>
            <a:r>
              <a:rPr lang="en-US" b="true" sz="1162" spc="232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EXECUTIVE SUMARY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2691872" y="1349550"/>
            <a:ext cx="1810512" cy="2414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38"/>
              </a:lnSpc>
            </a:pPr>
            <a:r>
              <a:rPr lang="en-US" sz="1762" spc="282">
                <a:solidFill>
                  <a:srgbClr val="FF0000"/>
                </a:solidFill>
                <a:latin typeface="Anton"/>
                <a:ea typeface="Anton"/>
                <a:cs typeface="Anton"/>
                <a:sym typeface="Anton"/>
              </a:rPr>
              <a:t>PROJECT FACTS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2691872" y="2223945"/>
            <a:ext cx="1792224" cy="2414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38"/>
              </a:lnSpc>
            </a:pPr>
            <a:r>
              <a:rPr lang="en-US" sz="1762" spc="70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20-ft SSU Connex</a:t>
            </a:r>
          </a:p>
        </p:txBody>
      </p:sp>
      <p:sp>
        <p:nvSpPr>
          <p:cNvPr name="Freeform 24" id="24"/>
          <p:cNvSpPr/>
          <p:nvPr/>
        </p:nvSpPr>
        <p:spPr>
          <a:xfrm flipH="false" flipV="false" rot="0">
            <a:off x="12620625" y="2571750"/>
            <a:ext cx="5238750" cy="219075"/>
          </a:xfrm>
          <a:custGeom>
            <a:avLst/>
            <a:gdLst/>
            <a:ahLst/>
            <a:cxnLst/>
            <a:rect r="r" b="b" t="t" l="l"/>
            <a:pathLst>
              <a:path h="219075" w="5238750">
                <a:moveTo>
                  <a:pt x="0" y="0"/>
                </a:moveTo>
                <a:lnTo>
                  <a:pt x="5238750" y="0"/>
                </a:lnTo>
                <a:lnTo>
                  <a:pt x="5238750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TextBox 25" id="25"/>
          <p:cNvSpPr txBox="true"/>
          <p:nvPr/>
        </p:nvSpPr>
        <p:spPr>
          <a:xfrm rot="0">
            <a:off x="12691872" y="2796037"/>
            <a:ext cx="585216" cy="198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399" spc="223">
                <a:solidFill>
                  <a:srgbClr val="FF0000"/>
                </a:solidFill>
                <a:latin typeface="Anton"/>
                <a:ea typeface="Anton"/>
                <a:cs typeface="Anton"/>
                <a:sym typeface="Anton"/>
              </a:rPr>
              <a:t>SCOPE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2691872" y="3160062"/>
            <a:ext cx="3054096" cy="2414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38"/>
              </a:lnSpc>
            </a:pPr>
            <a:r>
              <a:rPr lang="en-US" sz="1762" spc="70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Floor • Walls • Overhead • Liner</a:t>
            </a:r>
          </a:p>
        </p:txBody>
      </p:sp>
      <p:sp>
        <p:nvSpPr>
          <p:cNvPr name="Freeform 27" id="27"/>
          <p:cNvSpPr/>
          <p:nvPr/>
        </p:nvSpPr>
        <p:spPr>
          <a:xfrm flipH="false" flipV="false" rot="0">
            <a:off x="12620625" y="3429000"/>
            <a:ext cx="5238750" cy="219075"/>
          </a:xfrm>
          <a:custGeom>
            <a:avLst/>
            <a:gdLst/>
            <a:ahLst/>
            <a:cxnLst/>
            <a:rect r="r" b="b" t="t" l="l"/>
            <a:pathLst>
              <a:path h="219075" w="5238750">
                <a:moveTo>
                  <a:pt x="0" y="0"/>
                </a:moveTo>
                <a:lnTo>
                  <a:pt x="5238750" y="0"/>
                </a:lnTo>
                <a:lnTo>
                  <a:pt x="5238750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TextBox 28" id="28"/>
          <p:cNvSpPr txBox="true"/>
          <p:nvPr/>
        </p:nvSpPr>
        <p:spPr>
          <a:xfrm rot="0">
            <a:off x="12691872" y="4096179"/>
            <a:ext cx="1993392" cy="2414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38"/>
              </a:lnSpc>
            </a:pPr>
            <a:r>
              <a:rPr lang="en-US" sz="1762" spc="70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A36 structural steel</a:t>
            </a:r>
          </a:p>
        </p:txBody>
      </p:sp>
      <p:sp>
        <p:nvSpPr>
          <p:cNvPr name="Freeform 29" id="29"/>
          <p:cNvSpPr/>
          <p:nvPr/>
        </p:nvSpPr>
        <p:spPr>
          <a:xfrm flipH="false" flipV="false" rot="0">
            <a:off x="12620625" y="4286250"/>
            <a:ext cx="5238750" cy="428625"/>
          </a:xfrm>
          <a:custGeom>
            <a:avLst/>
            <a:gdLst/>
            <a:ahLst/>
            <a:cxnLst/>
            <a:rect r="r" b="b" t="t" l="l"/>
            <a:pathLst>
              <a:path h="428625" w="5238750">
                <a:moveTo>
                  <a:pt x="0" y="0"/>
                </a:moveTo>
                <a:lnTo>
                  <a:pt x="5238750" y="0"/>
                </a:lnTo>
                <a:lnTo>
                  <a:pt x="52387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TextBox 30" id="30"/>
          <p:cNvSpPr txBox="true"/>
          <p:nvPr/>
        </p:nvSpPr>
        <p:spPr>
          <a:xfrm rot="0">
            <a:off x="12691872" y="5042821"/>
            <a:ext cx="2176272" cy="2409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7"/>
              </a:lnSpc>
            </a:pPr>
            <a:r>
              <a:rPr lang="en-US" sz="1725" spc="69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Logistics / Mobile Ops</a:t>
            </a:r>
          </a:p>
        </p:txBody>
      </p:sp>
      <p:sp>
        <p:nvSpPr>
          <p:cNvPr name="Freeform 31" id="31"/>
          <p:cNvSpPr/>
          <p:nvPr/>
        </p:nvSpPr>
        <p:spPr>
          <a:xfrm flipH="false" flipV="false" rot="0">
            <a:off x="12620625" y="5353050"/>
            <a:ext cx="5238750" cy="219075"/>
          </a:xfrm>
          <a:custGeom>
            <a:avLst/>
            <a:gdLst/>
            <a:ahLst/>
            <a:cxnLst/>
            <a:rect r="r" b="b" t="t" l="l"/>
            <a:pathLst>
              <a:path h="219075" w="5238750">
                <a:moveTo>
                  <a:pt x="0" y="0"/>
                </a:moveTo>
                <a:lnTo>
                  <a:pt x="5238750" y="0"/>
                </a:lnTo>
                <a:lnTo>
                  <a:pt x="5238750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</p:sp>
      <p:sp>
        <p:nvSpPr>
          <p:cNvPr name="TextBox 32" id="32"/>
          <p:cNvSpPr txBox="true"/>
          <p:nvPr/>
        </p:nvSpPr>
        <p:spPr>
          <a:xfrm rot="0">
            <a:off x="12691872" y="6235875"/>
            <a:ext cx="2322576" cy="2414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38"/>
              </a:lnSpc>
            </a:pPr>
            <a:r>
              <a:rPr lang="en-US" sz="1762" spc="282">
                <a:solidFill>
                  <a:srgbClr val="FF0000"/>
                </a:solidFill>
                <a:latin typeface="Anton"/>
                <a:ea typeface="Anton"/>
                <a:cs typeface="Anton"/>
                <a:sym typeface="Anton"/>
              </a:rPr>
              <a:t>MAJOR MILESTONES</a:t>
            </a:r>
          </a:p>
        </p:txBody>
      </p:sp>
      <p:sp>
        <p:nvSpPr>
          <p:cNvPr name="Freeform 33" id="33"/>
          <p:cNvSpPr/>
          <p:nvPr/>
        </p:nvSpPr>
        <p:spPr>
          <a:xfrm flipH="false" flipV="false" rot="0">
            <a:off x="12620625" y="6638925"/>
            <a:ext cx="447675" cy="438150"/>
          </a:xfrm>
          <a:custGeom>
            <a:avLst/>
            <a:gdLst/>
            <a:ahLst/>
            <a:cxnLst/>
            <a:rect r="r" b="b" t="t" l="l"/>
            <a:pathLst>
              <a:path h="438150" w="447675">
                <a:moveTo>
                  <a:pt x="0" y="0"/>
                </a:moveTo>
                <a:lnTo>
                  <a:pt x="447675" y="0"/>
                </a:lnTo>
                <a:lnTo>
                  <a:pt x="447675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0" t="0" r="0" b="0"/>
            </a:stretch>
          </a:blipFill>
        </p:spPr>
      </p:sp>
      <p:sp>
        <p:nvSpPr>
          <p:cNvPr name="Freeform 34" id="34"/>
          <p:cNvSpPr/>
          <p:nvPr/>
        </p:nvSpPr>
        <p:spPr>
          <a:xfrm flipH="false" flipV="false" rot="0">
            <a:off x="12839700" y="6638925"/>
            <a:ext cx="1314450" cy="438150"/>
          </a:xfrm>
          <a:custGeom>
            <a:avLst/>
            <a:gdLst/>
            <a:ahLst/>
            <a:cxnLst/>
            <a:rect r="r" b="b" t="t" l="l"/>
            <a:pathLst>
              <a:path h="438150" w="1314450">
                <a:moveTo>
                  <a:pt x="0" y="0"/>
                </a:moveTo>
                <a:lnTo>
                  <a:pt x="1314450" y="0"/>
                </a:lnTo>
                <a:lnTo>
                  <a:pt x="1314450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0" t="0" r="0" b="0"/>
            </a:stretch>
          </a:blipFill>
        </p:spPr>
      </p:sp>
      <p:sp>
        <p:nvSpPr>
          <p:cNvPr name="Freeform 35" id="35"/>
          <p:cNvSpPr/>
          <p:nvPr/>
        </p:nvSpPr>
        <p:spPr>
          <a:xfrm flipH="false" flipV="false" rot="0">
            <a:off x="13925550" y="6638925"/>
            <a:ext cx="1314450" cy="438150"/>
          </a:xfrm>
          <a:custGeom>
            <a:avLst/>
            <a:gdLst/>
            <a:ahLst/>
            <a:cxnLst/>
            <a:rect r="r" b="b" t="t" l="l"/>
            <a:pathLst>
              <a:path h="438150" w="1314450">
                <a:moveTo>
                  <a:pt x="0" y="0"/>
                </a:moveTo>
                <a:lnTo>
                  <a:pt x="1314450" y="0"/>
                </a:lnTo>
                <a:lnTo>
                  <a:pt x="1314450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 l="0" t="0" r="0" b="0"/>
            </a:stretch>
          </a:blipFill>
        </p:spPr>
      </p:sp>
      <p:sp>
        <p:nvSpPr>
          <p:cNvPr name="Freeform 36" id="36"/>
          <p:cNvSpPr/>
          <p:nvPr/>
        </p:nvSpPr>
        <p:spPr>
          <a:xfrm flipH="false" flipV="false" rot="0">
            <a:off x="15020925" y="6638925"/>
            <a:ext cx="1314450" cy="438150"/>
          </a:xfrm>
          <a:custGeom>
            <a:avLst/>
            <a:gdLst/>
            <a:ahLst/>
            <a:cxnLst/>
            <a:rect r="r" b="b" t="t" l="l"/>
            <a:pathLst>
              <a:path h="438150" w="1314450">
                <a:moveTo>
                  <a:pt x="0" y="0"/>
                </a:moveTo>
                <a:lnTo>
                  <a:pt x="1314450" y="0"/>
                </a:lnTo>
                <a:lnTo>
                  <a:pt x="1314450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 l="0" t="0" r="0" b="0"/>
            </a:stretch>
          </a:blipFill>
        </p:spPr>
      </p:sp>
      <p:sp>
        <p:nvSpPr>
          <p:cNvPr name="Freeform 37" id="37"/>
          <p:cNvSpPr/>
          <p:nvPr/>
        </p:nvSpPr>
        <p:spPr>
          <a:xfrm flipH="false" flipV="false" rot="0">
            <a:off x="16106775" y="6638925"/>
            <a:ext cx="1314450" cy="438150"/>
          </a:xfrm>
          <a:custGeom>
            <a:avLst/>
            <a:gdLst/>
            <a:ahLst/>
            <a:cxnLst/>
            <a:rect r="r" b="b" t="t" l="l"/>
            <a:pathLst>
              <a:path h="438150" w="1314450">
                <a:moveTo>
                  <a:pt x="0" y="0"/>
                </a:moveTo>
                <a:lnTo>
                  <a:pt x="1314450" y="0"/>
                </a:lnTo>
                <a:lnTo>
                  <a:pt x="1314450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 l="0" t="0" r="0" b="0"/>
            </a:stretch>
          </a:blipFill>
        </p:spPr>
      </p:sp>
      <p:sp>
        <p:nvSpPr>
          <p:cNvPr name="Freeform 38" id="38"/>
          <p:cNvSpPr/>
          <p:nvPr/>
        </p:nvSpPr>
        <p:spPr>
          <a:xfrm flipH="false" flipV="false" rot="0">
            <a:off x="17192625" y="6638925"/>
            <a:ext cx="228600" cy="438150"/>
          </a:xfrm>
          <a:custGeom>
            <a:avLst/>
            <a:gdLst/>
            <a:ahLst/>
            <a:cxnLst/>
            <a:rect r="r" b="b" t="t" l="l"/>
            <a:pathLst>
              <a:path h="438150" w="228600">
                <a:moveTo>
                  <a:pt x="0" y="0"/>
                </a:moveTo>
                <a:lnTo>
                  <a:pt x="228600" y="0"/>
                </a:lnTo>
                <a:lnTo>
                  <a:pt x="228600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>
              <a:fillRect l="0" t="0" r="0" b="0"/>
            </a:stretch>
          </a:blipFill>
        </p:spPr>
      </p:sp>
      <p:sp>
        <p:nvSpPr>
          <p:cNvPr name="Freeform 39" id="39"/>
          <p:cNvSpPr/>
          <p:nvPr/>
        </p:nvSpPr>
        <p:spPr>
          <a:xfrm flipH="false" flipV="false" rot="0">
            <a:off x="14801850" y="6638925"/>
            <a:ext cx="438150" cy="438150"/>
          </a:xfrm>
          <a:custGeom>
            <a:avLst/>
            <a:gdLst/>
            <a:ahLst/>
            <a:cxnLst/>
            <a:rect r="r" b="b" t="t" l="l"/>
            <a:pathLst>
              <a:path h="438150" w="438150">
                <a:moveTo>
                  <a:pt x="0" y="0"/>
                </a:moveTo>
                <a:lnTo>
                  <a:pt x="438150" y="0"/>
                </a:lnTo>
                <a:lnTo>
                  <a:pt x="438150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 l="0" t="0" r="0" b="0"/>
            </a:stretch>
          </a:blipFill>
        </p:spPr>
      </p:sp>
      <p:sp>
        <p:nvSpPr>
          <p:cNvPr name="Freeform 40" id="40"/>
          <p:cNvSpPr/>
          <p:nvPr/>
        </p:nvSpPr>
        <p:spPr>
          <a:xfrm flipH="false" flipV="false" rot="0">
            <a:off x="13716000" y="6638925"/>
            <a:ext cx="438150" cy="438150"/>
          </a:xfrm>
          <a:custGeom>
            <a:avLst/>
            <a:gdLst/>
            <a:ahLst/>
            <a:cxnLst/>
            <a:rect r="r" b="b" t="t" l="l"/>
            <a:pathLst>
              <a:path h="438150" w="438150">
                <a:moveTo>
                  <a:pt x="0" y="0"/>
                </a:moveTo>
                <a:lnTo>
                  <a:pt x="438150" y="0"/>
                </a:lnTo>
                <a:lnTo>
                  <a:pt x="438150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>
              <a:fillRect l="0" t="0" r="0" b="0"/>
            </a:stretch>
          </a:blipFill>
        </p:spPr>
      </p:sp>
      <p:sp>
        <p:nvSpPr>
          <p:cNvPr name="TextBox 41" id="41"/>
          <p:cNvSpPr txBox="true"/>
          <p:nvPr/>
        </p:nvSpPr>
        <p:spPr>
          <a:xfrm rot="0">
            <a:off x="16806672" y="9829324"/>
            <a:ext cx="749808" cy="2085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27"/>
              </a:lnSpc>
            </a:pPr>
            <a:r>
              <a:rPr lang="en-US" b="true" sz="1162" spc="232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02 / 18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2691872" y="1859920"/>
            <a:ext cx="987552" cy="198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399" spc="223">
                <a:solidFill>
                  <a:srgbClr val="FF0000"/>
                </a:solidFill>
                <a:latin typeface="Anton"/>
                <a:ea typeface="Anton"/>
                <a:cs typeface="Anton"/>
                <a:sym typeface="Anton"/>
              </a:rPr>
              <a:t>CONTAINER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2691872" y="3732154"/>
            <a:ext cx="877824" cy="198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399" spc="223">
                <a:solidFill>
                  <a:srgbClr val="FF0000"/>
                </a:solidFill>
                <a:latin typeface="Anton"/>
                <a:ea typeface="Anton"/>
                <a:cs typeface="Anton"/>
                <a:sym typeface="Anton"/>
              </a:rPr>
              <a:t>MATERIAL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2691872" y="4678558"/>
            <a:ext cx="1353312" cy="198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399" spc="223">
                <a:solidFill>
                  <a:srgbClr val="FF0000"/>
                </a:solidFill>
                <a:latin typeface="Anton"/>
                <a:ea typeface="Anton"/>
                <a:cs typeface="Anton"/>
                <a:sym typeface="Anton"/>
              </a:rPr>
              <a:t>CLIENT SECTOR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2563856" y="7024756"/>
            <a:ext cx="512064" cy="208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39"/>
              </a:lnSpc>
            </a:pPr>
            <a:r>
              <a:rPr lang="en-US" sz="1399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Arrival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13587984" y="7039698"/>
            <a:ext cx="694944" cy="1879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25"/>
              </a:lnSpc>
            </a:pPr>
            <a:r>
              <a:rPr lang="en-US" sz="1296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Fabricate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14776704" y="7024756"/>
            <a:ext cx="621792" cy="208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39"/>
              </a:lnSpc>
            </a:pPr>
            <a:r>
              <a:rPr lang="en-US" sz="1399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Test Fit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16038576" y="7040189"/>
            <a:ext cx="420624" cy="1774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40"/>
              </a:lnSpc>
            </a:pPr>
            <a:r>
              <a:rPr lang="en-US" sz="1218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Install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17062704" y="7024756"/>
            <a:ext cx="566928" cy="208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39"/>
              </a:lnSpc>
            </a:pPr>
            <a:r>
              <a:rPr lang="en-US" sz="1399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Deliver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987552" y="521637"/>
            <a:ext cx="1280160" cy="2662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26"/>
              </a:lnSpc>
            </a:pPr>
            <a:r>
              <a:rPr lang="en-US" b="true" sz="1518" spc="151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SECTION 01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6217920" y="3232261"/>
            <a:ext cx="2139696" cy="2205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73"/>
              </a:lnSpc>
            </a:pPr>
            <a:r>
              <a:rPr lang="en-US" sz="1612" spc="161">
                <a:solidFill>
                  <a:srgbClr val="FF0000"/>
                </a:solidFill>
                <a:latin typeface="Anton"/>
                <a:ea typeface="Anton"/>
                <a:cs typeface="Anton"/>
                <a:sym typeface="Anton"/>
              </a:rPr>
              <a:t>METAL WROX SOLUTION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6217920" y="3537829"/>
            <a:ext cx="4992624" cy="7455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58"/>
              </a:lnSpc>
            </a:pPr>
            <a:r>
              <a:rPr lang="en-US" sz="1399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In-house fabrication of a fully welded floor system, full-length wall supports, overhead reinforcement, and interior steel lining • assembled, test-fit, and installed by our veteran crew.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6217920" y="4991148"/>
            <a:ext cx="1737360" cy="2414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38"/>
              </a:lnSpc>
            </a:pPr>
            <a:r>
              <a:rPr lang="en-US" sz="1762" spc="176">
                <a:solidFill>
                  <a:srgbClr val="FF0000"/>
                </a:solidFill>
                <a:latin typeface="Anton"/>
                <a:ea typeface="Anton"/>
                <a:cs typeface="Anton"/>
                <a:sym typeface="Anton"/>
              </a:rPr>
              <a:t>PROJECT STATUS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6217920" y="5412653"/>
            <a:ext cx="4956048" cy="334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78"/>
              </a:lnSpc>
            </a:pPr>
            <a:r>
              <a:rPr lang="en-US" sz="2343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Delivered • On schedule • Client accepted</a:t>
            </a:r>
          </a:p>
        </p:txBody>
      </p:sp>
      <p:sp>
        <p:nvSpPr>
          <p:cNvPr name="TextBox 55" id="55"/>
          <p:cNvSpPr txBox="true"/>
          <p:nvPr/>
        </p:nvSpPr>
        <p:spPr>
          <a:xfrm rot="-5400000">
            <a:off x="703886" y="7540192"/>
            <a:ext cx="585216" cy="2575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80"/>
              </a:lnSpc>
            </a:pPr>
            <a:r>
              <a:rPr lang="en-US" b="true" sz="1485" spc="148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2,592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1096625" y="5353050"/>
            <a:ext cx="7191375" cy="4933950"/>
          </a:xfrm>
          <a:custGeom>
            <a:avLst/>
            <a:gdLst/>
            <a:ahLst/>
            <a:cxnLst/>
            <a:rect r="r" b="b" t="t" l="l"/>
            <a:pathLst>
              <a:path h="4933950" w="7191375">
                <a:moveTo>
                  <a:pt x="0" y="0"/>
                </a:moveTo>
                <a:lnTo>
                  <a:pt x="7191375" y="0"/>
                </a:lnTo>
                <a:lnTo>
                  <a:pt x="7191375" y="4933950"/>
                </a:lnTo>
                <a:lnTo>
                  <a:pt x="0" y="49339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209550" y="209550"/>
            <a:ext cx="11115675" cy="8362950"/>
          </a:xfrm>
          <a:custGeom>
            <a:avLst/>
            <a:gdLst/>
            <a:ahLst/>
            <a:cxnLst/>
            <a:rect r="r" b="b" t="t" l="l"/>
            <a:pathLst>
              <a:path h="8362950" w="11115675">
                <a:moveTo>
                  <a:pt x="0" y="0"/>
                </a:moveTo>
                <a:lnTo>
                  <a:pt x="11115675" y="0"/>
                </a:lnTo>
                <a:lnTo>
                  <a:pt x="11115675" y="8362950"/>
                </a:lnTo>
                <a:lnTo>
                  <a:pt x="0" y="83629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428625" y="428625"/>
            <a:ext cx="666750" cy="647700"/>
          </a:xfrm>
          <a:custGeom>
            <a:avLst/>
            <a:gdLst/>
            <a:ahLst/>
            <a:cxnLst/>
            <a:rect r="r" b="b" t="t" l="l"/>
            <a:pathLst>
              <a:path h="647700" w="666750">
                <a:moveTo>
                  <a:pt x="0" y="0"/>
                </a:moveTo>
                <a:lnTo>
                  <a:pt x="666750" y="0"/>
                </a:lnTo>
                <a:lnTo>
                  <a:pt x="6667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0448925" y="428625"/>
            <a:ext cx="657225" cy="647700"/>
          </a:xfrm>
          <a:custGeom>
            <a:avLst/>
            <a:gdLst/>
            <a:ahLst/>
            <a:cxnLst/>
            <a:rect r="r" b="b" t="t" l="l"/>
            <a:pathLst>
              <a:path h="647700" w="657225">
                <a:moveTo>
                  <a:pt x="0" y="0"/>
                </a:moveTo>
                <a:lnTo>
                  <a:pt x="657225" y="0"/>
                </a:lnTo>
                <a:lnTo>
                  <a:pt x="65722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647700" y="1714500"/>
            <a:ext cx="447675" cy="5143500"/>
          </a:xfrm>
          <a:custGeom>
            <a:avLst/>
            <a:gdLst/>
            <a:ahLst/>
            <a:cxnLst/>
            <a:rect r="r" b="b" t="t" l="l"/>
            <a:pathLst>
              <a:path h="5143500" w="447675">
                <a:moveTo>
                  <a:pt x="0" y="0"/>
                </a:moveTo>
                <a:lnTo>
                  <a:pt x="447675" y="0"/>
                </a:lnTo>
                <a:lnTo>
                  <a:pt x="447675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866775" y="6638925"/>
            <a:ext cx="10020300" cy="219075"/>
          </a:xfrm>
          <a:custGeom>
            <a:avLst/>
            <a:gdLst/>
            <a:ahLst/>
            <a:cxnLst/>
            <a:rect r="r" b="b" t="t" l="l"/>
            <a:pathLst>
              <a:path h="219075" w="10020300">
                <a:moveTo>
                  <a:pt x="0" y="0"/>
                </a:moveTo>
                <a:lnTo>
                  <a:pt x="10020300" y="0"/>
                </a:lnTo>
                <a:lnTo>
                  <a:pt x="10020300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524000" y="7286625"/>
            <a:ext cx="8934450" cy="647700"/>
          </a:xfrm>
          <a:custGeom>
            <a:avLst/>
            <a:gdLst/>
            <a:ahLst/>
            <a:cxnLst/>
            <a:rect r="r" b="b" t="t" l="l"/>
            <a:pathLst>
              <a:path h="647700" w="8934450">
                <a:moveTo>
                  <a:pt x="0" y="0"/>
                </a:moveTo>
                <a:lnTo>
                  <a:pt x="8934450" y="0"/>
                </a:lnTo>
                <a:lnTo>
                  <a:pt x="89344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1534775" y="1066800"/>
            <a:ext cx="228600" cy="866775"/>
          </a:xfrm>
          <a:custGeom>
            <a:avLst/>
            <a:gdLst/>
            <a:ahLst/>
            <a:cxnLst/>
            <a:rect r="r" b="b" t="t" l="l"/>
            <a:pathLst>
              <a:path h="866775" w="228600">
                <a:moveTo>
                  <a:pt x="0" y="0"/>
                </a:moveTo>
                <a:lnTo>
                  <a:pt x="228600" y="0"/>
                </a:lnTo>
                <a:lnTo>
                  <a:pt x="228600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1534775" y="2143125"/>
            <a:ext cx="6324600" cy="219075"/>
          </a:xfrm>
          <a:custGeom>
            <a:avLst/>
            <a:gdLst/>
            <a:ahLst/>
            <a:cxnLst/>
            <a:rect r="r" b="b" t="t" l="l"/>
            <a:pathLst>
              <a:path h="219075" w="6324600">
                <a:moveTo>
                  <a:pt x="0" y="0"/>
                </a:moveTo>
                <a:lnTo>
                  <a:pt x="6324600" y="0"/>
                </a:lnTo>
                <a:lnTo>
                  <a:pt x="6324600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428625" y="8572500"/>
            <a:ext cx="228600" cy="647700"/>
          </a:xfrm>
          <a:custGeom>
            <a:avLst/>
            <a:gdLst/>
            <a:ahLst/>
            <a:cxnLst/>
            <a:rect r="r" b="b" t="t" l="l"/>
            <a:pathLst>
              <a:path h="647700" w="228600">
                <a:moveTo>
                  <a:pt x="0" y="0"/>
                </a:moveTo>
                <a:lnTo>
                  <a:pt x="228600" y="0"/>
                </a:lnTo>
                <a:lnTo>
                  <a:pt x="2286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428625" y="9639300"/>
            <a:ext cx="17430750" cy="219075"/>
          </a:xfrm>
          <a:custGeom>
            <a:avLst/>
            <a:gdLst/>
            <a:ahLst/>
            <a:cxnLst/>
            <a:rect r="r" b="b" t="t" l="l"/>
            <a:pathLst>
              <a:path h="219075" w="17430750">
                <a:moveTo>
                  <a:pt x="0" y="0"/>
                </a:moveTo>
                <a:lnTo>
                  <a:pt x="17430750" y="0"/>
                </a:lnTo>
                <a:lnTo>
                  <a:pt x="17430750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11722608" y="832866"/>
            <a:ext cx="2688336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 spc="305">
                <a:solidFill>
                  <a:srgbClr val="FF3131"/>
                </a:solidFill>
                <a:latin typeface="Norwester"/>
                <a:ea typeface="Norwester"/>
                <a:cs typeface="Norwester"/>
                <a:sym typeface="Norwester"/>
              </a:rPr>
              <a:t>PHASE 01 - 10.14.2026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1722608" y="1304544"/>
            <a:ext cx="6089904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25"/>
              </a:lnSpc>
            </a:pPr>
            <a:r>
              <a:rPr lang="en-US" sz="2937">
                <a:solidFill>
                  <a:srgbClr val="FFFFFF"/>
                </a:solidFill>
                <a:latin typeface="Norwester"/>
                <a:ea typeface="Norwester"/>
                <a:cs typeface="Norwester"/>
                <a:sym typeface="Norwester"/>
              </a:rPr>
              <a:t>Connex Arrival and Initial Inspection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722608" y="2951214"/>
            <a:ext cx="5541264" cy="25675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39"/>
              </a:lnSpc>
            </a:pPr>
            <a:r>
              <a:rPr lang="en-US" sz="1359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The SSCU Connex arrived at our Lafayetteville shop in factory-standard configuration — corrugated steel skin, plywood decking, minimal internal framing. Our inspection documented weld seams, deck condition, and dimensional tolerances against the customer’s build package.</a:t>
            </a:r>
          </a:p>
          <a:p>
            <a:pPr algn="l">
              <a:lnSpc>
                <a:spcPts val="2039"/>
              </a:lnSpc>
            </a:pPr>
          </a:p>
          <a:p>
            <a:pPr algn="l">
              <a:lnSpc>
                <a:spcPts val="2039"/>
              </a:lnSpc>
            </a:pPr>
            <a:r>
              <a:rPr lang="en-US" sz="1359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Field notes flagged the standard floor as under-rated for the intended payload, and the sidewall ribs as insufficient anchor points. The transformation plan calls for a purpose-built structural system fabricated from A36 steel, welded in place and finished to marine-grade standards.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768096" y="8794623"/>
            <a:ext cx="877824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3"/>
              </a:lnSpc>
            </a:pPr>
            <a:r>
              <a:rPr lang="en-US" sz="1485" spc="274">
                <a:solidFill>
                  <a:srgbClr val="FFFFFF"/>
                </a:solidFill>
                <a:latin typeface="Norwester"/>
                <a:ea typeface="Norwester"/>
                <a:cs typeface="Norwester"/>
                <a:sym typeface="Norwester"/>
              </a:rPr>
              <a:t>CAPTION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2286000" y="8794623"/>
            <a:ext cx="6711696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43"/>
              </a:lnSpc>
            </a:pPr>
            <a:r>
              <a:rPr lang="en-US" sz="1453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Container as received — original condition documented in a full 360° walkaround.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530352" y="9813417"/>
            <a:ext cx="2157984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 spc="305">
                <a:solidFill>
                  <a:srgbClr val="FFFFFF"/>
                </a:solidFill>
                <a:latin typeface="Norwester"/>
                <a:ea typeface="Norwester"/>
                <a:cs typeface="Norwester"/>
                <a:sym typeface="Norwester"/>
              </a:rPr>
              <a:t>METAL WORX, INC.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7022592" y="9806368"/>
            <a:ext cx="2084832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91"/>
              </a:lnSpc>
            </a:pPr>
            <a:r>
              <a:rPr lang="en-US" sz="1326" spc="245">
                <a:solidFill>
                  <a:srgbClr val="FFFFFF"/>
                </a:solidFill>
                <a:latin typeface="Norwester"/>
                <a:ea typeface="Norwester"/>
                <a:cs typeface="Norwester"/>
                <a:sym typeface="Norwester"/>
              </a:rPr>
              <a:t>ORIGINAL CONDITION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6898112" y="9806368"/>
            <a:ext cx="768096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591"/>
              </a:lnSpc>
            </a:pPr>
            <a:r>
              <a:rPr lang="en-US" sz="1326" spc="245">
                <a:solidFill>
                  <a:srgbClr val="FFFFFF"/>
                </a:solidFill>
                <a:latin typeface="Norwester"/>
                <a:ea typeface="Norwester"/>
                <a:cs typeface="Norwester"/>
                <a:sym typeface="Norwester"/>
              </a:rPr>
              <a:t>03 / 18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0"/>
            <a:ext cx="18288000" cy="219075"/>
          </a:xfrm>
          <a:custGeom>
            <a:avLst/>
            <a:gdLst/>
            <a:ahLst/>
            <a:cxnLst/>
            <a:rect r="r" b="b" t="t" l="l"/>
            <a:pathLst>
              <a:path h="219075" w="18288000">
                <a:moveTo>
                  <a:pt x="0" y="0"/>
                </a:moveTo>
                <a:lnTo>
                  <a:pt x="18288000" y="0"/>
                </a:lnTo>
                <a:lnTo>
                  <a:pt x="18288000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768096" y="673322"/>
            <a:ext cx="4992624" cy="1323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87"/>
              </a:lnSpc>
            </a:pPr>
            <a:r>
              <a:rPr lang="en-US" b="true" sz="1087" spc="543">
                <a:solidFill>
                  <a:srgbClr val="B60000"/>
                </a:solidFill>
                <a:latin typeface="Garet Bold"/>
                <a:ea typeface="Garet Bold"/>
                <a:cs typeface="Garet Bold"/>
                <a:sym typeface="Garet Bold"/>
              </a:rPr>
              <a:t>SECTION 02  .  SCOPE &amp; OBJECTIVES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647700" y="638175"/>
            <a:ext cx="16992600" cy="219075"/>
          </a:xfrm>
          <a:custGeom>
            <a:avLst/>
            <a:gdLst/>
            <a:ahLst/>
            <a:cxnLst/>
            <a:rect r="r" b="b" t="t" l="l"/>
            <a:pathLst>
              <a:path h="219075" w="16992600">
                <a:moveTo>
                  <a:pt x="0" y="0"/>
                </a:moveTo>
                <a:lnTo>
                  <a:pt x="16992600" y="0"/>
                </a:lnTo>
                <a:lnTo>
                  <a:pt x="16992600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7411700" y="638175"/>
            <a:ext cx="228600" cy="438150"/>
          </a:xfrm>
          <a:custGeom>
            <a:avLst/>
            <a:gdLst/>
            <a:ahLst/>
            <a:cxnLst/>
            <a:rect r="r" b="b" t="t" l="l"/>
            <a:pathLst>
              <a:path h="438150" w="228600">
                <a:moveTo>
                  <a:pt x="0" y="0"/>
                </a:moveTo>
                <a:lnTo>
                  <a:pt x="228600" y="0"/>
                </a:lnTo>
                <a:lnTo>
                  <a:pt x="228600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768096" y="1586618"/>
            <a:ext cx="7114032" cy="16666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76"/>
              </a:lnSpc>
            </a:pPr>
            <a:r>
              <a:rPr lang="en-US" sz="5978" spc="-119" b="true">
                <a:solidFill>
                  <a:srgbClr val="FFFFFF"/>
                </a:solidFill>
                <a:latin typeface="Oswald Bold"/>
                <a:ea typeface="Oswald Bold"/>
                <a:cs typeface="Oswald Bold"/>
                <a:sym typeface="Oswald Bold"/>
              </a:rPr>
              <a:t>Deliverables engineered to structural intent.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6305550" y="2781300"/>
            <a:ext cx="447675" cy="438150"/>
          </a:xfrm>
          <a:custGeom>
            <a:avLst/>
            <a:gdLst/>
            <a:ahLst/>
            <a:cxnLst/>
            <a:rect r="r" b="b" t="t" l="l"/>
            <a:pathLst>
              <a:path h="438150" w="447675">
                <a:moveTo>
                  <a:pt x="0" y="0"/>
                </a:moveTo>
                <a:lnTo>
                  <a:pt x="447675" y="0"/>
                </a:lnTo>
                <a:lnTo>
                  <a:pt x="447675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768096" y="3464516"/>
            <a:ext cx="7863840" cy="5320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72"/>
              </a:lnSpc>
            </a:pPr>
            <a:r>
              <a:rPr lang="en-US" sz="1551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Four fabrication packages define the conversion. Each is drawn, cut, and welded in-house beforeall.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9353550" y="857250"/>
            <a:ext cx="8505825" cy="4076700"/>
          </a:xfrm>
          <a:custGeom>
            <a:avLst/>
            <a:gdLst/>
            <a:ahLst/>
            <a:cxnLst/>
            <a:rect r="r" b="b" t="t" l="l"/>
            <a:pathLst>
              <a:path h="4076700" w="8505825">
                <a:moveTo>
                  <a:pt x="0" y="0"/>
                </a:moveTo>
                <a:lnTo>
                  <a:pt x="8505825" y="0"/>
                </a:lnTo>
                <a:lnTo>
                  <a:pt x="8505825" y="4076700"/>
                </a:lnTo>
                <a:lnTo>
                  <a:pt x="0" y="407670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647700" y="4924425"/>
            <a:ext cx="4143375" cy="4505325"/>
          </a:xfrm>
          <a:custGeom>
            <a:avLst/>
            <a:gdLst/>
            <a:ahLst/>
            <a:cxnLst/>
            <a:rect r="r" b="b" t="t" l="l"/>
            <a:pathLst>
              <a:path h="4505325" w="4143375">
                <a:moveTo>
                  <a:pt x="0" y="0"/>
                </a:moveTo>
                <a:lnTo>
                  <a:pt x="4143375" y="0"/>
                </a:lnTo>
                <a:lnTo>
                  <a:pt x="4143375" y="4505325"/>
                </a:lnTo>
                <a:lnTo>
                  <a:pt x="0" y="450532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987552" y="5367271"/>
            <a:ext cx="585216" cy="7110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89"/>
              </a:lnSpc>
            </a:pPr>
            <a:r>
              <a:rPr lang="en-US" sz="4990" spc="-99" b="true">
                <a:solidFill>
                  <a:srgbClr val="B60000"/>
                </a:solidFill>
                <a:latin typeface="Oswald Bold"/>
                <a:ea typeface="Oswald Bold"/>
                <a:cs typeface="Oswald Bold"/>
                <a:sym typeface="Oswald Bold"/>
              </a:rPr>
              <a:t>01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87552" y="6260854"/>
            <a:ext cx="1682496" cy="293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30"/>
              </a:lnSpc>
            </a:pPr>
            <a:r>
              <a:rPr lang="en-US" sz="2118" spc="-42" b="true">
                <a:solidFill>
                  <a:srgbClr val="FFFFFF"/>
                </a:solidFill>
                <a:latin typeface="Oswald Bold"/>
                <a:ea typeface="Oswald Bold"/>
                <a:cs typeface="Oswald Bold"/>
                <a:sym typeface="Oswald Bold"/>
              </a:rPr>
              <a:t>Structural Floor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866775" y="6858000"/>
            <a:ext cx="3705225" cy="219075"/>
          </a:xfrm>
          <a:custGeom>
            <a:avLst/>
            <a:gdLst/>
            <a:ahLst/>
            <a:cxnLst/>
            <a:rect r="r" b="b" t="t" l="l"/>
            <a:pathLst>
              <a:path h="219075" w="3705225">
                <a:moveTo>
                  <a:pt x="0" y="0"/>
                </a:moveTo>
                <a:lnTo>
                  <a:pt x="3705225" y="0"/>
                </a:lnTo>
                <a:lnTo>
                  <a:pt x="3705225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1024128" y="7185743"/>
            <a:ext cx="3163824" cy="680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57"/>
              </a:lnSpc>
            </a:pPr>
            <a:r>
              <a:rPr lang="en-US" sz="1326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Full-length steel floor system fabricated from A36 plate and channel, seam-welded to the container base rails.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866775" y="8143875"/>
            <a:ext cx="3705225" cy="1285875"/>
          </a:xfrm>
          <a:custGeom>
            <a:avLst/>
            <a:gdLst/>
            <a:ahLst/>
            <a:cxnLst/>
            <a:rect r="r" b="b" t="t" l="l"/>
            <a:pathLst>
              <a:path h="1285875" w="3705225">
                <a:moveTo>
                  <a:pt x="0" y="0"/>
                </a:moveTo>
                <a:lnTo>
                  <a:pt x="3705225" y="0"/>
                </a:lnTo>
                <a:lnTo>
                  <a:pt x="3705225" y="1285875"/>
                </a:lnTo>
                <a:lnTo>
                  <a:pt x="0" y="128587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4781550" y="4924425"/>
            <a:ext cx="4362450" cy="4505325"/>
          </a:xfrm>
          <a:custGeom>
            <a:avLst/>
            <a:gdLst/>
            <a:ahLst/>
            <a:cxnLst/>
            <a:rect r="r" b="b" t="t" l="l"/>
            <a:pathLst>
              <a:path h="4505325" w="4362450">
                <a:moveTo>
                  <a:pt x="0" y="0"/>
                </a:moveTo>
                <a:lnTo>
                  <a:pt x="4362450" y="0"/>
                </a:lnTo>
                <a:lnTo>
                  <a:pt x="4362450" y="4505325"/>
                </a:lnTo>
                <a:lnTo>
                  <a:pt x="0" y="450532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5248656" y="5367271"/>
            <a:ext cx="676656" cy="7110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89"/>
              </a:lnSpc>
            </a:pPr>
            <a:r>
              <a:rPr lang="en-US" sz="4990" spc="-99" b="true">
                <a:solidFill>
                  <a:srgbClr val="B60000"/>
                </a:solidFill>
                <a:latin typeface="Oswald Bold"/>
                <a:ea typeface="Oswald Bold"/>
                <a:cs typeface="Oswald Bold"/>
                <a:sym typeface="Oswald Bold"/>
              </a:rPr>
              <a:t>02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5248656" y="6260854"/>
            <a:ext cx="1463040" cy="293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30"/>
              </a:lnSpc>
            </a:pPr>
            <a:r>
              <a:rPr lang="en-US" sz="2118" spc="-42" b="true">
                <a:solidFill>
                  <a:srgbClr val="FFFFFF"/>
                </a:solidFill>
                <a:latin typeface="Oswald Bold"/>
                <a:ea typeface="Oswald Bold"/>
                <a:cs typeface="Oswald Bold"/>
                <a:sym typeface="Oswald Bold"/>
              </a:rPr>
              <a:t>Wall Supports</a:t>
            </a:r>
          </a:p>
        </p:txBody>
      </p:sp>
      <p:sp>
        <p:nvSpPr>
          <p:cNvPr name="Freeform 20" id="20"/>
          <p:cNvSpPr/>
          <p:nvPr/>
        </p:nvSpPr>
        <p:spPr>
          <a:xfrm flipH="false" flipV="false" rot="0">
            <a:off x="5219700" y="6858000"/>
            <a:ext cx="3714750" cy="219075"/>
          </a:xfrm>
          <a:custGeom>
            <a:avLst/>
            <a:gdLst/>
            <a:ahLst/>
            <a:cxnLst/>
            <a:rect r="r" b="b" t="t" l="l"/>
            <a:pathLst>
              <a:path h="219075" w="3714750">
                <a:moveTo>
                  <a:pt x="0" y="0"/>
                </a:moveTo>
                <a:lnTo>
                  <a:pt x="3714750" y="0"/>
                </a:lnTo>
                <a:lnTo>
                  <a:pt x="3714750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5248656" y="7193863"/>
            <a:ext cx="3364992" cy="4175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60"/>
              </a:lnSpc>
            </a:pPr>
            <a:r>
              <a:rPr lang="en-US" sz="1185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Vertical wall supports tied into the corner posts, tensioned and gusseted for point-load resistance.</a:t>
            </a:r>
          </a:p>
        </p:txBody>
      </p:sp>
      <p:sp>
        <p:nvSpPr>
          <p:cNvPr name="Freeform 22" id="22"/>
          <p:cNvSpPr/>
          <p:nvPr/>
        </p:nvSpPr>
        <p:spPr>
          <a:xfrm flipH="false" flipV="false" rot="0">
            <a:off x="5219700" y="7924800"/>
            <a:ext cx="3714750" cy="1504950"/>
          </a:xfrm>
          <a:custGeom>
            <a:avLst/>
            <a:gdLst/>
            <a:ahLst/>
            <a:cxnLst/>
            <a:rect r="r" b="b" t="t" l="l"/>
            <a:pathLst>
              <a:path h="1504950" w="3714750">
                <a:moveTo>
                  <a:pt x="0" y="0"/>
                </a:moveTo>
                <a:lnTo>
                  <a:pt x="3714750" y="0"/>
                </a:lnTo>
                <a:lnTo>
                  <a:pt x="3714750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9144000" y="4924425"/>
            <a:ext cx="4143375" cy="4505325"/>
          </a:xfrm>
          <a:custGeom>
            <a:avLst/>
            <a:gdLst/>
            <a:ahLst/>
            <a:cxnLst/>
            <a:rect r="r" b="b" t="t" l="l"/>
            <a:pathLst>
              <a:path h="4505325" w="4143375">
                <a:moveTo>
                  <a:pt x="0" y="0"/>
                </a:moveTo>
                <a:lnTo>
                  <a:pt x="4143375" y="0"/>
                </a:lnTo>
                <a:lnTo>
                  <a:pt x="4143375" y="4505325"/>
                </a:lnTo>
                <a:lnTo>
                  <a:pt x="0" y="450532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TextBox 24" id="24"/>
          <p:cNvSpPr txBox="true"/>
          <p:nvPr/>
        </p:nvSpPr>
        <p:spPr>
          <a:xfrm rot="0">
            <a:off x="9528048" y="5367271"/>
            <a:ext cx="676656" cy="7110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89"/>
              </a:lnSpc>
            </a:pPr>
            <a:r>
              <a:rPr lang="en-US" sz="4990" spc="-99" b="true">
                <a:solidFill>
                  <a:srgbClr val="B60000"/>
                </a:solidFill>
                <a:latin typeface="Oswald Bold"/>
                <a:ea typeface="Oswald Bold"/>
                <a:cs typeface="Oswald Bold"/>
                <a:sym typeface="Oswald Bold"/>
              </a:rPr>
              <a:t>03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528048" y="6260854"/>
            <a:ext cx="2615184" cy="293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30"/>
              </a:lnSpc>
            </a:pPr>
            <a:r>
              <a:rPr lang="en-US" sz="2118" spc="-42" b="true">
                <a:solidFill>
                  <a:srgbClr val="FFFFFF"/>
                </a:solidFill>
                <a:latin typeface="Oswald Bold"/>
                <a:ea typeface="Oswald Bold"/>
                <a:cs typeface="Oswald Bold"/>
                <a:sym typeface="Oswald Bold"/>
              </a:rPr>
              <a:t>Overhead Reinforcement</a:t>
            </a:r>
          </a:p>
        </p:txBody>
      </p:sp>
      <p:sp>
        <p:nvSpPr>
          <p:cNvPr name="Freeform 26" id="26"/>
          <p:cNvSpPr/>
          <p:nvPr/>
        </p:nvSpPr>
        <p:spPr>
          <a:xfrm flipH="false" flipV="false" rot="0">
            <a:off x="9353550" y="6858000"/>
            <a:ext cx="3714750" cy="219075"/>
          </a:xfrm>
          <a:custGeom>
            <a:avLst/>
            <a:gdLst/>
            <a:ahLst/>
            <a:cxnLst/>
            <a:rect r="r" b="b" t="t" l="l"/>
            <a:pathLst>
              <a:path h="219075" w="3714750">
                <a:moveTo>
                  <a:pt x="0" y="0"/>
                </a:moveTo>
                <a:lnTo>
                  <a:pt x="3714750" y="0"/>
                </a:lnTo>
                <a:lnTo>
                  <a:pt x="3714750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TextBox 27" id="27"/>
          <p:cNvSpPr txBox="true"/>
          <p:nvPr/>
        </p:nvSpPr>
        <p:spPr>
          <a:xfrm rot="0">
            <a:off x="9528048" y="7185231"/>
            <a:ext cx="3291840" cy="4348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58"/>
              </a:lnSpc>
            </a:pPr>
            <a:r>
              <a:rPr lang="en-US" sz="1256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Overhead cross-members and load headers to eliminate roof deflection under interior rigging.</a:t>
            </a:r>
          </a:p>
        </p:txBody>
      </p:sp>
      <p:sp>
        <p:nvSpPr>
          <p:cNvPr name="Freeform 28" id="28"/>
          <p:cNvSpPr/>
          <p:nvPr/>
        </p:nvSpPr>
        <p:spPr>
          <a:xfrm flipH="false" flipV="false" rot="0">
            <a:off x="9353550" y="7924800"/>
            <a:ext cx="3714750" cy="1504950"/>
          </a:xfrm>
          <a:custGeom>
            <a:avLst/>
            <a:gdLst/>
            <a:ahLst/>
            <a:cxnLst/>
            <a:rect r="r" b="b" t="t" l="l"/>
            <a:pathLst>
              <a:path h="1504950" w="3714750">
                <a:moveTo>
                  <a:pt x="0" y="0"/>
                </a:moveTo>
                <a:lnTo>
                  <a:pt x="3714750" y="0"/>
                </a:lnTo>
                <a:lnTo>
                  <a:pt x="3714750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0">
            <a:off x="13496925" y="4924425"/>
            <a:ext cx="4143375" cy="4505325"/>
          </a:xfrm>
          <a:custGeom>
            <a:avLst/>
            <a:gdLst/>
            <a:ahLst/>
            <a:cxnLst/>
            <a:rect r="r" b="b" t="t" l="l"/>
            <a:pathLst>
              <a:path h="4505325" w="4143375">
                <a:moveTo>
                  <a:pt x="0" y="0"/>
                </a:moveTo>
                <a:lnTo>
                  <a:pt x="4143375" y="0"/>
                </a:lnTo>
                <a:lnTo>
                  <a:pt x="4143375" y="4505325"/>
                </a:lnTo>
                <a:lnTo>
                  <a:pt x="0" y="450532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0" t="0" r="0" b="0"/>
            </a:stretch>
          </a:blipFill>
        </p:spPr>
      </p:sp>
      <p:sp>
        <p:nvSpPr>
          <p:cNvPr name="TextBox 30" id="30"/>
          <p:cNvSpPr txBox="true"/>
          <p:nvPr/>
        </p:nvSpPr>
        <p:spPr>
          <a:xfrm rot="0">
            <a:off x="13789152" y="5367271"/>
            <a:ext cx="676656" cy="7110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89"/>
              </a:lnSpc>
            </a:pPr>
            <a:r>
              <a:rPr lang="en-US" sz="4990" spc="-99" b="true">
                <a:solidFill>
                  <a:srgbClr val="B60000"/>
                </a:solidFill>
                <a:latin typeface="Oswald Bold"/>
                <a:ea typeface="Oswald Bold"/>
                <a:cs typeface="Oswald Bold"/>
                <a:sym typeface="Oswald Bold"/>
              </a:rPr>
              <a:t>04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3789152" y="6251150"/>
            <a:ext cx="2139696" cy="303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61"/>
              </a:lnSpc>
            </a:pPr>
            <a:r>
              <a:rPr lang="en-US" sz="2146" spc="-42" b="true">
                <a:solidFill>
                  <a:srgbClr val="FFFFFF"/>
                </a:solidFill>
                <a:latin typeface="Oswald Bold"/>
                <a:ea typeface="Oswald Bold"/>
                <a:cs typeface="Oswald Bold"/>
                <a:sym typeface="Oswald Bold"/>
              </a:rPr>
              <a:t>Interior Steel Lining</a:t>
            </a:r>
          </a:p>
        </p:txBody>
      </p:sp>
      <p:sp>
        <p:nvSpPr>
          <p:cNvPr name="Freeform 32" id="32"/>
          <p:cNvSpPr/>
          <p:nvPr/>
        </p:nvSpPr>
        <p:spPr>
          <a:xfrm flipH="false" flipV="false" rot="0">
            <a:off x="13716000" y="6858000"/>
            <a:ext cx="3705225" cy="219075"/>
          </a:xfrm>
          <a:custGeom>
            <a:avLst/>
            <a:gdLst/>
            <a:ahLst/>
            <a:cxnLst/>
            <a:rect r="r" b="b" t="t" l="l"/>
            <a:pathLst>
              <a:path h="219075" w="3705225">
                <a:moveTo>
                  <a:pt x="0" y="0"/>
                </a:moveTo>
                <a:lnTo>
                  <a:pt x="3705225" y="0"/>
                </a:lnTo>
                <a:lnTo>
                  <a:pt x="3705225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0" t="0" r="0" b="0"/>
            </a:stretch>
          </a:blipFill>
        </p:spPr>
      </p:sp>
      <p:sp>
        <p:nvSpPr>
          <p:cNvPr name="TextBox 33" id="33"/>
          <p:cNvSpPr txBox="true"/>
          <p:nvPr/>
        </p:nvSpPr>
        <p:spPr>
          <a:xfrm rot="0">
            <a:off x="13789152" y="7185529"/>
            <a:ext cx="3108960" cy="4342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91"/>
              </a:lnSpc>
            </a:pPr>
            <a:r>
              <a:rPr lang="en-US" sz="1279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Full-perimeter lining plate, welded flush and prepped for coating.</a:t>
            </a:r>
          </a:p>
        </p:txBody>
      </p:sp>
      <p:sp>
        <p:nvSpPr>
          <p:cNvPr name="Freeform 34" id="34"/>
          <p:cNvSpPr/>
          <p:nvPr/>
        </p:nvSpPr>
        <p:spPr>
          <a:xfrm flipH="false" flipV="false" rot="0">
            <a:off x="13716000" y="7924800"/>
            <a:ext cx="3705225" cy="1504950"/>
          </a:xfrm>
          <a:custGeom>
            <a:avLst/>
            <a:gdLst/>
            <a:ahLst/>
            <a:cxnLst/>
            <a:rect r="r" b="b" t="t" l="l"/>
            <a:pathLst>
              <a:path h="1504950" w="3705225">
                <a:moveTo>
                  <a:pt x="0" y="0"/>
                </a:moveTo>
                <a:lnTo>
                  <a:pt x="3705225" y="0"/>
                </a:lnTo>
                <a:lnTo>
                  <a:pt x="3705225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 l="0" t="0" r="0" b="0"/>
            </a:stretch>
          </a:blipFill>
        </p:spPr>
      </p:sp>
      <p:sp>
        <p:nvSpPr>
          <p:cNvPr name="Freeform 35" id="35"/>
          <p:cNvSpPr/>
          <p:nvPr/>
        </p:nvSpPr>
        <p:spPr>
          <a:xfrm flipH="false" flipV="false" rot="0">
            <a:off x="647700" y="9429750"/>
            <a:ext cx="16992600" cy="219075"/>
          </a:xfrm>
          <a:custGeom>
            <a:avLst/>
            <a:gdLst/>
            <a:ahLst/>
            <a:cxnLst/>
            <a:rect r="r" b="b" t="t" l="l"/>
            <a:pathLst>
              <a:path h="219075" w="16992600">
                <a:moveTo>
                  <a:pt x="0" y="0"/>
                </a:moveTo>
                <a:lnTo>
                  <a:pt x="16992600" y="0"/>
                </a:lnTo>
                <a:lnTo>
                  <a:pt x="16992600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 l="0" t="0" r="0" b="0"/>
            </a:stretch>
          </a:blipFill>
        </p:spPr>
      </p:sp>
      <p:sp>
        <p:nvSpPr>
          <p:cNvPr name="TextBox 36" id="36"/>
          <p:cNvSpPr txBox="true"/>
          <p:nvPr/>
        </p:nvSpPr>
        <p:spPr>
          <a:xfrm rot="0">
            <a:off x="768096" y="9850564"/>
            <a:ext cx="2414016" cy="1409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50"/>
              </a:lnSpc>
            </a:pPr>
            <a:r>
              <a:rPr lang="en-US" b="true" sz="1050" spc="525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METAL WORX, INC.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7498080" y="9856280"/>
            <a:ext cx="2523744" cy="129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75"/>
              </a:lnSpc>
            </a:pPr>
            <a:r>
              <a:rPr lang="en-US" b="true" sz="975" spc="487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SCOPE &amp; OBJECTIVES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6678656" y="9846278"/>
            <a:ext cx="896112" cy="1400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12"/>
              </a:lnSpc>
            </a:pPr>
            <a:r>
              <a:rPr lang="en-US" b="true" sz="1012" spc="506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04 / 18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0229850" y="0"/>
            <a:ext cx="6324600" cy="3000375"/>
          </a:xfrm>
          <a:custGeom>
            <a:avLst/>
            <a:gdLst/>
            <a:ahLst/>
            <a:cxnLst/>
            <a:rect r="r" b="b" t="t" l="l"/>
            <a:pathLst>
              <a:path h="3000375" w="6324600">
                <a:moveTo>
                  <a:pt x="0" y="0"/>
                </a:moveTo>
                <a:lnTo>
                  <a:pt x="6324600" y="0"/>
                </a:lnTo>
                <a:lnTo>
                  <a:pt x="6324600" y="3000375"/>
                </a:lnTo>
                <a:lnTo>
                  <a:pt x="0" y="300037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731520" y="1447610"/>
            <a:ext cx="7443216" cy="828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92"/>
              </a:lnSpc>
            </a:pPr>
            <a:r>
              <a:rPr lang="en-US" sz="5493" spc="-109" b="true">
                <a:solidFill>
                  <a:srgbClr val="FFFFFF"/>
                </a:solidFill>
                <a:latin typeface="Oswald Bold"/>
                <a:ea typeface="Oswald Bold"/>
                <a:cs typeface="Oswald Bold"/>
                <a:sym typeface="Oswald Bold"/>
              </a:rPr>
              <a:t>From arrival to installation</a:t>
            </a:r>
            <a:r>
              <a:rPr lang="en-US" sz="5493" spc="-109" b="true">
                <a:solidFill>
                  <a:srgbClr val="D80000"/>
                </a:solidFill>
                <a:latin typeface="Oswald Bold"/>
                <a:ea typeface="Oswald Bold"/>
                <a:cs typeface="Oswald Bold"/>
                <a:sym typeface="Oswald Bold"/>
              </a:rPr>
              <a:t>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7829550" y="1924050"/>
            <a:ext cx="447675" cy="219075"/>
          </a:xfrm>
          <a:custGeom>
            <a:avLst/>
            <a:gdLst/>
            <a:ahLst/>
            <a:cxnLst/>
            <a:rect r="r" b="b" t="t" l="l"/>
            <a:pathLst>
              <a:path h="219075" w="447675">
                <a:moveTo>
                  <a:pt x="0" y="0"/>
                </a:moveTo>
                <a:lnTo>
                  <a:pt x="447675" y="0"/>
                </a:lnTo>
                <a:lnTo>
                  <a:pt x="447675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647700" y="2781300"/>
            <a:ext cx="16992600" cy="219075"/>
          </a:xfrm>
          <a:custGeom>
            <a:avLst/>
            <a:gdLst/>
            <a:ahLst/>
            <a:cxnLst/>
            <a:rect r="r" b="b" t="t" l="l"/>
            <a:pathLst>
              <a:path h="219075" w="16992600">
                <a:moveTo>
                  <a:pt x="0" y="0"/>
                </a:moveTo>
                <a:lnTo>
                  <a:pt x="16992600" y="0"/>
                </a:lnTo>
                <a:lnTo>
                  <a:pt x="16992600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647700" y="3209925"/>
            <a:ext cx="1752600" cy="1295400"/>
          </a:xfrm>
          <a:custGeom>
            <a:avLst/>
            <a:gdLst/>
            <a:ahLst/>
            <a:cxnLst/>
            <a:rect r="r" b="b" t="t" l="l"/>
            <a:pathLst>
              <a:path h="1295400" w="1752600">
                <a:moveTo>
                  <a:pt x="0" y="0"/>
                </a:moveTo>
                <a:lnTo>
                  <a:pt x="1752600" y="0"/>
                </a:lnTo>
                <a:lnTo>
                  <a:pt x="1752600" y="1295400"/>
                </a:lnTo>
                <a:lnTo>
                  <a:pt x="0" y="129540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428625" y="4286250"/>
            <a:ext cx="2190750" cy="2143125"/>
          </a:xfrm>
          <a:custGeom>
            <a:avLst/>
            <a:gdLst/>
            <a:ahLst/>
            <a:cxnLst/>
            <a:rect r="r" b="b" t="t" l="l"/>
            <a:pathLst>
              <a:path h="2143125" w="2190750">
                <a:moveTo>
                  <a:pt x="0" y="0"/>
                </a:moveTo>
                <a:lnTo>
                  <a:pt x="2190750" y="0"/>
                </a:lnTo>
                <a:lnTo>
                  <a:pt x="2190750" y="2143125"/>
                </a:lnTo>
                <a:lnTo>
                  <a:pt x="0" y="214312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2609850" y="3209925"/>
            <a:ext cx="1962150" cy="1295400"/>
          </a:xfrm>
          <a:custGeom>
            <a:avLst/>
            <a:gdLst/>
            <a:ahLst/>
            <a:cxnLst/>
            <a:rect r="r" b="b" t="t" l="l"/>
            <a:pathLst>
              <a:path h="1295400" w="1962150">
                <a:moveTo>
                  <a:pt x="0" y="0"/>
                </a:moveTo>
                <a:lnTo>
                  <a:pt x="1962150" y="0"/>
                </a:lnTo>
                <a:lnTo>
                  <a:pt x="1962150" y="1295400"/>
                </a:lnTo>
                <a:lnTo>
                  <a:pt x="0" y="12954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2609850" y="4286250"/>
            <a:ext cx="2181225" cy="2143125"/>
          </a:xfrm>
          <a:custGeom>
            <a:avLst/>
            <a:gdLst/>
            <a:ahLst/>
            <a:cxnLst/>
            <a:rect r="r" b="b" t="t" l="l"/>
            <a:pathLst>
              <a:path h="2143125" w="2181225">
                <a:moveTo>
                  <a:pt x="0" y="0"/>
                </a:moveTo>
                <a:lnTo>
                  <a:pt x="2181225" y="0"/>
                </a:lnTo>
                <a:lnTo>
                  <a:pt x="2181225" y="2143125"/>
                </a:lnTo>
                <a:lnTo>
                  <a:pt x="0" y="214312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4781550" y="3209925"/>
            <a:ext cx="1971675" cy="1295400"/>
          </a:xfrm>
          <a:custGeom>
            <a:avLst/>
            <a:gdLst/>
            <a:ahLst/>
            <a:cxnLst/>
            <a:rect r="r" b="b" t="t" l="l"/>
            <a:pathLst>
              <a:path h="1295400" w="1971675">
                <a:moveTo>
                  <a:pt x="0" y="0"/>
                </a:moveTo>
                <a:lnTo>
                  <a:pt x="1971675" y="0"/>
                </a:lnTo>
                <a:lnTo>
                  <a:pt x="1971675" y="1295400"/>
                </a:lnTo>
                <a:lnTo>
                  <a:pt x="0" y="129540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4781550" y="4286250"/>
            <a:ext cx="2190750" cy="2143125"/>
          </a:xfrm>
          <a:custGeom>
            <a:avLst/>
            <a:gdLst/>
            <a:ahLst/>
            <a:cxnLst/>
            <a:rect r="r" b="b" t="t" l="l"/>
            <a:pathLst>
              <a:path h="2143125" w="2190750">
                <a:moveTo>
                  <a:pt x="0" y="0"/>
                </a:moveTo>
                <a:lnTo>
                  <a:pt x="2190750" y="0"/>
                </a:lnTo>
                <a:lnTo>
                  <a:pt x="2190750" y="2143125"/>
                </a:lnTo>
                <a:lnTo>
                  <a:pt x="0" y="214312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6962775" y="3209925"/>
            <a:ext cx="1971675" cy="1295400"/>
          </a:xfrm>
          <a:custGeom>
            <a:avLst/>
            <a:gdLst/>
            <a:ahLst/>
            <a:cxnLst/>
            <a:rect r="r" b="b" t="t" l="l"/>
            <a:pathLst>
              <a:path h="1295400" w="1971675">
                <a:moveTo>
                  <a:pt x="0" y="0"/>
                </a:moveTo>
                <a:lnTo>
                  <a:pt x="1971675" y="0"/>
                </a:lnTo>
                <a:lnTo>
                  <a:pt x="1971675" y="1295400"/>
                </a:lnTo>
                <a:lnTo>
                  <a:pt x="0" y="129540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6962775" y="4286250"/>
            <a:ext cx="2181225" cy="2143125"/>
          </a:xfrm>
          <a:custGeom>
            <a:avLst/>
            <a:gdLst/>
            <a:ahLst/>
            <a:cxnLst/>
            <a:rect r="r" b="b" t="t" l="l"/>
            <a:pathLst>
              <a:path h="2143125" w="2181225">
                <a:moveTo>
                  <a:pt x="0" y="0"/>
                </a:moveTo>
                <a:lnTo>
                  <a:pt x="2181225" y="0"/>
                </a:lnTo>
                <a:lnTo>
                  <a:pt x="2181225" y="2143125"/>
                </a:lnTo>
                <a:lnTo>
                  <a:pt x="0" y="214312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9353550" y="3209925"/>
            <a:ext cx="1752600" cy="1295400"/>
          </a:xfrm>
          <a:custGeom>
            <a:avLst/>
            <a:gdLst/>
            <a:ahLst/>
            <a:cxnLst/>
            <a:rect r="r" b="b" t="t" l="l"/>
            <a:pathLst>
              <a:path h="1295400" w="1752600">
                <a:moveTo>
                  <a:pt x="0" y="0"/>
                </a:moveTo>
                <a:lnTo>
                  <a:pt x="1752600" y="0"/>
                </a:lnTo>
                <a:lnTo>
                  <a:pt x="1752600" y="1295400"/>
                </a:lnTo>
                <a:lnTo>
                  <a:pt x="0" y="129540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9144000" y="4286250"/>
            <a:ext cx="2181225" cy="2143125"/>
          </a:xfrm>
          <a:custGeom>
            <a:avLst/>
            <a:gdLst/>
            <a:ahLst/>
            <a:cxnLst/>
            <a:rect r="r" b="b" t="t" l="l"/>
            <a:pathLst>
              <a:path h="2143125" w="2181225">
                <a:moveTo>
                  <a:pt x="0" y="0"/>
                </a:moveTo>
                <a:lnTo>
                  <a:pt x="2181225" y="0"/>
                </a:lnTo>
                <a:lnTo>
                  <a:pt x="2181225" y="2143125"/>
                </a:lnTo>
                <a:lnTo>
                  <a:pt x="0" y="214312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11534775" y="3209925"/>
            <a:ext cx="1971675" cy="1295400"/>
          </a:xfrm>
          <a:custGeom>
            <a:avLst/>
            <a:gdLst/>
            <a:ahLst/>
            <a:cxnLst/>
            <a:rect r="r" b="b" t="t" l="l"/>
            <a:pathLst>
              <a:path h="1295400" w="1971675">
                <a:moveTo>
                  <a:pt x="0" y="0"/>
                </a:moveTo>
                <a:lnTo>
                  <a:pt x="1971675" y="0"/>
                </a:lnTo>
                <a:lnTo>
                  <a:pt x="1971675" y="1295400"/>
                </a:lnTo>
                <a:lnTo>
                  <a:pt x="0" y="129540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11315700" y="4286250"/>
            <a:ext cx="2190750" cy="2143125"/>
          </a:xfrm>
          <a:custGeom>
            <a:avLst/>
            <a:gdLst/>
            <a:ahLst/>
            <a:cxnLst/>
            <a:rect r="r" b="b" t="t" l="l"/>
            <a:pathLst>
              <a:path h="2143125" w="2190750">
                <a:moveTo>
                  <a:pt x="0" y="0"/>
                </a:moveTo>
                <a:lnTo>
                  <a:pt x="2190750" y="0"/>
                </a:lnTo>
                <a:lnTo>
                  <a:pt x="2190750" y="2143125"/>
                </a:lnTo>
                <a:lnTo>
                  <a:pt x="0" y="214312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3716000" y="3209925"/>
            <a:ext cx="1962150" cy="1295400"/>
          </a:xfrm>
          <a:custGeom>
            <a:avLst/>
            <a:gdLst/>
            <a:ahLst/>
            <a:cxnLst/>
            <a:rect r="r" b="b" t="t" l="l"/>
            <a:pathLst>
              <a:path h="1295400" w="1962150">
                <a:moveTo>
                  <a:pt x="0" y="0"/>
                </a:moveTo>
                <a:lnTo>
                  <a:pt x="1962150" y="0"/>
                </a:lnTo>
                <a:lnTo>
                  <a:pt x="1962150" y="1295400"/>
                </a:lnTo>
                <a:lnTo>
                  <a:pt x="0" y="129540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13496925" y="4286250"/>
            <a:ext cx="2181225" cy="2143125"/>
          </a:xfrm>
          <a:custGeom>
            <a:avLst/>
            <a:gdLst/>
            <a:ahLst/>
            <a:cxnLst/>
            <a:rect r="r" b="b" t="t" l="l"/>
            <a:pathLst>
              <a:path h="2143125" w="2181225">
                <a:moveTo>
                  <a:pt x="0" y="0"/>
                </a:moveTo>
                <a:lnTo>
                  <a:pt x="2181225" y="0"/>
                </a:lnTo>
                <a:lnTo>
                  <a:pt x="2181225" y="2143125"/>
                </a:lnTo>
                <a:lnTo>
                  <a:pt x="0" y="214312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15668625" y="3209925"/>
            <a:ext cx="1971675" cy="1295400"/>
          </a:xfrm>
          <a:custGeom>
            <a:avLst/>
            <a:gdLst/>
            <a:ahLst/>
            <a:cxnLst/>
            <a:rect r="r" b="b" t="t" l="l"/>
            <a:pathLst>
              <a:path h="1295400" w="1971675">
                <a:moveTo>
                  <a:pt x="0" y="0"/>
                </a:moveTo>
                <a:lnTo>
                  <a:pt x="1971675" y="0"/>
                </a:lnTo>
                <a:lnTo>
                  <a:pt x="1971675" y="1295400"/>
                </a:lnTo>
                <a:lnTo>
                  <a:pt x="0" y="129540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15668625" y="4286250"/>
            <a:ext cx="1971675" cy="2143125"/>
          </a:xfrm>
          <a:custGeom>
            <a:avLst/>
            <a:gdLst/>
            <a:ahLst/>
            <a:cxnLst/>
            <a:rect r="r" b="b" t="t" l="l"/>
            <a:pathLst>
              <a:path h="2143125" w="1971675">
                <a:moveTo>
                  <a:pt x="0" y="0"/>
                </a:moveTo>
                <a:lnTo>
                  <a:pt x="1971675" y="0"/>
                </a:lnTo>
                <a:lnTo>
                  <a:pt x="1971675" y="2143125"/>
                </a:lnTo>
                <a:lnTo>
                  <a:pt x="0" y="214312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1304925" y="6210300"/>
            <a:ext cx="438150" cy="647700"/>
          </a:xfrm>
          <a:custGeom>
            <a:avLst/>
            <a:gdLst/>
            <a:ahLst/>
            <a:cxnLst/>
            <a:rect r="r" b="b" t="t" l="l"/>
            <a:pathLst>
              <a:path h="647700" w="438150">
                <a:moveTo>
                  <a:pt x="0" y="0"/>
                </a:moveTo>
                <a:lnTo>
                  <a:pt x="438150" y="0"/>
                </a:lnTo>
                <a:lnTo>
                  <a:pt x="4381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3257550" y="6210300"/>
            <a:ext cx="666750" cy="647700"/>
          </a:xfrm>
          <a:custGeom>
            <a:avLst/>
            <a:gdLst/>
            <a:ahLst/>
            <a:cxnLst/>
            <a:rect r="r" b="b" t="t" l="l"/>
            <a:pathLst>
              <a:path h="647700" w="666750">
                <a:moveTo>
                  <a:pt x="0" y="0"/>
                </a:moveTo>
                <a:lnTo>
                  <a:pt x="666750" y="0"/>
                </a:lnTo>
                <a:lnTo>
                  <a:pt x="6667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5657850" y="6210300"/>
            <a:ext cx="438150" cy="647700"/>
          </a:xfrm>
          <a:custGeom>
            <a:avLst/>
            <a:gdLst/>
            <a:ahLst/>
            <a:cxnLst/>
            <a:rect r="r" b="b" t="t" l="l"/>
            <a:pathLst>
              <a:path h="647700" w="438150">
                <a:moveTo>
                  <a:pt x="0" y="0"/>
                </a:moveTo>
                <a:lnTo>
                  <a:pt x="438150" y="0"/>
                </a:lnTo>
                <a:lnTo>
                  <a:pt x="4381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0">
            <a:off x="7829550" y="6210300"/>
            <a:ext cx="447675" cy="647700"/>
          </a:xfrm>
          <a:custGeom>
            <a:avLst/>
            <a:gdLst/>
            <a:ahLst/>
            <a:cxnLst/>
            <a:rect r="r" b="b" t="t" l="l"/>
            <a:pathLst>
              <a:path h="647700" w="447675">
                <a:moveTo>
                  <a:pt x="0" y="0"/>
                </a:moveTo>
                <a:lnTo>
                  <a:pt x="447675" y="0"/>
                </a:lnTo>
                <a:lnTo>
                  <a:pt x="44767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10010775" y="6210300"/>
            <a:ext cx="447675" cy="647700"/>
          </a:xfrm>
          <a:custGeom>
            <a:avLst/>
            <a:gdLst/>
            <a:ahLst/>
            <a:cxnLst/>
            <a:rect r="r" b="b" t="t" l="l"/>
            <a:pathLst>
              <a:path h="647700" w="447675">
                <a:moveTo>
                  <a:pt x="0" y="0"/>
                </a:moveTo>
                <a:lnTo>
                  <a:pt x="447675" y="0"/>
                </a:lnTo>
                <a:lnTo>
                  <a:pt x="44767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12192000" y="6210300"/>
            <a:ext cx="438150" cy="647700"/>
          </a:xfrm>
          <a:custGeom>
            <a:avLst/>
            <a:gdLst/>
            <a:ahLst/>
            <a:cxnLst/>
            <a:rect r="r" b="b" t="t" l="l"/>
            <a:pathLst>
              <a:path h="647700" w="438150">
                <a:moveTo>
                  <a:pt x="0" y="0"/>
                </a:moveTo>
                <a:lnTo>
                  <a:pt x="438150" y="0"/>
                </a:lnTo>
                <a:lnTo>
                  <a:pt x="4381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>
              <a:fillRect l="0" t="0" r="0" b="0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0">
            <a:off x="14363700" y="6210300"/>
            <a:ext cx="447675" cy="647700"/>
          </a:xfrm>
          <a:custGeom>
            <a:avLst/>
            <a:gdLst/>
            <a:ahLst/>
            <a:cxnLst/>
            <a:rect r="r" b="b" t="t" l="l"/>
            <a:pathLst>
              <a:path h="647700" w="447675">
                <a:moveTo>
                  <a:pt x="0" y="0"/>
                </a:moveTo>
                <a:lnTo>
                  <a:pt x="447675" y="0"/>
                </a:lnTo>
                <a:lnTo>
                  <a:pt x="44767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>
              <a:fillRect l="0" t="0" r="0" b="0"/>
            </a:stretch>
          </a:blipFill>
        </p:spPr>
      </p:sp>
      <p:sp>
        <p:nvSpPr>
          <p:cNvPr name="Freeform 30" id="30"/>
          <p:cNvSpPr/>
          <p:nvPr/>
        </p:nvSpPr>
        <p:spPr>
          <a:xfrm flipH="false" flipV="false" rot="0">
            <a:off x="16544925" y="6210300"/>
            <a:ext cx="438150" cy="647700"/>
          </a:xfrm>
          <a:custGeom>
            <a:avLst/>
            <a:gdLst/>
            <a:ahLst/>
            <a:cxnLst/>
            <a:rect r="r" b="b" t="t" l="l"/>
            <a:pathLst>
              <a:path h="647700" w="438150">
                <a:moveTo>
                  <a:pt x="0" y="0"/>
                </a:moveTo>
                <a:lnTo>
                  <a:pt x="438150" y="0"/>
                </a:lnTo>
                <a:lnTo>
                  <a:pt x="4381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>
              <a:fillRect l="0" t="0" r="0" b="0"/>
            </a:stretch>
          </a:blipFill>
        </p:spPr>
      </p:sp>
      <p:sp>
        <p:nvSpPr>
          <p:cNvPr name="Freeform 31" id="31"/>
          <p:cNvSpPr/>
          <p:nvPr/>
        </p:nvSpPr>
        <p:spPr>
          <a:xfrm flipH="false" flipV="false" rot="0">
            <a:off x="1304925" y="6429375"/>
            <a:ext cx="16335375" cy="219075"/>
          </a:xfrm>
          <a:custGeom>
            <a:avLst/>
            <a:gdLst/>
            <a:ahLst/>
            <a:cxnLst/>
            <a:rect r="r" b="b" t="t" l="l"/>
            <a:pathLst>
              <a:path h="219075" w="16335375">
                <a:moveTo>
                  <a:pt x="0" y="0"/>
                </a:moveTo>
                <a:lnTo>
                  <a:pt x="16335375" y="0"/>
                </a:lnTo>
                <a:lnTo>
                  <a:pt x="16335375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>
              <a:fillRect l="0" t="0" r="0" b="0"/>
            </a:stretch>
          </a:blipFill>
        </p:spPr>
      </p:sp>
      <p:sp>
        <p:nvSpPr>
          <p:cNvPr name="TextBox 32" id="32"/>
          <p:cNvSpPr txBox="true"/>
          <p:nvPr/>
        </p:nvSpPr>
        <p:spPr>
          <a:xfrm rot="0">
            <a:off x="1097280" y="6884590"/>
            <a:ext cx="841248" cy="6562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79"/>
              </a:lnSpc>
            </a:pPr>
            <a:r>
              <a:rPr lang="en-US" b="true" sz="1913" spc="-38">
                <a:solidFill>
                  <a:srgbClr val="FFFFFF"/>
                </a:solidFill>
                <a:latin typeface="Oswald Bold"/>
                <a:ea typeface="Oswald Bold"/>
                <a:cs typeface="Oswald Bold"/>
                <a:sym typeface="Oswald Bold"/>
              </a:rPr>
              <a:t>01 </a:t>
            </a:r>
          </a:p>
          <a:p>
            <a:pPr algn="ctr">
              <a:lnSpc>
                <a:spcPts val="2679"/>
              </a:lnSpc>
            </a:pPr>
            <a:r>
              <a:rPr lang="en-US" b="true" sz="1913" spc="-38">
                <a:solidFill>
                  <a:srgbClr val="FFFFFF"/>
                </a:solidFill>
                <a:latin typeface="Oswald Bold"/>
                <a:ea typeface="Oswald Bold"/>
                <a:cs typeface="Oswald Bold"/>
                <a:sym typeface="Oswald Bold"/>
              </a:rPr>
              <a:t>ARRIVAL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3090672" y="6857146"/>
            <a:ext cx="1188720" cy="701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3"/>
              </a:lnSpc>
            </a:pPr>
            <a:r>
              <a:rPr lang="en-US" b="true" sz="2002" spc="-40">
                <a:solidFill>
                  <a:srgbClr val="FFFFFF"/>
                </a:solidFill>
                <a:latin typeface="Oswald Bold"/>
                <a:ea typeface="Oswald Bold"/>
                <a:cs typeface="Oswald Bold"/>
                <a:sym typeface="Oswald Bold"/>
              </a:rPr>
              <a:t>02 </a:t>
            </a:r>
          </a:p>
          <a:p>
            <a:pPr algn="ctr">
              <a:lnSpc>
                <a:spcPts val="2803"/>
              </a:lnSpc>
            </a:pPr>
            <a:r>
              <a:rPr lang="en-US" b="true" sz="2002" spc="-40">
                <a:solidFill>
                  <a:srgbClr val="FFFFFF"/>
                </a:solidFill>
                <a:latin typeface="Oswald Bold"/>
                <a:ea typeface="Oswald Bold"/>
                <a:cs typeface="Oswald Bold"/>
                <a:sym typeface="Oswald Bold"/>
              </a:rPr>
              <a:t>INSPECTION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5486400" y="6857146"/>
            <a:ext cx="749808" cy="701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3"/>
              </a:lnSpc>
            </a:pPr>
            <a:r>
              <a:rPr lang="en-US" b="true" sz="2002" spc="-40">
                <a:solidFill>
                  <a:srgbClr val="FFFFFF"/>
                </a:solidFill>
                <a:latin typeface="Oswald Bold"/>
                <a:ea typeface="Oswald Bold"/>
                <a:cs typeface="Oswald Bold"/>
                <a:sym typeface="Oswald Bold"/>
              </a:rPr>
              <a:t>03 </a:t>
            </a:r>
          </a:p>
          <a:p>
            <a:pPr algn="ctr">
              <a:lnSpc>
                <a:spcPts val="2803"/>
              </a:lnSpc>
            </a:pPr>
            <a:r>
              <a:rPr lang="en-US" b="true" sz="2002" spc="-40">
                <a:solidFill>
                  <a:srgbClr val="FFFFFF"/>
                </a:solidFill>
                <a:latin typeface="Oswald Bold"/>
                <a:ea typeface="Oswald Bold"/>
                <a:cs typeface="Oswald Bold"/>
                <a:sym typeface="Oswald Bold"/>
              </a:rPr>
              <a:t>DESIGN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7351776" y="6857146"/>
            <a:ext cx="1353312" cy="701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3"/>
              </a:lnSpc>
            </a:pPr>
            <a:r>
              <a:rPr lang="en-US" b="true" sz="2002" spc="-40">
                <a:solidFill>
                  <a:srgbClr val="FFFFFF"/>
                </a:solidFill>
                <a:latin typeface="Oswald Bold"/>
                <a:ea typeface="Oswald Bold"/>
                <a:cs typeface="Oswald Bold"/>
                <a:sym typeface="Oswald Bold"/>
              </a:rPr>
              <a:t>04 </a:t>
            </a:r>
          </a:p>
          <a:p>
            <a:pPr algn="ctr">
              <a:lnSpc>
                <a:spcPts val="2803"/>
              </a:lnSpc>
            </a:pPr>
            <a:r>
              <a:rPr lang="en-US" b="true" sz="2002" spc="-40">
                <a:solidFill>
                  <a:srgbClr val="FFFFFF"/>
                </a:solidFill>
                <a:latin typeface="Oswald Bold"/>
                <a:ea typeface="Oswald Bold"/>
                <a:cs typeface="Oswald Bold"/>
                <a:sym typeface="Oswald Bold"/>
              </a:rPr>
              <a:t>FABRICATION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9784080" y="6893549"/>
            <a:ext cx="749808" cy="6383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16"/>
              </a:lnSpc>
            </a:pPr>
            <a:r>
              <a:rPr lang="en-US" b="true" sz="1869" spc="-37">
                <a:solidFill>
                  <a:srgbClr val="FFFFFF"/>
                </a:solidFill>
                <a:latin typeface="Oswald Bold"/>
                <a:ea typeface="Oswald Bold"/>
                <a:cs typeface="Oswald Bold"/>
                <a:sym typeface="Oswald Bold"/>
              </a:rPr>
              <a:t>05 </a:t>
            </a:r>
          </a:p>
          <a:p>
            <a:pPr algn="ctr">
              <a:lnSpc>
                <a:spcPts val="2616"/>
              </a:lnSpc>
            </a:pPr>
            <a:r>
              <a:rPr lang="en-US" b="true" sz="1869" spc="-37">
                <a:solidFill>
                  <a:srgbClr val="FFFFFF"/>
                </a:solidFill>
                <a:latin typeface="Oswald Bold"/>
                <a:ea typeface="Oswald Bold"/>
                <a:cs typeface="Oswald Bold"/>
                <a:sym typeface="Oswald Bold"/>
              </a:rPr>
              <a:t>TEST FIT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2088368" y="6857146"/>
            <a:ext cx="749808" cy="701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3"/>
              </a:lnSpc>
            </a:pPr>
            <a:r>
              <a:rPr lang="en-US" b="true" sz="2002" spc="-40">
                <a:solidFill>
                  <a:srgbClr val="FFFFFF"/>
                </a:solidFill>
                <a:latin typeface="Oswald Bold"/>
                <a:ea typeface="Oswald Bold"/>
                <a:cs typeface="Oswald Bold"/>
                <a:sym typeface="Oswald Bold"/>
              </a:rPr>
              <a:t>06 </a:t>
            </a:r>
          </a:p>
          <a:p>
            <a:pPr algn="ctr">
              <a:lnSpc>
                <a:spcPts val="2803"/>
              </a:lnSpc>
            </a:pPr>
            <a:r>
              <a:rPr lang="en-US" b="true" sz="2002" spc="-40">
                <a:solidFill>
                  <a:srgbClr val="FFFFFF"/>
                </a:solidFill>
                <a:latin typeface="Oswald Bold"/>
                <a:ea typeface="Oswald Bold"/>
                <a:cs typeface="Oswald Bold"/>
                <a:sym typeface="Oswald Bold"/>
              </a:rPr>
              <a:t>FINISH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3935456" y="6875347"/>
            <a:ext cx="1353312" cy="6747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10"/>
              </a:lnSpc>
            </a:pPr>
            <a:r>
              <a:rPr lang="en-US" b="true" sz="1935" spc="-38">
                <a:solidFill>
                  <a:srgbClr val="FFFFFF"/>
                </a:solidFill>
                <a:latin typeface="Oswald Bold"/>
                <a:ea typeface="Oswald Bold"/>
                <a:cs typeface="Oswald Bold"/>
                <a:sym typeface="Oswald Bold"/>
              </a:rPr>
              <a:t>07 </a:t>
            </a:r>
          </a:p>
          <a:p>
            <a:pPr algn="ctr">
              <a:lnSpc>
                <a:spcPts val="2710"/>
              </a:lnSpc>
            </a:pPr>
            <a:r>
              <a:rPr lang="en-US" b="true" sz="1935" spc="-38">
                <a:solidFill>
                  <a:srgbClr val="FFFFFF"/>
                </a:solidFill>
                <a:latin typeface="Oswald Bold"/>
                <a:ea typeface="Oswald Bold"/>
                <a:cs typeface="Oswald Bold"/>
                <a:sym typeface="Oswald Bold"/>
              </a:rPr>
              <a:t>INSTALLATION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6130016" y="6884590"/>
            <a:ext cx="1225296" cy="6562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79"/>
              </a:lnSpc>
            </a:pPr>
            <a:r>
              <a:rPr lang="en-US" b="true" sz="1913" spc="-38">
                <a:solidFill>
                  <a:srgbClr val="FFFFFF"/>
                </a:solidFill>
                <a:latin typeface="Oswald Bold"/>
                <a:ea typeface="Oswald Bold"/>
                <a:cs typeface="Oswald Bold"/>
                <a:sym typeface="Oswald Bold"/>
              </a:rPr>
              <a:t>08 </a:t>
            </a:r>
          </a:p>
          <a:p>
            <a:pPr algn="ctr">
              <a:lnSpc>
                <a:spcPts val="2679"/>
              </a:lnSpc>
            </a:pPr>
            <a:r>
              <a:rPr lang="en-US" b="true" sz="1913" spc="-38">
                <a:solidFill>
                  <a:srgbClr val="FFFFFF"/>
                </a:solidFill>
                <a:latin typeface="Oswald Bold"/>
                <a:ea typeface="Oswald Bold"/>
                <a:cs typeface="Oswald Bold"/>
                <a:sym typeface="Oswald Bold"/>
              </a:rPr>
              <a:t>COMPLETION</a:t>
            </a:r>
          </a:p>
        </p:txBody>
      </p:sp>
      <p:sp>
        <p:nvSpPr>
          <p:cNvPr name="Freeform 40" id="40"/>
          <p:cNvSpPr/>
          <p:nvPr/>
        </p:nvSpPr>
        <p:spPr>
          <a:xfrm flipH="false" flipV="false" rot="0">
            <a:off x="2390775" y="8353425"/>
            <a:ext cx="447675" cy="438150"/>
          </a:xfrm>
          <a:custGeom>
            <a:avLst/>
            <a:gdLst/>
            <a:ahLst/>
            <a:cxnLst/>
            <a:rect r="r" b="b" t="t" l="l"/>
            <a:pathLst>
              <a:path h="438150" w="447675">
                <a:moveTo>
                  <a:pt x="0" y="0"/>
                </a:moveTo>
                <a:lnTo>
                  <a:pt x="447675" y="0"/>
                </a:lnTo>
                <a:lnTo>
                  <a:pt x="447675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>
              <a:fillRect l="0" t="0" r="0" b="0"/>
            </a:stretch>
          </a:blipFill>
        </p:spPr>
      </p:sp>
      <p:sp>
        <p:nvSpPr>
          <p:cNvPr name="Freeform 41" id="41"/>
          <p:cNvSpPr/>
          <p:nvPr/>
        </p:nvSpPr>
        <p:spPr>
          <a:xfrm flipH="false" flipV="false" rot="0">
            <a:off x="4133850" y="8353425"/>
            <a:ext cx="228600" cy="438150"/>
          </a:xfrm>
          <a:custGeom>
            <a:avLst/>
            <a:gdLst/>
            <a:ahLst/>
            <a:cxnLst/>
            <a:rect r="r" b="b" t="t" l="l"/>
            <a:pathLst>
              <a:path h="438150" w="228600">
                <a:moveTo>
                  <a:pt x="0" y="0"/>
                </a:moveTo>
                <a:lnTo>
                  <a:pt x="228600" y="0"/>
                </a:lnTo>
                <a:lnTo>
                  <a:pt x="228600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>
              <a:fillRect l="0" t="0" r="0" b="0"/>
            </a:stretch>
          </a:blipFill>
        </p:spPr>
      </p:sp>
      <p:sp>
        <p:nvSpPr>
          <p:cNvPr name="Freeform 42" id="42"/>
          <p:cNvSpPr/>
          <p:nvPr/>
        </p:nvSpPr>
        <p:spPr>
          <a:xfrm flipH="false" flipV="false" rot="0">
            <a:off x="5657850" y="8353425"/>
            <a:ext cx="438150" cy="438150"/>
          </a:xfrm>
          <a:custGeom>
            <a:avLst/>
            <a:gdLst/>
            <a:ahLst/>
            <a:cxnLst/>
            <a:rect r="r" b="b" t="t" l="l"/>
            <a:pathLst>
              <a:path h="438150" w="438150">
                <a:moveTo>
                  <a:pt x="0" y="0"/>
                </a:moveTo>
                <a:lnTo>
                  <a:pt x="438150" y="0"/>
                </a:lnTo>
                <a:lnTo>
                  <a:pt x="438150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>
              <a:fillRect l="0" t="0" r="0" b="0"/>
            </a:stretch>
          </a:blipFill>
        </p:spPr>
      </p:sp>
      <p:sp>
        <p:nvSpPr>
          <p:cNvPr name="Freeform 43" id="43"/>
          <p:cNvSpPr/>
          <p:nvPr/>
        </p:nvSpPr>
        <p:spPr>
          <a:xfrm flipH="false" flipV="false" rot="0">
            <a:off x="0" y="9210675"/>
            <a:ext cx="18288000" cy="219075"/>
          </a:xfrm>
          <a:custGeom>
            <a:avLst/>
            <a:gdLst/>
            <a:ahLst/>
            <a:cxnLst/>
            <a:rect r="r" b="b" t="t" l="l"/>
            <a:pathLst>
              <a:path h="219075" w="18288000">
                <a:moveTo>
                  <a:pt x="0" y="0"/>
                </a:moveTo>
                <a:lnTo>
                  <a:pt x="18288000" y="0"/>
                </a:lnTo>
                <a:lnTo>
                  <a:pt x="18288000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>
              <a:fillRect l="0" t="0" r="0" b="0"/>
            </a:stretch>
          </a:blipFill>
        </p:spPr>
      </p:sp>
      <p:sp>
        <p:nvSpPr>
          <p:cNvPr name="Freeform 44" id="44"/>
          <p:cNvSpPr/>
          <p:nvPr/>
        </p:nvSpPr>
        <p:spPr>
          <a:xfrm flipH="false" flipV="false" rot="0">
            <a:off x="209550" y="9639300"/>
            <a:ext cx="447675" cy="438150"/>
          </a:xfrm>
          <a:custGeom>
            <a:avLst/>
            <a:gdLst/>
            <a:ahLst/>
            <a:cxnLst/>
            <a:rect r="r" b="b" t="t" l="l"/>
            <a:pathLst>
              <a:path h="438150" w="447675">
                <a:moveTo>
                  <a:pt x="0" y="0"/>
                </a:moveTo>
                <a:lnTo>
                  <a:pt x="447675" y="0"/>
                </a:lnTo>
                <a:lnTo>
                  <a:pt x="447675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35"/>
            <a:stretch>
              <a:fillRect l="0" t="0" r="0" b="0"/>
            </a:stretch>
          </a:blipFill>
        </p:spPr>
      </p:sp>
      <p:sp>
        <p:nvSpPr>
          <p:cNvPr name="TextBox 45" id="45"/>
          <p:cNvSpPr txBox="true"/>
          <p:nvPr/>
        </p:nvSpPr>
        <p:spPr>
          <a:xfrm rot="0">
            <a:off x="1024128" y="9710928"/>
            <a:ext cx="2688336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01"/>
              </a:lnSpc>
            </a:pPr>
            <a:r>
              <a:rPr lang="en-US" b="true" sz="1584" spc="475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METAL WROX, INC.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7845552" y="9725215"/>
            <a:ext cx="2395728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64"/>
              </a:lnSpc>
            </a:pPr>
            <a:r>
              <a:rPr lang="en-US" b="true" sz="1387" spc="416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PROJECT TIMELINE</a:t>
            </a:r>
          </a:p>
        </p:txBody>
      </p:sp>
      <p:sp>
        <p:nvSpPr>
          <p:cNvPr name="Freeform 47" id="47"/>
          <p:cNvSpPr/>
          <p:nvPr/>
        </p:nvSpPr>
        <p:spPr>
          <a:xfrm flipH="false" flipV="false" rot="0">
            <a:off x="17630775" y="9639300"/>
            <a:ext cx="447675" cy="438150"/>
          </a:xfrm>
          <a:custGeom>
            <a:avLst/>
            <a:gdLst/>
            <a:ahLst/>
            <a:cxnLst/>
            <a:rect r="r" b="b" t="t" l="l"/>
            <a:pathLst>
              <a:path h="438150" w="447675">
                <a:moveTo>
                  <a:pt x="0" y="0"/>
                </a:moveTo>
                <a:lnTo>
                  <a:pt x="447675" y="0"/>
                </a:lnTo>
                <a:lnTo>
                  <a:pt x="447675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36"/>
            <a:stretch>
              <a:fillRect l="0" t="0" r="0" b="0"/>
            </a:stretch>
          </a:blipFill>
        </p:spPr>
      </p:sp>
      <p:sp>
        <p:nvSpPr>
          <p:cNvPr name="TextBox 48" id="48"/>
          <p:cNvSpPr txBox="true"/>
          <p:nvPr/>
        </p:nvSpPr>
        <p:spPr>
          <a:xfrm rot="0">
            <a:off x="16349472" y="9720453"/>
            <a:ext cx="914400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783"/>
              </a:lnSpc>
            </a:pPr>
            <a:r>
              <a:rPr lang="en-US" b="true" sz="1485" spc="445">
                <a:solidFill>
                  <a:srgbClr val="FFFFFF"/>
                </a:solidFill>
                <a:latin typeface="Barlow Medium"/>
                <a:ea typeface="Barlow Medium"/>
                <a:cs typeface="Barlow Medium"/>
                <a:sym typeface="Barlow Medium"/>
              </a:rPr>
              <a:t>05 / 18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731520" y="955548"/>
            <a:ext cx="4169664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b="true" sz="1399" spc="419">
                <a:solidFill>
                  <a:srgbClr val="D80000"/>
                </a:solidFill>
                <a:latin typeface="Barlow Bold"/>
                <a:ea typeface="Barlow Bold"/>
                <a:cs typeface="Barlow Bold"/>
                <a:sym typeface="Barlow Bold"/>
              </a:rPr>
              <a:t>SECTION 03 • PROJECT TIMELINE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731520" y="8516493"/>
            <a:ext cx="5376672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b="true" sz="1399" spc="419">
                <a:solidFill>
                  <a:srgbClr val="D80000"/>
                </a:solidFill>
                <a:latin typeface="Barlow Bold"/>
                <a:ea typeface="Barlow Bold"/>
                <a:cs typeface="Barlow Bold"/>
                <a:sym typeface="Barlow Bold"/>
              </a:rPr>
              <a:t>CURRENT PHASE • </a:t>
            </a:r>
            <a:r>
              <a:rPr lang="en-US" b="true" sz="1399" spc="419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COMPLETED • </a:t>
            </a:r>
            <a:r>
              <a:rPr lang="en-US" b="true" sz="1399" spc="419">
                <a:solidFill>
                  <a:srgbClr val="D80000"/>
                </a:solidFill>
                <a:latin typeface="Barlow Bold"/>
                <a:ea typeface="Barlow Bold"/>
                <a:cs typeface="Barlow Bold"/>
                <a:sym typeface="Barlow Bold"/>
              </a:rPr>
              <a:t>•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1024128" y="3555111"/>
            <a:ext cx="987552" cy="152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71"/>
              </a:lnSpc>
            </a:pPr>
            <a:r>
              <a:rPr lang="en-US" b="true" sz="1059" spc="317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COMPLETE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1243584" y="3846957"/>
            <a:ext cx="58521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15"/>
              </a:lnSpc>
            </a:pPr>
            <a:r>
              <a:rPr lang="en-US" b="true" sz="1762" spc="-35">
                <a:solidFill>
                  <a:srgbClr val="FFFFFF"/>
                </a:solidFill>
                <a:latin typeface="Oswald Bold"/>
                <a:ea typeface="Oswald Bold"/>
                <a:cs typeface="Oswald Bold"/>
                <a:sym typeface="Oswald Bold"/>
              </a:rPr>
              <a:t>Arrival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3200400" y="3555111"/>
            <a:ext cx="987552" cy="152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71"/>
              </a:lnSpc>
            </a:pPr>
            <a:r>
              <a:rPr lang="en-US" b="true" sz="1059" spc="317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COMPLETE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3236976" y="3846957"/>
            <a:ext cx="932688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15"/>
              </a:lnSpc>
            </a:pPr>
            <a:r>
              <a:rPr lang="en-US" b="true" sz="1762" spc="-35">
                <a:solidFill>
                  <a:srgbClr val="FFFFFF"/>
                </a:solidFill>
                <a:latin typeface="Oswald Bold"/>
                <a:ea typeface="Oswald Bold"/>
                <a:cs typeface="Oswald Bold"/>
                <a:sym typeface="Oswald Bold"/>
              </a:rPr>
              <a:t>Inspection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5376672" y="3555111"/>
            <a:ext cx="987552" cy="152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71"/>
              </a:lnSpc>
            </a:pPr>
            <a:r>
              <a:rPr lang="en-US" b="true" sz="1059" spc="317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COMPLETE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5596128" y="3851719"/>
            <a:ext cx="530352" cy="23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b="true" sz="1575" spc="-31">
                <a:solidFill>
                  <a:srgbClr val="FFFFFF"/>
                </a:solidFill>
                <a:latin typeface="Oswald Bold"/>
                <a:ea typeface="Oswald Bold"/>
                <a:cs typeface="Oswald Bold"/>
                <a:sym typeface="Oswald Bold"/>
              </a:rPr>
              <a:t>Design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7552944" y="3555111"/>
            <a:ext cx="987552" cy="152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71"/>
              </a:lnSpc>
            </a:pPr>
            <a:r>
              <a:rPr lang="en-US" b="true" sz="1059" spc="317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COMPLETE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7589520" y="3846957"/>
            <a:ext cx="932688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b="true" sz="1650" spc="-33">
                <a:solidFill>
                  <a:srgbClr val="FFFFFF"/>
                </a:solidFill>
                <a:latin typeface="Oswald Bold"/>
                <a:ea typeface="Oswald Bold"/>
                <a:cs typeface="Oswald Bold"/>
                <a:sym typeface="Oswald Bold"/>
              </a:rPr>
              <a:t>Fabrication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9729216" y="3555111"/>
            <a:ext cx="987552" cy="152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71"/>
              </a:lnSpc>
            </a:pPr>
            <a:r>
              <a:rPr lang="en-US" b="true" sz="1059" spc="317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COMPLETE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9875520" y="3846957"/>
            <a:ext cx="64008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15"/>
              </a:lnSpc>
            </a:pPr>
            <a:r>
              <a:rPr lang="en-US" b="true" sz="1762" spc="-35">
                <a:solidFill>
                  <a:srgbClr val="FFFFFF"/>
                </a:solidFill>
                <a:latin typeface="Oswald Bold"/>
                <a:ea typeface="Oswald Bold"/>
                <a:cs typeface="Oswald Bold"/>
                <a:sym typeface="Oswald Bold"/>
              </a:rPr>
              <a:t>Test Fit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11942064" y="3555111"/>
            <a:ext cx="987552" cy="152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71"/>
              </a:lnSpc>
            </a:pPr>
            <a:r>
              <a:rPr lang="en-US" b="true" sz="1059" spc="317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COMPLETE</a:t>
            </a:r>
          </a:p>
        </p:txBody>
      </p:sp>
      <p:sp>
        <p:nvSpPr>
          <p:cNvPr name="TextBox 62" id="62"/>
          <p:cNvSpPr txBox="true"/>
          <p:nvPr/>
        </p:nvSpPr>
        <p:spPr>
          <a:xfrm rot="0">
            <a:off x="12179808" y="3846957"/>
            <a:ext cx="530352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15"/>
              </a:lnSpc>
            </a:pPr>
            <a:r>
              <a:rPr lang="en-US" b="true" sz="1762" spc="-35">
                <a:solidFill>
                  <a:srgbClr val="FFFFFF"/>
                </a:solidFill>
                <a:latin typeface="Oswald Bold"/>
                <a:ea typeface="Oswald Bold"/>
                <a:cs typeface="Oswald Bold"/>
                <a:sym typeface="Oswald Bold"/>
              </a:rPr>
              <a:t>Finish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14026896" y="3555111"/>
            <a:ext cx="1225296" cy="152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31"/>
              </a:lnSpc>
            </a:pPr>
            <a:r>
              <a:rPr lang="en-US" b="true" sz="1026" spc="307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IN PROGRESS</a:t>
            </a:r>
          </a:p>
        </p:txBody>
      </p:sp>
      <p:sp>
        <p:nvSpPr>
          <p:cNvPr name="TextBox 64" id="64"/>
          <p:cNvSpPr txBox="true"/>
          <p:nvPr/>
        </p:nvSpPr>
        <p:spPr>
          <a:xfrm rot="0">
            <a:off x="14154912" y="3851719"/>
            <a:ext cx="932688" cy="23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34"/>
              </a:lnSpc>
            </a:pPr>
            <a:r>
              <a:rPr lang="en-US" b="true" sz="1612" spc="-32">
                <a:solidFill>
                  <a:srgbClr val="FFFFFF"/>
                </a:solidFill>
                <a:latin typeface="Oswald Bold"/>
                <a:ea typeface="Oswald Bold"/>
                <a:cs typeface="Oswald Bold"/>
                <a:sym typeface="Oswald Bold"/>
              </a:rPr>
              <a:t>Installation</a:t>
            </a:r>
          </a:p>
        </p:txBody>
      </p:sp>
      <p:sp>
        <p:nvSpPr>
          <p:cNvPr name="TextBox 65" id="65"/>
          <p:cNvSpPr txBox="true"/>
          <p:nvPr/>
        </p:nvSpPr>
        <p:spPr>
          <a:xfrm rot="0">
            <a:off x="16349472" y="3555111"/>
            <a:ext cx="786384" cy="14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13"/>
              </a:lnSpc>
            </a:pPr>
            <a:r>
              <a:rPr lang="en-US" b="true" sz="928" spc="278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PLANNED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16276320" y="3851719"/>
            <a:ext cx="932688" cy="23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34"/>
              </a:lnSpc>
            </a:pPr>
            <a:r>
              <a:rPr lang="en-US" b="true" sz="1612" spc="-32">
                <a:solidFill>
                  <a:srgbClr val="FFFFFF"/>
                </a:solidFill>
                <a:latin typeface="Oswald Bold"/>
                <a:ea typeface="Oswald Bold"/>
                <a:cs typeface="Oswald Bold"/>
                <a:sym typeface="Oswald Bold"/>
              </a:rPr>
              <a:t>Completion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1042416" y="7686103"/>
            <a:ext cx="987552" cy="171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5"/>
              </a:lnSpc>
            </a:pPr>
            <a:r>
              <a:rPr lang="en-US" b="true" sz="1162" spc="174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Q1 • Stage 1</a:t>
            </a:r>
          </a:p>
        </p:txBody>
      </p:sp>
      <p:sp>
        <p:nvSpPr>
          <p:cNvPr name="TextBox 68" id="68"/>
          <p:cNvSpPr txBox="true"/>
          <p:nvPr/>
        </p:nvSpPr>
        <p:spPr>
          <a:xfrm rot="0">
            <a:off x="3127248" y="7686103"/>
            <a:ext cx="987552" cy="171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50"/>
              </a:lnSpc>
            </a:pPr>
            <a:r>
              <a:rPr lang="en-US" b="true" sz="1125" spc="168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Q1 • Stage 2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5321808" y="7681341"/>
            <a:ext cx="987552" cy="171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05"/>
              </a:lnSpc>
            </a:pPr>
            <a:r>
              <a:rPr lang="en-US" b="true" sz="1087" spc="163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Q2 • Stage 3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7443216" y="7681341"/>
            <a:ext cx="987552" cy="171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05"/>
              </a:lnSpc>
            </a:pPr>
            <a:r>
              <a:rPr lang="en-US" b="true" sz="1087" spc="163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Q2 • Stage 4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9692640" y="7681341"/>
            <a:ext cx="987552" cy="171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05"/>
              </a:lnSpc>
            </a:pPr>
            <a:r>
              <a:rPr lang="en-US" b="true" sz="1087" spc="163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Q3 • Stage 5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11887200" y="7681341"/>
            <a:ext cx="987552" cy="171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05"/>
              </a:lnSpc>
            </a:pPr>
            <a:r>
              <a:rPr lang="en-US" b="true" sz="1087" spc="163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Q3 • Stage 6</a:t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14063472" y="7681341"/>
            <a:ext cx="987552" cy="171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05"/>
              </a:lnSpc>
            </a:pPr>
            <a:r>
              <a:rPr lang="en-US" b="true" sz="1087" spc="163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Q4 • Stage 7</a:t>
            </a:r>
          </a:p>
        </p:txBody>
      </p:sp>
      <p:sp>
        <p:nvSpPr>
          <p:cNvPr name="TextBox 74" id="74"/>
          <p:cNvSpPr txBox="true"/>
          <p:nvPr/>
        </p:nvSpPr>
        <p:spPr>
          <a:xfrm rot="0">
            <a:off x="16203168" y="7681341"/>
            <a:ext cx="987552" cy="171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05"/>
              </a:lnSpc>
            </a:pPr>
            <a:r>
              <a:rPr lang="en-US" b="true" sz="1087" spc="163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Q4 • Stage 8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0"/>
            <a:ext cx="438150" cy="10287000"/>
          </a:xfrm>
          <a:custGeom>
            <a:avLst/>
            <a:gdLst/>
            <a:ahLst/>
            <a:cxnLst/>
            <a:rect r="r" b="b" t="t" l="l"/>
            <a:pathLst>
              <a:path h="10287000" w="438150">
                <a:moveTo>
                  <a:pt x="0" y="0"/>
                </a:moveTo>
                <a:lnTo>
                  <a:pt x="438150" y="0"/>
                </a:lnTo>
                <a:lnTo>
                  <a:pt x="43815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647700" y="638175"/>
            <a:ext cx="447675" cy="438150"/>
          </a:xfrm>
          <a:custGeom>
            <a:avLst/>
            <a:gdLst/>
            <a:ahLst/>
            <a:cxnLst/>
            <a:rect r="r" b="b" t="t" l="l"/>
            <a:pathLst>
              <a:path h="438150" w="447675">
                <a:moveTo>
                  <a:pt x="0" y="0"/>
                </a:moveTo>
                <a:lnTo>
                  <a:pt x="447675" y="0"/>
                </a:lnTo>
                <a:lnTo>
                  <a:pt x="447675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822960" y="1027557"/>
            <a:ext cx="2176272" cy="485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5"/>
              </a:lnSpc>
            </a:pPr>
            <a:r>
              <a:rPr lang="en-US" sz="3204" spc="384">
                <a:solidFill>
                  <a:srgbClr val="C81B1B"/>
                </a:solidFill>
                <a:latin typeface="Norwester"/>
                <a:ea typeface="Norwester"/>
                <a:cs typeface="Norwester"/>
                <a:sym typeface="Norwester"/>
              </a:rPr>
              <a:t>PHASE 03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86384" y="1492186"/>
            <a:ext cx="3712464" cy="4514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593"/>
              </a:lnSpc>
            </a:pPr>
            <a:r>
              <a:rPr lang="en-US" sz="29661" spc="-593">
                <a:solidFill>
                  <a:srgbClr val="C81B1B"/>
                </a:solidFill>
                <a:latin typeface="Norwester"/>
                <a:ea typeface="Norwester"/>
                <a:cs typeface="Norwester"/>
                <a:sym typeface="Norwester"/>
              </a:rPr>
              <a:t>03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5285232" y="2346579"/>
            <a:ext cx="8010144" cy="542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91"/>
              </a:lnSpc>
            </a:pPr>
            <a:r>
              <a:rPr lang="en-US" sz="3576" spc="-71">
                <a:solidFill>
                  <a:srgbClr val="FFFFFF"/>
                </a:solidFill>
                <a:latin typeface="Norwester"/>
                <a:ea typeface="Norwester"/>
                <a:cs typeface="Norwester"/>
                <a:sym typeface="Norwester"/>
              </a:rPr>
              <a:t>Wall Supports &amp; Overhead Reinforcement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5285232" y="3090776"/>
            <a:ext cx="7516368" cy="6836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41"/>
              </a:lnSpc>
            </a:pPr>
            <a:r>
              <a:rPr lang="en-US" sz="1958" spc="-39">
                <a:solidFill>
                  <a:srgbClr val="FFFFFF"/>
                </a:solidFill>
                <a:latin typeface="Barlow"/>
                <a:ea typeface="Barlow"/>
                <a:cs typeface="Barlow"/>
                <a:sym typeface="Barlow"/>
              </a:rPr>
              <a:t>Full-length wall supports are fabricated and tied into the corner posts, while overhead reinforcement locks the top plane against roof deflection.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5219700" y="4067175"/>
            <a:ext cx="1971675" cy="219075"/>
          </a:xfrm>
          <a:custGeom>
            <a:avLst/>
            <a:gdLst/>
            <a:ahLst/>
            <a:cxnLst/>
            <a:rect r="r" b="b" t="t" l="l"/>
            <a:pathLst>
              <a:path h="219075" w="1971675">
                <a:moveTo>
                  <a:pt x="0" y="0"/>
                </a:moveTo>
                <a:lnTo>
                  <a:pt x="1971675" y="0"/>
                </a:lnTo>
                <a:lnTo>
                  <a:pt x="1971675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866775" y="5353050"/>
            <a:ext cx="3057525" cy="3009900"/>
          </a:xfrm>
          <a:custGeom>
            <a:avLst/>
            <a:gdLst/>
            <a:ahLst/>
            <a:cxnLst/>
            <a:rect r="r" b="b" t="t" l="l"/>
            <a:pathLst>
              <a:path h="3009900" w="3057525">
                <a:moveTo>
                  <a:pt x="0" y="0"/>
                </a:moveTo>
                <a:lnTo>
                  <a:pt x="3057525" y="0"/>
                </a:lnTo>
                <a:lnTo>
                  <a:pt x="3057525" y="3009900"/>
                </a:lnTo>
                <a:lnTo>
                  <a:pt x="0" y="300990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866775" y="8572500"/>
            <a:ext cx="3924300" cy="219075"/>
          </a:xfrm>
          <a:custGeom>
            <a:avLst/>
            <a:gdLst/>
            <a:ahLst/>
            <a:cxnLst/>
            <a:rect r="r" b="b" t="t" l="l"/>
            <a:pathLst>
              <a:path h="219075" w="3924300">
                <a:moveTo>
                  <a:pt x="0" y="0"/>
                </a:moveTo>
                <a:lnTo>
                  <a:pt x="3924300" y="0"/>
                </a:lnTo>
                <a:lnTo>
                  <a:pt x="3924300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3914775" y="5353050"/>
            <a:ext cx="3276600" cy="3009900"/>
          </a:xfrm>
          <a:custGeom>
            <a:avLst/>
            <a:gdLst/>
            <a:ahLst/>
            <a:cxnLst/>
            <a:rect r="r" b="b" t="t" l="l"/>
            <a:pathLst>
              <a:path h="3009900" w="3276600">
                <a:moveTo>
                  <a:pt x="0" y="0"/>
                </a:moveTo>
                <a:lnTo>
                  <a:pt x="3276600" y="0"/>
                </a:lnTo>
                <a:lnTo>
                  <a:pt x="3276600" y="3009900"/>
                </a:lnTo>
                <a:lnTo>
                  <a:pt x="0" y="30099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969264" y="9052560"/>
            <a:ext cx="1719072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82"/>
              </a:lnSpc>
            </a:pPr>
            <a:r>
              <a:rPr lang="en-US" sz="1735" spc="-34">
                <a:solidFill>
                  <a:srgbClr val="FFFFFF"/>
                </a:solidFill>
                <a:latin typeface="Norwester"/>
                <a:ea typeface="Norwester"/>
                <a:cs typeface="Norwester"/>
                <a:sym typeface="Norwester"/>
              </a:rPr>
              <a:t>50% • Stage 4 of 8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4572000" y="8572500"/>
            <a:ext cx="3267075" cy="219075"/>
          </a:xfrm>
          <a:custGeom>
            <a:avLst/>
            <a:gdLst/>
            <a:ahLst/>
            <a:cxnLst/>
            <a:rect r="r" b="b" t="t" l="l"/>
            <a:pathLst>
              <a:path h="219075" w="3267075">
                <a:moveTo>
                  <a:pt x="0" y="0"/>
                </a:moveTo>
                <a:lnTo>
                  <a:pt x="3267075" y="0"/>
                </a:lnTo>
                <a:lnTo>
                  <a:pt x="3267075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7181850" y="5353050"/>
            <a:ext cx="3057525" cy="3009900"/>
          </a:xfrm>
          <a:custGeom>
            <a:avLst/>
            <a:gdLst/>
            <a:ahLst/>
            <a:cxnLst/>
            <a:rect r="r" b="b" t="t" l="l"/>
            <a:pathLst>
              <a:path h="3009900" w="3057525">
                <a:moveTo>
                  <a:pt x="0" y="0"/>
                </a:moveTo>
                <a:lnTo>
                  <a:pt x="3057525" y="0"/>
                </a:lnTo>
                <a:lnTo>
                  <a:pt x="3057525" y="3009900"/>
                </a:lnTo>
                <a:lnTo>
                  <a:pt x="0" y="300990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647700" y="9429750"/>
            <a:ext cx="17640300" cy="219075"/>
          </a:xfrm>
          <a:custGeom>
            <a:avLst/>
            <a:gdLst/>
            <a:ahLst/>
            <a:cxnLst/>
            <a:rect r="r" b="b" t="t" l="l"/>
            <a:pathLst>
              <a:path h="219075" w="17640300">
                <a:moveTo>
                  <a:pt x="0" y="0"/>
                </a:moveTo>
                <a:lnTo>
                  <a:pt x="17640300" y="0"/>
                </a:lnTo>
                <a:lnTo>
                  <a:pt x="17640300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969264" y="8279892"/>
            <a:ext cx="1078992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399" spc="279">
                <a:solidFill>
                  <a:srgbClr val="FFFFFF"/>
                </a:solidFill>
                <a:latin typeface="Norwester"/>
                <a:ea typeface="Norwester"/>
                <a:cs typeface="Norwester"/>
                <a:sym typeface="Norwester"/>
              </a:rPr>
              <a:t>PROGRESS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822960" y="9792081"/>
            <a:ext cx="2048256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399" spc="279">
                <a:solidFill>
                  <a:srgbClr val="FFFFFF"/>
                </a:solidFill>
                <a:latin typeface="Norwester"/>
                <a:ea typeface="Norwester"/>
                <a:cs typeface="Norwester"/>
                <a:sym typeface="Norwester"/>
              </a:rPr>
              <a:t>METAL WROX, INC.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766560" y="9792081"/>
            <a:ext cx="4425696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399" spc="279">
                <a:solidFill>
                  <a:srgbClr val="FFFFFF"/>
                </a:solidFill>
                <a:latin typeface="Norwester"/>
                <a:ea typeface="Norwester"/>
                <a:cs typeface="Norwester"/>
                <a:sym typeface="Norwester"/>
              </a:rPr>
              <a:t>PHASE 3 • WALL SUPPORTS &amp; OVERHEAD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6879824" y="9796843"/>
            <a:ext cx="713232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48"/>
              </a:lnSpc>
            </a:pPr>
            <a:r>
              <a:rPr lang="en-US" sz="1373" spc="274">
                <a:solidFill>
                  <a:srgbClr val="FFFFFF"/>
                </a:solidFill>
                <a:latin typeface="Norwester"/>
                <a:ea typeface="Norwester"/>
                <a:cs typeface="Norwester"/>
                <a:sym typeface="Norwester"/>
              </a:rPr>
              <a:t>10 / 18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47700" y="1285875"/>
            <a:ext cx="17211675" cy="8143875"/>
          </a:xfrm>
          <a:custGeom>
            <a:avLst/>
            <a:gdLst/>
            <a:ahLst/>
            <a:cxnLst/>
            <a:rect r="r" b="b" t="t" l="l"/>
            <a:pathLst>
              <a:path h="8143875" w="17211675">
                <a:moveTo>
                  <a:pt x="0" y="0"/>
                </a:moveTo>
                <a:lnTo>
                  <a:pt x="17211675" y="0"/>
                </a:lnTo>
                <a:lnTo>
                  <a:pt x="17211675" y="8143875"/>
                </a:lnTo>
                <a:lnTo>
                  <a:pt x="0" y="814387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304925" y="1924050"/>
            <a:ext cx="16116300" cy="7077075"/>
          </a:xfrm>
          <a:custGeom>
            <a:avLst/>
            <a:gdLst/>
            <a:ahLst/>
            <a:cxnLst/>
            <a:rect r="r" b="b" t="t" l="l"/>
            <a:pathLst>
              <a:path h="7077075" w="16116300">
                <a:moveTo>
                  <a:pt x="0" y="0"/>
                </a:moveTo>
                <a:lnTo>
                  <a:pt x="16116300" y="0"/>
                </a:lnTo>
                <a:lnTo>
                  <a:pt x="16116300" y="7077075"/>
                </a:lnTo>
                <a:lnTo>
                  <a:pt x="0" y="707707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694944" y="965883"/>
            <a:ext cx="6803136" cy="5310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31"/>
              </a:lnSpc>
            </a:pPr>
            <a:r>
              <a:rPr lang="en-US" sz="4031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Documenting the Original Interior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647700" y="1285875"/>
            <a:ext cx="666750" cy="857250"/>
          </a:xfrm>
          <a:custGeom>
            <a:avLst/>
            <a:gdLst/>
            <a:ahLst/>
            <a:cxnLst/>
            <a:rect r="r" b="b" t="t" l="l"/>
            <a:pathLst>
              <a:path h="857250" w="666750">
                <a:moveTo>
                  <a:pt x="0" y="0"/>
                </a:moveTo>
                <a:lnTo>
                  <a:pt x="666750" y="0"/>
                </a:lnTo>
                <a:lnTo>
                  <a:pt x="6667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6764000" y="1924050"/>
            <a:ext cx="657225" cy="438150"/>
          </a:xfrm>
          <a:custGeom>
            <a:avLst/>
            <a:gdLst/>
            <a:ahLst/>
            <a:cxnLst/>
            <a:rect r="r" b="b" t="t" l="l"/>
            <a:pathLst>
              <a:path h="438150" w="657225">
                <a:moveTo>
                  <a:pt x="0" y="0"/>
                </a:moveTo>
                <a:lnTo>
                  <a:pt x="657225" y="0"/>
                </a:lnTo>
                <a:lnTo>
                  <a:pt x="657225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085850" y="7715250"/>
            <a:ext cx="228600" cy="1076325"/>
          </a:xfrm>
          <a:custGeom>
            <a:avLst/>
            <a:gdLst/>
            <a:ahLst/>
            <a:cxnLst/>
            <a:rect r="r" b="b" t="t" l="l"/>
            <a:pathLst>
              <a:path h="1076325" w="228600">
                <a:moveTo>
                  <a:pt x="0" y="0"/>
                </a:moveTo>
                <a:lnTo>
                  <a:pt x="228600" y="0"/>
                </a:lnTo>
                <a:lnTo>
                  <a:pt x="228600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304925" y="7715250"/>
            <a:ext cx="7629525" cy="1076325"/>
          </a:xfrm>
          <a:custGeom>
            <a:avLst/>
            <a:gdLst/>
            <a:ahLst/>
            <a:cxnLst/>
            <a:rect r="r" b="b" t="t" l="l"/>
            <a:pathLst>
              <a:path h="1076325" w="7629525">
                <a:moveTo>
                  <a:pt x="0" y="0"/>
                </a:moveTo>
                <a:lnTo>
                  <a:pt x="7629525" y="0"/>
                </a:lnTo>
                <a:lnTo>
                  <a:pt x="7629525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647700" y="9429750"/>
            <a:ext cx="17211675" cy="219075"/>
          </a:xfrm>
          <a:custGeom>
            <a:avLst/>
            <a:gdLst/>
            <a:ahLst/>
            <a:cxnLst/>
            <a:rect r="r" b="b" t="t" l="l"/>
            <a:pathLst>
              <a:path h="219075" w="17211675">
                <a:moveTo>
                  <a:pt x="0" y="0"/>
                </a:moveTo>
                <a:lnTo>
                  <a:pt x="17211675" y="0"/>
                </a:lnTo>
                <a:lnTo>
                  <a:pt x="17211675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7192625" y="8353425"/>
            <a:ext cx="666750" cy="647700"/>
          </a:xfrm>
          <a:custGeom>
            <a:avLst/>
            <a:gdLst/>
            <a:ahLst/>
            <a:cxnLst/>
            <a:rect r="r" b="b" t="t" l="l"/>
            <a:pathLst>
              <a:path h="647700" w="666750">
                <a:moveTo>
                  <a:pt x="0" y="0"/>
                </a:moveTo>
                <a:lnTo>
                  <a:pt x="666750" y="0"/>
                </a:lnTo>
                <a:lnTo>
                  <a:pt x="6667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694944" y="583448"/>
            <a:ext cx="3127248" cy="1784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"/>
              </a:lnSpc>
            </a:pPr>
            <a:r>
              <a:rPr lang="en-US" b="true" sz="1399" spc="349">
                <a:solidFill>
                  <a:srgbClr val="E80000"/>
                </a:solidFill>
                <a:latin typeface="Inter 1 Bold"/>
                <a:ea typeface="Inter 1 Bold"/>
                <a:cs typeface="Inter 1 Bold"/>
                <a:sym typeface="Inter 1 Bold"/>
              </a:rPr>
              <a:t>PHASE 01 • 10.16.2026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94944" y="9853672"/>
            <a:ext cx="2194560" cy="165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70"/>
              </a:lnSpc>
            </a:pPr>
            <a:r>
              <a:rPr lang="en-US" b="true" sz="1270" spc="317">
                <a:solidFill>
                  <a:srgbClr val="FFFFFF"/>
                </a:solidFill>
                <a:latin typeface="Inter 1 Bold"/>
                <a:ea typeface="Inter 1 Bold"/>
                <a:cs typeface="Inter 1 Bold"/>
                <a:sym typeface="Inter 1 Bold"/>
              </a:rPr>
              <a:t>METAL WORX, INC.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7735824" y="9844885"/>
            <a:ext cx="2048256" cy="1420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92"/>
              </a:lnSpc>
            </a:pPr>
            <a:r>
              <a:rPr lang="en-US" sz="1092" spc="273">
                <a:solidFill>
                  <a:srgbClr val="FFFFFF"/>
                </a:solidFill>
                <a:latin typeface="Inter 1"/>
                <a:ea typeface="Inter 1"/>
                <a:cs typeface="Inter 1"/>
                <a:sym typeface="Inter 1"/>
              </a:rPr>
              <a:t>ORIGINAL INTERIOR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6879824" y="9844885"/>
            <a:ext cx="804672" cy="1420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92"/>
              </a:lnSpc>
            </a:pPr>
            <a:r>
              <a:rPr lang="en-US" b="true" sz="1092" spc="273">
                <a:solidFill>
                  <a:srgbClr val="FFFFFF"/>
                </a:solidFill>
                <a:latin typeface="Inter 1 Bold"/>
                <a:ea typeface="Inter 1 Bold"/>
                <a:cs typeface="Inter 1 Bold"/>
                <a:sym typeface="Inter 1 Bold"/>
              </a:rPr>
              <a:t>07 / 18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463040" y="8291036"/>
            <a:ext cx="6876288" cy="1533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62"/>
              </a:lnSpc>
            </a:pPr>
            <a:r>
              <a:rPr lang="en-US" sz="1162" b="true">
                <a:solidFill>
                  <a:srgbClr val="FFFFFF"/>
                </a:solidFill>
                <a:latin typeface="Inter 1 Bold"/>
                <a:ea typeface="Inter 1 Bold"/>
                <a:cs typeface="Inter 1 Bold"/>
                <a:sym typeface="Inter 1 Bold"/>
              </a:rPr>
              <a:t>Interior baseline photo prior to fabrication — plywood decking, corrugated skin, factory ribs.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389888" y="7941790"/>
            <a:ext cx="987552" cy="1420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92"/>
              </a:lnSpc>
            </a:pPr>
            <a:r>
              <a:rPr lang="en-US" b="true" sz="1092" spc="273">
                <a:solidFill>
                  <a:srgbClr val="FFFFFF"/>
                </a:solidFill>
                <a:latin typeface="Inter 1 Bold"/>
                <a:ea typeface="Inter 1 Bold"/>
                <a:cs typeface="Inter 1 Bold"/>
                <a:sym typeface="Inter 1 Bold"/>
              </a:rPr>
              <a:t>CAPTION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209550" y="209550"/>
            <a:ext cx="9810750" cy="8791575"/>
          </a:xfrm>
          <a:custGeom>
            <a:avLst/>
            <a:gdLst/>
            <a:ahLst/>
            <a:cxnLst/>
            <a:rect r="r" b="b" t="t" l="l"/>
            <a:pathLst>
              <a:path h="8791575" w="9810750">
                <a:moveTo>
                  <a:pt x="0" y="0"/>
                </a:moveTo>
                <a:lnTo>
                  <a:pt x="9810750" y="0"/>
                </a:lnTo>
                <a:lnTo>
                  <a:pt x="9810750" y="8791575"/>
                </a:lnTo>
                <a:lnTo>
                  <a:pt x="0" y="879157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428625" y="428625"/>
            <a:ext cx="885825" cy="428625"/>
          </a:xfrm>
          <a:custGeom>
            <a:avLst/>
            <a:gdLst/>
            <a:ahLst/>
            <a:cxnLst/>
            <a:rect r="r" b="b" t="t" l="l"/>
            <a:pathLst>
              <a:path h="428625" w="885825">
                <a:moveTo>
                  <a:pt x="0" y="0"/>
                </a:moveTo>
                <a:lnTo>
                  <a:pt x="885825" y="0"/>
                </a:lnTo>
                <a:lnTo>
                  <a:pt x="885825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9144000" y="428625"/>
            <a:ext cx="657225" cy="647700"/>
          </a:xfrm>
          <a:custGeom>
            <a:avLst/>
            <a:gdLst/>
            <a:ahLst/>
            <a:cxnLst/>
            <a:rect r="r" b="b" t="t" l="l"/>
            <a:pathLst>
              <a:path h="647700" w="657225">
                <a:moveTo>
                  <a:pt x="0" y="0"/>
                </a:moveTo>
                <a:lnTo>
                  <a:pt x="657225" y="0"/>
                </a:lnTo>
                <a:lnTo>
                  <a:pt x="65722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6743700" y="5143500"/>
            <a:ext cx="1095375" cy="1285875"/>
          </a:xfrm>
          <a:custGeom>
            <a:avLst/>
            <a:gdLst/>
            <a:ahLst/>
            <a:cxnLst/>
            <a:rect r="r" b="b" t="t" l="l"/>
            <a:pathLst>
              <a:path h="1285875" w="1095375">
                <a:moveTo>
                  <a:pt x="0" y="0"/>
                </a:moveTo>
                <a:lnTo>
                  <a:pt x="1095375" y="0"/>
                </a:lnTo>
                <a:lnTo>
                  <a:pt x="1095375" y="1285875"/>
                </a:lnTo>
                <a:lnTo>
                  <a:pt x="0" y="128587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428625" y="7924800"/>
            <a:ext cx="9372600" cy="438150"/>
          </a:xfrm>
          <a:custGeom>
            <a:avLst/>
            <a:gdLst/>
            <a:ahLst/>
            <a:cxnLst/>
            <a:rect r="r" b="b" t="t" l="l"/>
            <a:pathLst>
              <a:path h="438150" w="9372600">
                <a:moveTo>
                  <a:pt x="0" y="0"/>
                </a:moveTo>
                <a:lnTo>
                  <a:pt x="9372600" y="0"/>
                </a:lnTo>
                <a:lnTo>
                  <a:pt x="9372600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647700" y="8782050"/>
            <a:ext cx="1752600" cy="219075"/>
          </a:xfrm>
          <a:custGeom>
            <a:avLst/>
            <a:gdLst/>
            <a:ahLst/>
            <a:cxnLst/>
            <a:rect r="r" b="b" t="t" l="l"/>
            <a:pathLst>
              <a:path h="219075" w="1752600">
                <a:moveTo>
                  <a:pt x="0" y="0"/>
                </a:moveTo>
                <a:lnTo>
                  <a:pt x="1752600" y="0"/>
                </a:lnTo>
                <a:lnTo>
                  <a:pt x="1752600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0405872" y="423577"/>
            <a:ext cx="5998464" cy="3095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62"/>
              </a:lnSpc>
            </a:pPr>
            <a:r>
              <a:rPr lang="en-US" b="true" sz="1687" spc="421">
                <a:solidFill>
                  <a:srgbClr val="FF0000"/>
                </a:solidFill>
                <a:latin typeface="Poppins Bold"/>
                <a:ea typeface="Poppins Bold"/>
                <a:cs typeface="Poppins Bold"/>
                <a:sym typeface="Poppins Bold"/>
              </a:rPr>
              <a:t>PHASE 02  •  STRUCTURAL FOUNDATION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10229850" y="1066800"/>
            <a:ext cx="7629525" cy="3648075"/>
          </a:xfrm>
          <a:custGeom>
            <a:avLst/>
            <a:gdLst/>
            <a:ahLst/>
            <a:cxnLst/>
            <a:rect r="r" b="b" t="t" l="l"/>
            <a:pathLst>
              <a:path h="3648075" w="7629525">
                <a:moveTo>
                  <a:pt x="0" y="0"/>
                </a:moveTo>
                <a:lnTo>
                  <a:pt x="7629525" y="0"/>
                </a:lnTo>
                <a:lnTo>
                  <a:pt x="7629525" y="3648075"/>
                </a:lnTo>
                <a:lnTo>
                  <a:pt x="0" y="364807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10424160" y="5250621"/>
            <a:ext cx="7168896" cy="6018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70"/>
              </a:lnSpc>
            </a:pPr>
            <a:r>
              <a:rPr lang="en-US" sz="4570" b="true">
                <a:solidFill>
                  <a:srgbClr val="FFFFFF"/>
                </a:solidFill>
                <a:latin typeface="Saira Condensed Bold"/>
                <a:ea typeface="Saira Condensed Bold"/>
                <a:cs typeface="Saira Condensed Bold"/>
                <a:sym typeface="Saira Condensed Bold"/>
              </a:rPr>
              <a:t>Building the structural foundation.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424160" y="5965639"/>
            <a:ext cx="6967728" cy="5316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56"/>
              </a:lnSpc>
            </a:pPr>
            <a:r>
              <a:rPr lang="en-US" sz="1347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The floor system starts here. A38 channel and plate are cut, squared, and tack-fit inside the container before final passes (back the frame to the base rail).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10229850" y="7286625"/>
            <a:ext cx="7629525" cy="1714500"/>
          </a:xfrm>
          <a:custGeom>
            <a:avLst/>
            <a:gdLst/>
            <a:ahLst/>
            <a:cxnLst/>
            <a:rect r="r" b="b" t="t" l="l"/>
            <a:pathLst>
              <a:path h="1714500" w="7629525">
                <a:moveTo>
                  <a:pt x="0" y="0"/>
                </a:moveTo>
                <a:lnTo>
                  <a:pt x="7629525" y="0"/>
                </a:lnTo>
                <a:lnTo>
                  <a:pt x="7629525" y="1714500"/>
                </a:lnTo>
                <a:lnTo>
                  <a:pt x="0" y="171450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13222224" y="8232100"/>
            <a:ext cx="2816352" cy="2750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15"/>
              </a:lnSpc>
            </a:pPr>
            <a:r>
              <a:rPr lang="en-US" sz="796" b="true">
                <a:solidFill>
                  <a:srgbClr val="FFFFF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Paste: Foot + fill + cap • inspection Visual • dye pericrane</a:t>
            </a:r>
          </a:p>
        </p:txBody>
      </p:sp>
      <p:sp>
        <p:nvSpPr>
          <p:cNvPr name="Freeform 15" id="15"/>
          <p:cNvSpPr/>
          <p:nvPr/>
        </p:nvSpPr>
        <p:spPr>
          <a:xfrm flipH="false" flipV="false" rot="0">
            <a:off x="428625" y="9210675"/>
            <a:ext cx="17211675" cy="219075"/>
          </a:xfrm>
          <a:custGeom>
            <a:avLst/>
            <a:gdLst/>
            <a:ahLst/>
            <a:cxnLst/>
            <a:rect r="r" b="b" t="t" l="l"/>
            <a:pathLst>
              <a:path h="219075" w="17211675">
                <a:moveTo>
                  <a:pt x="0" y="0"/>
                </a:moveTo>
                <a:lnTo>
                  <a:pt x="17211675" y="0"/>
                </a:lnTo>
                <a:lnTo>
                  <a:pt x="17211675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548640" y="9695414"/>
            <a:ext cx="2450592" cy="250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2"/>
              </a:lnSpc>
            </a:pPr>
            <a:r>
              <a:rPr lang="en-US" b="true" sz="1373" spc="343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METAL WORX, INC.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217920" y="9695414"/>
            <a:ext cx="4535424" cy="250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2"/>
              </a:lnSpc>
            </a:pPr>
            <a:r>
              <a:rPr lang="en-US" b="true" sz="1373" spc="343">
                <a:solidFill>
                  <a:srgbClr val="FFFFF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PHASE 2 • STRUCTURAL FOUNDATION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6678656" y="9695414"/>
            <a:ext cx="987552" cy="250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22"/>
              </a:lnSpc>
            </a:pPr>
            <a:r>
              <a:rPr lang="en-US" b="true" sz="1373" spc="343">
                <a:solidFill>
                  <a:srgbClr val="FFFFF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08 / 18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0515600" y="4767358"/>
            <a:ext cx="731520" cy="1990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7"/>
              </a:lnSpc>
            </a:pPr>
            <a:r>
              <a:rPr lang="en-US" b="true" sz="1162" spc="290">
                <a:solidFill>
                  <a:srgbClr val="FFFFF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DETAIL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1612880" y="4775454"/>
            <a:ext cx="2907792" cy="1828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b="true">
                <a:solidFill>
                  <a:srgbClr val="FFFFF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MIG weld • root pass, A38 plate to base rail.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735056" y="7884604"/>
            <a:ext cx="1920240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b="true">
                <a:solidFill>
                  <a:srgbClr val="FFFFF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Steel: A38 channel + plate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3222224" y="7894606"/>
            <a:ext cx="2852928" cy="1990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7"/>
              </a:lnSpc>
            </a:pPr>
            <a:r>
              <a:rPr lang="en-US" sz="1162" b="true">
                <a:solidFill>
                  <a:srgbClr val="FFFFF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Process: MIG (GMAW), C45 ER7D5-G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0735056" y="8213788"/>
            <a:ext cx="1847088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b="true">
                <a:solidFill>
                  <a:srgbClr val="FFFFF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Prep: Squared to •11")16" •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640080" y="8530209"/>
            <a:ext cx="1572768" cy="1828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b="true" sz="1050" spc="262">
                <a:solidFill>
                  <a:srgbClr val="FFFFF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CAPTION • MAIN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2542032" y="8533495"/>
            <a:ext cx="5687568" cy="165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1"/>
              </a:lnSpc>
            </a:pPr>
            <a:r>
              <a:rPr lang="en-US" sz="993" b="true">
                <a:solidFill>
                  <a:srgbClr val="FFFFF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Structural framing fit and squared inside the container prior to full-penetration welding.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47700" y="638175"/>
            <a:ext cx="16992600" cy="219075"/>
          </a:xfrm>
          <a:custGeom>
            <a:avLst/>
            <a:gdLst/>
            <a:ahLst/>
            <a:cxnLst/>
            <a:rect r="r" b="b" t="t" l="l"/>
            <a:pathLst>
              <a:path h="219075" w="16992600">
                <a:moveTo>
                  <a:pt x="0" y="0"/>
                </a:moveTo>
                <a:lnTo>
                  <a:pt x="16992600" y="0"/>
                </a:lnTo>
                <a:lnTo>
                  <a:pt x="16992600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731520" y="1122104"/>
            <a:ext cx="9802368" cy="751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05"/>
              </a:lnSpc>
            </a:pPr>
            <a:r>
              <a:rPr lang="en-US" sz="5605" b="true">
                <a:solidFill>
                  <a:srgbClr val="FFFFFF"/>
                </a:solidFill>
                <a:latin typeface="Gotham Condensed Bold"/>
                <a:ea typeface="Gotham Condensed Bold"/>
                <a:cs typeface="Gotham Condensed Bold"/>
                <a:sym typeface="Gotham Condensed Bold"/>
              </a:rPr>
              <a:t>Steel Floor System — Installed &amp; Squared.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647700" y="1924050"/>
            <a:ext cx="11334750" cy="6867525"/>
          </a:xfrm>
          <a:custGeom>
            <a:avLst/>
            <a:gdLst/>
            <a:ahLst/>
            <a:cxnLst/>
            <a:rect r="r" b="b" t="t" l="l"/>
            <a:pathLst>
              <a:path h="6867525" w="11334750">
                <a:moveTo>
                  <a:pt x="0" y="0"/>
                </a:moveTo>
                <a:lnTo>
                  <a:pt x="11334750" y="0"/>
                </a:lnTo>
                <a:lnTo>
                  <a:pt x="11334750" y="6867525"/>
                </a:lnTo>
                <a:lnTo>
                  <a:pt x="0" y="68675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866775" y="2143125"/>
            <a:ext cx="657225" cy="647700"/>
          </a:xfrm>
          <a:custGeom>
            <a:avLst/>
            <a:gdLst/>
            <a:ahLst/>
            <a:cxnLst/>
            <a:rect r="r" b="b" t="t" l="l"/>
            <a:pathLst>
              <a:path h="647700" w="657225">
                <a:moveTo>
                  <a:pt x="0" y="0"/>
                </a:moveTo>
                <a:lnTo>
                  <a:pt x="657225" y="0"/>
                </a:lnTo>
                <a:lnTo>
                  <a:pt x="65722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085850" y="7715250"/>
            <a:ext cx="2400300" cy="647700"/>
          </a:xfrm>
          <a:custGeom>
            <a:avLst/>
            <a:gdLst/>
            <a:ahLst/>
            <a:cxnLst/>
            <a:rect r="r" b="b" t="t" l="l"/>
            <a:pathLst>
              <a:path h="647700" w="2400300">
                <a:moveTo>
                  <a:pt x="0" y="0"/>
                </a:moveTo>
                <a:lnTo>
                  <a:pt x="2400300" y="0"/>
                </a:lnTo>
                <a:lnTo>
                  <a:pt x="24003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243584" y="7922704"/>
            <a:ext cx="2103120" cy="171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5"/>
              </a:lnSpc>
            </a:pPr>
            <a:r>
              <a:rPr lang="en-US" b="true" sz="1162" spc="116">
                <a:solidFill>
                  <a:srgbClr val="FFFFFF"/>
                </a:solidFill>
                <a:latin typeface="Gotham Condensed Bold"/>
                <a:ea typeface="Gotham Condensed Bold"/>
                <a:cs typeface="Gotham Condensed Bold"/>
                <a:sym typeface="Gotham Condensed Bold"/>
              </a:rPr>
              <a:t>POSITIONING - SQUARE - WED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10877550" y="7924800"/>
            <a:ext cx="666750" cy="647700"/>
          </a:xfrm>
          <a:custGeom>
            <a:avLst/>
            <a:gdLst/>
            <a:ahLst/>
            <a:cxnLst/>
            <a:rect r="r" b="b" t="t" l="l"/>
            <a:pathLst>
              <a:path h="647700" w="666750">
                <a:moveTo>
                  <a:pt x="0" y="0"/>
                </a:moveTo>
                <a:lnTo>
                  <a:pt x="666750" y="0"/>
                </a:lnTo>
                <a:lnTo>
                  <a:pt x="6667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731520" y="8836438"/>
            <a:ext cx="10771632" cy="5991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7"/>
              </a:lnSpc>
            </a:pPr>
            <a:r>
              <a:rPr lang="en-US" sz="1162">
                <a:solidFill>
                  <a:srgbClr val="FFFFFF"/>
                </a:solidFill>
                <a:latin typeface="Gotham"/>
                <a:ea typeface="Gotham"/>
                <a:cs typeface="Gotham"/>
                <a:sym typeface="Gotham"/>
              </a:rPr>
              <a:t>01 • Positioning the fabricated floor system.</a:t>
            </a:r>
          </a:p>
          <a:p>
            <a:pPr algn="l">
              <a:lnSpc>
                <a:spcPts val="1627"/>
              </a:lnSpc>
            </a:pPr>
            <a:r>
              <a:rPr lang="en-US" sz="1162">
                <a:solidFill>
                  <a:srgbClr val="FFFFFF"/>
                </a:solidFill>
                <a:latin typeface="Gotham"/>
                <a:ea typeface="Gotham"/>
                <a:cs typeface="Gotham"/>
                <a:sym typeface="Gotham"/>
              </a:rPr>
              <a:t>The floor system anchors every subsequent build stage. With the frame squared and locked, wall supports and overhead reinforcement can be indexed off a true datum • cutting install variance from the outlet.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11972925" y="1924050"/>
            <a:ext cx="5667375" cy="3438525"/>
          </a:xfrm>
          <a:custGeom>
            <a:avLst/>
            <a:gdLst/>
            <a:ahLst/>
            <a:cxnLst/>
            <a:rect r="r" b="b" t="t" l="l"/>
            <a:pathLst>
              <a:path h="3438525" w="5667375">
                <a:moveTo>
                  <a:pt x="0" y="0"/>
                </a:moveTo>
                <a:lnTo>
                  <a:pt x="5667375" y="0"/>
                </a:lnTo>
                <a:lnTo>
                  <a:pt x="5667375" y="3438525"/>
                </a:lnTo>
                <a:lnTo>
                  <a:pt x="0" y="343852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1972925" y="2143125"/>
            <a:ext cx="438150" cy="428625"/>
          </a:xfrm>
          <a:custGeom>
            <a:avLst/>
            <a:gdLst/>
            <a:ahLst/>
            <a:cxnLst/>
            <a:rect r="r" b="b" t="t" l="l"/>
            <a:pathLst>
              <a:path h="428625" w="438150">
                <a:moveTo>
                  <a:pt x="0" y="0"/>
                </a:moveTo>
                <a:lnTo>
                  <a:pt x="438150" y="0"/>
                </a:lnTo>
                <a:lnTo>
                  <a:pt x="4381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12070080" y="5373815"/>
            <a:ext cx="2103120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>
                <a:solidFill>
                  <a:srgbClr val="FFFFFF"/>
                </a:solidFill>
                <a:latin typeface="Gotham"/>
                <a:ea typeface="Gotham"/>
                <a:cs typeface="Gotham"/>
                <a:sym typeface="Gotham"/>
              </a:rPr>
              <a:t>02 • Alignment check, x1/16 •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11972925" y="5572125"/>
            <a:ext cx="5667375" cy="3429000"/>
          </a:xfrm>
          <a:custGeom>
            <a:avLst/>
            <a:gdLst/>
            <a:ahLst/>
            <a:cxnLst/>
            <a:rect r="r" b="b" t="t" l="l"/>
            <a:pathLst>
              <a:path h="3429000" w="5667375">
                <a:moveTo>
                  <a:pt x="0" y="0"/>
                </a:moveTo>
                <a:lnTo>
                  <a:pt x="5667375" y="0"/>
                </a:lnTo>
                <a:lnTo>
                  <a:pt x="5667375" y="3429000"/>
                </a:lnTo>
                <a:lnTo>
                  <a:pt x="0" y="342900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11972925" y="5781675"/>
            <a:ext cx="438150" cy="438150"/>
          </a:xfrm>
          <a:custGeom>
            <a:avLst/>
            <a:gdLst/>
            <a:ahLst/>
            <a:cxnLst/>
            <a:rect r="r" b="b" t="t" l="l"/>
            <a:pathLst>
              <a:path h="438150" w="438150">
                <a:moveTo>
                  <a:pt x="0" y="0"/>
                </a:moveTo>
                <a:lnTo>
                  <a:pt x="438150" y="0"/>
                </a:lnTo>
                <a:lnTo>
                  <a:pt x="438150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2070080" y="8963977"/>
            <a:ext cx="2011680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>
                <a:solidFill>
                  <a:srgbClr val="FFFFFF"/>
                </a:solidFill>
                <a:latin typeface="Gotham"/>
                <a:ea typeface="Gotham"/>
                <a:cs typeface="Gotham"/>
                <a:sym typeface="Gotham"/>
              </a:rPr>
              <a:t>03 • Weld pass on floor rail.</a:t>
            </a:r>
          </a:p>
        </p:txBody>
      </p:sp>
      <p:sp>
        <p:nvSpPr>
          <p:cNvPr name="Freeform 17" id="17"/>
          <p:cNvSpPr/>
          <p:nvPr/>
        </p:nvSpPr>
        <p:spPr>
          <a:xfrm flipH="false" flipV="false" rot="0">
            <a:off x="16973550" y="8353425"/>
            <a:ext cx="447675" cy="438150"/>
          </a:xfrm>
          <a:custGeom>
            <a:avLst/>
            <a:gdLst/>
            <a:ahLst/>
            <a:cxnLst/>
            <a:rect r="r" b="b" t="t" l="l"/>
            <a:pathLst>
              <a:path h="438150" w="447675">
                <a:moveTo>
                  <a:pt x="0" y="0"/>
                </a:moveTo>
                <a:lnTo>
                  <a:pt x="447675" y="0"/>
                </a:lnTo>
                <a:lnTo>
                  <a:pt x="447675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647700" y="9429750"/>
            <a:ext cx="16992600" cy="428625"/>
          </a:xfrm>
          <a:custGeom>
            <a:avLst/>
            <a:gdLst/>
            <a:ahLst/>
            <a:cxnLst/>
            <a:rect r="r" b="b" t="t" l="l"/>
            <a:pathLst>
              <a:path h="428625" w="16992600">
                <a:moveTo>
                  <a:pt x="0" y="0"/>
                </a:moveTo>
                <a:lnTo>
                  <a:pt x="16992600" y="0"/>
                </a:lnTo>
                <a:lnTo>
                  <a:pt x="169926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731520" y="9836849"/>
            <a:ext cx="1938528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50"/>
              </a:lnSpc>
            </a:pPr>
            <a:r>
              <a:rPr lang="en-US" b="true" sz="1125" spc="225">
                <a:solidFill>
                  <a:srgbClr val="FFFFFF"/>
                </a:solidFill>
                <a:latin typeface="Gotham Bold"/>
                <a:ea typeface="Gotham Bold"/>
                <a:cs typeface="Gotham Bold"/>
                <a:sym typeface="Gotham Bold"/>
              </a:rPr>
              <a:t>METAL WORX, INC.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7552944" y="9841611"/>
            <a:ext cx="2176272" cy="171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05"/>
              </a:lnSpc>
            </a:pPr>
            <a:r>
              <a:rPr lang="en-US" b="true" sz="1087" spc="217">
                <a:solidFill>
                  <a:srgbClr val="FFFFFF"/>
                </a:solidFill>
                <a:latin typeface="Gotham Bold"/>
                <a:ea typeface="Gotham Bold"/>
                <a:cs typeface="Gotham Bold"/>
                <a:sym typeface="Gotham Bold"/>
              </a:rPr>
              <a:t>STEEL FLOOR SYSTEM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6806672" y="9846374"/>
            <a:ext cx="768096" cy="171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395"/>
              </a:lnSpc>
            </a:pPr>
            <a:r>
              <a:rPr lang="en-US" b="true" sz="1162" spc="232">
                <a:solidFill>
                  <a:srgbClr val="FFFFFF"/>
                </a:solidFill>
                <a:latin typeface="Gotham Bold"/>
                <a:ea typeface="Gotham Bold"/>
                <a:cs typeface="Gotham Bold"/>
                <a:sym typeface="Gotham Bold"/>
              </a:rPr>
              <a:t>09 / 18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731520" y="527113"/>
            <a:ext cx="3474720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50"/>
              </a:lnSpc>
            </a:pPr>
            <a:r>
              <a:rPr lang="en-US" b="true" sz="1125" spc="450">
                <a:solidFill>
                  <a:srgbClr val="E80000"/>
                </a:solidFill>
                <a:latin typeface="Gotham Bold"/>
                <a:ea typeface="Gotham Bold"/>
                <a:cs typeface="Gotham Bold"/>
                <a:sym typeface="Gotham Bold"/>
              </a:rPr>
              <a:t>PHASE 02 • FLOOR SYSTEM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0"/>
            <a:ext cx="219075" cy="10287000"/>
          </a:xfrm>
          <a:custGeom>
            <a:avLst/>
            <a:gdLst/>
            <a:ahLst/>
            <a:cxnLst/>
            <a:rect r="r" b="b" t="t" l="l"/>
            <a:pathLst>
              <a:path h="10287000" w="219075">
                <a:moveTo>
                  <a:pt x="0" y="0"/>
                </a:moveTo>
                <a:lnTo>
                  <a:pt x="219075" y="0"/>
                </a:lnTo>
                <a:lnTo>
                  <a:pt x="219075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647700" y="638175"/>
            <a:ext cx="447675" cy="438150"/>
          </a:xfrm>
          <a:custGeom>
            <a:avLst/>
            <a:gdLst/>
            <a:ahLst/>
            <a:cxnLst/>
            <a:rect r="r" b="b" t="t" l="l"/>
            <a:pathLst>
              <a:path h="438150" w="447675">
                <a:moveTo>
                  <a:pt x="0" y="0"/>
                </a:moveTo>
                <a:lnTo>
                  <a:pt x="447675" y="0"/>
                </a:lnTo>
                <a:lnTo>
                  <a:pt x="447675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768096" y="1117759"/>
            <a:ext cx="2249424" cy="2981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67"/>
              </a:lnSpc>
            </a:pPr>
            <a:r>
              <a:rPr lang="en-US" b="true" sz="1762" spc="881">
                <a:solidFill>
                  <a:srgbClr val="C41D2B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PHASE 03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68096" y="1697071"/>
            <a:ext cx="3803904" cy="38250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17"/>
              </a:lnSpc>
            </a:pPr>
            <a:r>
              <a:rPr lang="en-US" sz="28717">
                <a:solidFill>
                  <a:srgbClr val="C41D2B"/>
                </a:solidFill>
                <a:latin typeface="Anton"/>
                <a:ea typeface="Anton"/>
                <a:cs typeface="Anton"/>
                <a:sym typeface="Anton"/>
              </a:rPr>
              <a:t>03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59536" y="5132832"/>
            <a:ext cx="5413248" cy="1266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06"/>
              </a:lnSpc>
            </a:pPr>
            <a:r>
              <a:rPr lang="en-US" sz="4171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Wall Supports &amp; Overhead Reinforcement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59536" y="6553105"/>
            <a:ext cx="5303520" cy="9077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67"/>
              </a:lnSpc>
            </a:pPr>
            <a:r>
              <a:rPr lang="en-US" sz="1762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Full-length wall supports are fabricated and tied into the corner posts, while overhead reinforcement locks the top plane against roof deflection.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647700" y="8143875"/>
            <a:ext cx="3924300" cy="428625"/>
          </a:xfrm>
          <a:custGeom>
            <a:avLst/>
            <a:gdLst/>
            <a:ahLst/>
            <a:cxnLst/>
            <a:rect r="r" b="b" t="t" l="l"/>
            <a:pathLst>
              <a:path h="428625" w="3924300">
                <a:moveTo>
                  <a:pt x="0" y="0"/>
                </a:moveTo>
                <a:lnTo>
                  <a:pt x="3924300" y="0"/>
                </a:lnTo>
                <a:lnTo>
                  <a:pt x="39243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4352925" y="8143875"/>
            <a:ext cx="2181225" cy="428625"/>
          </a:xfrm>
          <a:custGeom>
            <a:avLst/>
            <a:gdLst/>
            <a:ahLst/>
            <a:cxnLst/>
            <a:rect r="r" b="b" t="t" l="l"/>
            <a:pathLst>
              <a:path h="428625" w="2181225">
                <a:moveTo>
                  <a:pt x="0" y="0"/>
                </a:moveTo>
                <a:lnTo>
                  <a:pt x="2181225" y="0"/>
                </a:lnTo>
                <a:lnTo>
                  <a:pt x="2181225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859536" y="8651748"/>
            <a:ext cx="1755648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15"/>
              </a:lnSpc>
            </a:pPr>
            <a:r>
              <a:rPr lang="en-US" sz="1762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50% • Stage 4 of 8</a:t>
            </a:r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6743700" y="428625"/>
            <a:ext cx="9810750" cy="4714875"/>
          </a:xfrm>
          <a:custGeom>
            <a:avLst/>
            <a:gdLst/>
            <a:ahLst/>
            <a:cxnLst/>
            <a:rect r="r" b="b" t="t" l="l"/>
            <a:pathLst>
              <a:path h="4714875" w="9810750">
                <a:moveTo>
                  <a:pt x="0" y="0"/>
                </a:moveTo>
                <a:lnTo>
                  <a:pt x="9810750" y="0"/>
                </a:lnTo>
                <a:lnTo>
                  <a:pt x="9810750" y="4714875"/>
                </a:lnTo>
                <a:lnTo>
                  <a:pt x="0" y="471487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6962775" y="4495800"/>
            <a:ext cx="447675" cy="438150"/>
          </a:xfrm>
          <a:custGeom>
            <a:avLst/>
            <a:gdLst/>
            <a:ahLst/>
            <a:cxnLst/>
            <a:rect r="r" b="b" t="t" l="l"/>
            <a:pathLst>
              <a:path h="438150" w="447675">
                <a:moveTo>
                  <a:pt x="0" y="0"/>
                </a:moveTo>
                <a:lnTo>
                  <a:pt x="447675" y="0"/>
                </a:lnTo>
                <a:lnTo>
                  <a:pt x="447675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6743700" y="5143500"/>
            <a:ext cx="5886450" cy="4076700"/>
          </a:xfrm>
          <a:custGeom>
            <a:avLst/>
            <a:gdLst/>
            <a:ahLst/>
            <a:cxnLst/>
            <a:rect r="r" b="b" t="t" l="l"/>
            <a:pathLst>
              <a:path h="4076700" w="5886450">
                <a:moveTo>
                  <a:pt x="0" y="0"/>
                </a:moveTo>
                <a:lnTo>
                  <a:pt x="5886450" y="0"/>
                </a:lnTo>
                <a:lnTo>
                  <a:pt x="5886450" y="4076700"/>
                </a:lnTo>
                <a:lnTo>
                  <a:pt x="0" y="407670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6962775" y="8572500"/>
            <a:ext cx="447675" cy="428625"/>
          </a:xfrm>
          <a:custGeom>
            <a:avLst/>
            <a:gdLst/>
            <a:ahLst/>
            <a:cxnLst/>
            <a:rect r="r" b="b" t="t" l="l"/>
            <a:pathLst>
              <a:path h="428625" w="447675">
                <a:moveTo>
                  <a:pt x="0" y="0"/>
                </a:moveTo>
                <a:lnTo>
                  <a:pt x="447675" y="0"/>
                </a:lnTo>
                <a:lnTo>
                  <a:pt x="447675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2620625" y="5143500"/>
            <a:ext cx="3933825" cy="4076700"/>
          </a:xfrm>
          <a:custGeom>
            <a:avLst/>
            <a:gdLst/>
            <a:ahLst/>
            <a:cxnLst/>
            <a:rect r="r" b="b" t="t" l="l"/>
            <a:pathLst>
              <a:path h="4076700" w="3933825">
                <a:moveTo>
                  <a:pt x="0" y="0"/>
                </a:moveTo>
                <a:lnTo>
                  <a:pt x="3933825" y="0"/>
                </a:lnTo>
                <a:lnTo>
                  <a:pt x="3933825" y="4076700"/>
                </a:lnTo>
                <a:lnTo>
                  <a:pt x="0" y="407670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12839700" y="8572500"/>
            <a:ext cx="228600" cy="428625"/>
          </a:xfrm>
          <a:custGeom>
            <a:avLst/>
            <a:gdLst/>
            <a:ahLst/>
            <a:cxnLst/>
            <a:rect r="r" b="b" t="t" l="l"/>
            <a:pathLst>
              <a:path h="428625" w="228600">
                <a:moveTo>
                  <a:pt x="0" y="0"/>
                </a:moveTo>
                <a:lnTo>
                  <a:pt x="228600" y="0"/>
                </a:lnTo>
                <a:lnTo>
                  <a:pt x="2286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647700" y="9639300"/>
            <a:ext cx="16992600" cy="219075"/>
          </a:xfrm>
          <a:custGeom>
            <a:avLst/>
            <a:gdLst/>
            <a:ahLst/>
            <a:cxnLst/>
            <a:rect r="r" b="b" t="t" l="l"/>
            <a:pathLst>
              <a:path h="219075" w="16992600">
                <a:moveTo>
                  <a:pt x="0" y="0"/>
                </a:moveTo>
                <a:lnTo>
                  <a:pt x="16992600" y="0"/>
                </a:lnTo>
                <a:lnTo>
                  <a:pt x="16992600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6325850" y="209550"/>
            <a:ext cx="1962150" cy="9220200"/>
          </a:xfrm>
          <a:custGeom>
            <a:avLst/>
            <a:gdLst/>
            <a:ahLst/>
            <a:cxnLst/>
            <a:rect r="r" b="b" t="t" l="l"/>
            <a:pathLst>
              <a:path h="9220200" w="1962150">
                <a:moveTo>
                  <a:pt x="0" y="0"/>
                </a:moveTo>
                <a:lnTo>
                  <a:pt x="1962150" y="0"/>
                </a:lnTo>
                <a:lnTo>
                  <a:pt x="1962150" y="9220200"/>
                </a:lnTo>
                <a:lnTo>
                  <a:pt x="0" y="922020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859536" y="7845981"/>
            <a:ext cx="1280160" cy="2662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26"/>
              </a:lnSpc>
            </a:pPr>
            <a:r>
              <a:rPr lang="en-US" b="true" sz="1518" spc="303">
                <a:solidFill>
                  <a:srgbClr val="FFFFFF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PROGRESS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7424928" y="4642640"/>
            <a:ext cx="4352544" cy="1913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29"/>
              </a:lnSpc>
            </a:pPr>
            <a:r>
              <a:rPr lang="en-US" b="true" sz="1092" spc="109">
                <a:solidFill>
                  <a:srgbClr val="FFFFFF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OVERHEAD REINFORCEMENT TIED INTO CORNER POSTS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7388352" y="8706005"/>
            <a:ext cx="4462272" cy="1913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29"/>
              </a:lnSpc>
            </a:pPr>
            <a:r>
              <a:rPr lang="en-US" b="true" sz="1092" spc="109">
                <a:solidFill>
                  <a:srgbClr val="FFFFFF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FULL-LENGTH WALL SUPPORTS AT REGULAR INTERVALS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3167360" y="8719876"/>
            <a:ext cx="3145536" cy="1731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83"/>
              </a:lnSpc>
            </a:pPr>
            <a:r>
              <a:rPr lang="en-US" b="true" sz="1059" spc="105">
                <a:solidFill>
                  <a:srgbClr val="FFFFFF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WALL SUPPORT BASE PLATE CONNECTION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768096" y="9816245"/>
            <a:ext cx="2103120" cy="2229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6"/>
              </a:lnSpc>
            </a:pPr>
            <a:r>
              <a:rPr lang="en-US" b="true" sz="1347" spc="269">
                <a:solidFill>
                  <a:srgbClr val="FFFFFF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METAL WORX, INC.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6803136" y="9801302"/>
            <a:ext cx="3858768" cy="2337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14"/>
              </a:lnSpc>
            </a:pPr>
            <a:r>
              <a:rPr lang="en-US" b="true" sz="1296" spc="129">
                <a:solidFill>
                  <a:srgbClr val="FFFFFF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PHASE 3 — WALL SUPPORTS &amp; OVERHEAD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6952976" y="9815262"/>
            <a:ext cx="640080" cy="2153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778"/>
              </a:lnSpc>
            </a:pPr>
            <a:r>
              <a:rPr lang="en-US" b="true" sz="1270" spc="127">
                <a:solidFill>
                  <a:srgbClr val="FFFFFF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" id="3"/>
          <p:cNvSpPr/>
          <p:nvPr/>
        </p:nvSpPr>
        <p:spPr>
          <a:xfrm>
            <a:off x="762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" id="4"/>
          <p:cNvSpPr/>
          <p:nvPr/>
        </p:nvSpPr>
        <p:spPr>
          <a:xfrm>
            <a:off x="1524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" id="5"/>
          <p:cNvSpPr/>
          <p:nvPr/>
        </p:nvSpPr>
        <p:spPr>
          <a:xfrm>
            <a:off x="2286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" id="6"/>
          <p:cNvSpPr/>
          <p:nvPr/>
        </p:nvSpPr>
        <p:spPr>
          <a:xfrm>
            <a:off x="3048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" id="7"/>
          <p:cNvSpPr/>
          <p:nvPr/>
        </p:nvSpPr>
        <p:spPr>
          <a:xfrm>
            <a:off x="3810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" id="8"/>
          <p:cNvSpPr/>
          <p:nvPr/>
        </p:nvSpPr>
        <p:spPr>
          <a:xfrm>
            <a:off x="4572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" id="9"/>
          <p:cNvSpPr/>
          <p:nvPr/>
        </p:nvSpPr>
        <p:spPr>
          <a:xfrm>
            <a:off x="5334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" id="10"/>
          <p:cNvSpPr/>
          <p:nvPr/>
        </p:nvSpPr>
        <p:spPr>
          <a:xfrm>
            <a:off x="6096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1" id="11"/>
          <p:cNvSpPr/>
          <p:nvPr/>
        </p:nvSpPr>
        <p:spPr>
          <a:xfrm>
            <a:off x="6858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2" id="12"/>
          <p:cNvSpPr/>
          <p:nvPr/>
        </p:nvSpPr>
        <p:spPr>
          <a:xfrm>
            <a:off x="7620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3" id="13"/>
          <p:cNvSpPr/>
          <p:nvPr/>
        </p:nvSpPr>
        <p:spPr>
          <a:xfrm>
            <a:off x="8382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4" id="14"/>
          <p:cNvSpPr/>
          <p:nvPr/>
        </p:nvSpPr>
        <p:spPr>
          <a:xfrm>
            <a:off x="9144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5" id="15"/>
          <p:cNvSpPr/>
          <p:nvPr/>
        </p:nvSpPr>
        <p:spPr>
          <a:xfrm>
            <a:off x="9906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6" id="16"/>
          <p:cNvSpPr/>
          <p:nvPr/>
        </p:nvSpPr>
        <p:spPr>
          <a:xfrm>
            <a:off x="10668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7" id="17"/>
          <p:cNvSpPr/>
          <p:nvPr/>
        </p:nvSpPr>
        <p:spPr>
          <a:xfrm>
            <a:off x="11430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8" id="18"/>
          <p:cNvSpPr/>
          <p:nvPr/>
        </p:nvSpPr>
        <p:spPr>
          <a:xfrm>
            <a:off x="12192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9" id="19"/>
          <p:cNvSpPr/>
          <p:nvPr/>
        </p:nvSpPr>
        <p:spPr>
          <a:xfrm>
            <a:off x="12954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0" id="20"/>
          <p:cNvSpPr/>
          <p:nvPr/>
        </p:nvSpPr>
        <p:spPr>
          <a:xfrm>
            <a:off x="13716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1" id="21"/>
          <p:cNvSpPr/>
          <p:nvPr/>
        </p:nvSpPr>
        <p:spPr>
          <a:xfrm>
            <a:off x="14478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2" id="22"/>
          <p:cNvSpPr/>
          <p:nvPr/>
        </p:nvSpPr>
        <p:spPr>
          <a:xfrm>
            <a:off x="15240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3" id="23"/>
          <p:cNvSpPr/>
          <p:nvPr/>
        </p:nvSpPr>
        <p:spPr>
          <a:xfrm>
            <a:off x="16002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4" id="24"/>
          <p:cNvSpPr/>
          <p:nvPr/>
        </p:nvSpPr>
        <p:spPr>
          <a:xfrm>
            <a:off x="16764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5" id="25"/>
          <p:cNvSpPr/>
          <p:nvPr/>
        </p:nvSpPr>
        <p:spPr>
          <a:xfrm>
            <a:off x="17526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6" id="26"/>
          <p:cNvSpPr/>
          <p:nvPr/>
        </p:nvSpPr>
        <p:spPr>
          <a:xfrm>
            <a:off x="18288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7" id="27"/>
          <p:cNvSpPr/>
          <p:nvPr/>
        </p:nvSpPr>
        <p:spPr>
          <a:xfrm>
            <a:off x="0" y="0"/>
            <a:ext cx="18288000" cy="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8" id="28"/>
          <p:cNvSpPr/>
          <p:nvPr/>
        </p:nvSpPr>
        <p:spPr>
          <a:xfrm>
            <a:off x="0" y="762000"/>
            <a:ext cx="18288000" cy="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9" id="29"/>
          <p:cNvSpPr/>
          <p:nvPr/>
        </p:nvSpPr>
        <p:spPr>
          <a:xfrm>
            <a:off x="0" y="1524000"/>
            <a:ext cx="18288000" cy="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0" id="30"/>
          <p:cNvSpPr/>
          <p:nvPr/>
        </p:nvSpPr>
        <p:spPr>
          <a:xfrm>
            <a:off x="0" y="2286000"/>
            <a:ext cx="18288000" cy="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1" id="31"/>
          <p:cNvSpPr/>
          <p:nvPr/>
        </p:nvSpPr>
        <p:spPr>
          <a:xfrm>
            <a:off x="0" y="3048000"/>
            <a:ext cx="18288000" cy="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2" id="32"/>
          <p:cNvSpPr/>
          <p:nvPr/>
        </p:nvSpPr>
        <p:spPr>
          <a:xfrm>
            <a:off x="0" y="3810000"/>
            <a:ext cx="18288000" cy="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3" id="33"/>
          <p:cNvSpPr/>
          <p:nvPr/>
        </p:nvSpPr>
        <p:spPr>
          <a:xfrm>
            <a:off x="0" y="4572000"/>
            <a:ext cx="18288000" cy="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4" id="34"/>
          <p:cNvSpPr/>
          <p:nvPr/>
        </p:nvSpPr>
        <p:spPr>
          <a:xfrm>
            <a:off x="0" y="5334000"/>
            <a:ext cx="18288000" cy="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5" id="35"/>
          <p:cNvSpPr/>
          <p:nvPr/>
        </p:nvSpPr>
        <p:spPr>
          <a:xfrm>
            <a:off x="0" y="6096000"/>
            <a:ext cx="18288000" cy="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6" id="36"/>
          <p:cNvSpPr/>
          <p:nvPr/>
        </p:nvSpPr>
        <p:spPr>
          <a:xfrm>
            <a:off x="0" y="6858000"/>
            <a:ext cx="18288000" cy="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7" id="37"/>
          <p:cNvSpPr/>
          <p:nvPr/>
        </p:nvSpPr>
        <p:spPr>
          <a:xfrm>
            <a:off x="0" y="7620000"/>
            <a:ext cx="18288000" cy="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8" id="38"/>
          <p:cNvSpPr/>
          <p:nvPr/>
        </p:nvSpPr>
        <p:spPr>
          <a:xfrm>
            <a:off x="0" y="8382000"/>
            <a:ext cx="18288000" cy="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9" id="39"/>
          <p:cNvSpPr/>
          <p:nvPr/>
        </p:nvSpPr>
        <p:spPr>
          <a:xfrm>
            <a:off x="0" y="9144000"/>
            <a:ext cx="18288000" cy="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0" id="40"/>
          <p:cNvSpPr/>
          <p:nvPr/>
        </p:nvSpPr>
        <p:spPr>
          <a:xfrm>
            <a:off x="0" y="9906000"/>
            <a:ext cx="18288000" cy="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41" id="41"/>
          <p:cNvSpPr txBox="true"/>
          <p:nvPr/>
        </p:nvSpPr>
        <p:spPr>
          <a:xfrm rot="0">
            <a:off x="762000" y="542925"/>
            <a:ext cx="8572500" cy="2076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200" spc="420" b="true">
                <a:solidFill>
                  <a:srgbClr val="B5121B"/>
                </a:solidFill>
                <a:latin typeface="Inter 2 Bold"/>
                <a:ea typeface="Inter 2 Bold"/>
                <a:cs typeface="Inter 2 Bold"/>
                <a:sym typeface="Inter 2 Bold"/>
              </a:rPr>
              <a:t>PHASE 03  ·  FIELD JOURNAL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762000" y="790575"/>
            <a:ext cx="15240000" cy="7029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80"/>
              </a:lnSpc>
            </a:pPr>
            <a:r>
              <a:rPr lang="en-US" sz="4200" b="true">
                <a:solidFill>
                  <a:srgbClr val="1A1A1A"/>
                </a:solidFill>
                <a:latin typeface="Oswald Bold"/>
                <a:ea typeface="Oswald Bold"/>
                <a:cs typeface="Oswald Bold"/>
                <a:sym typeface="Oswald Bold"/>
              </a:rPr>
              <a:t>Installing Full-Length Wall Supports.</a:t>
            </a:r>
          </a:p>
        </p:txBody>
      </p:sp>
      <p:grpSp>
        <p:nvGrpSpPr>
          <p:cNvPr name="Group 43" id="43"/>
          <p:cNvGrpSpPr/>
          <p:nvPr/>
        </p:nvGrpSpPr>
        <p:grpSpPr>
          <a:xfrm rot="0">
            <a:off x="762000" y="2000250"/>
            <a:ext cx="6858000" cy="4000500"/>
            <a:chOff x="0" y="0"/>
            <a:chExt cx="9144000" cy="533400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9144000" cy="5334000"/>
            </a:xfrm>
            <a:custGeom>
              <a:avLst/>
              <a:gdLst/>
              <a:ahLst/>
              <a:cxnLst/>
              <a:rect r="r" b="b" t="t" l="l"/>
              <a:pathLst>
                <a:path h="5334000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5334000"/>
                  </a:lnTo>
                  <a:lnTo>
                    <a:pt x="0" y="5334000"/>
                  </a:lnTo>
                  <a:close/>
                </a:path>
              </a:pathLst>
            </a:custGeom>
            <a:solidFill>
              <a:srgbClr val="1A1A1A"/>
            </a:solidFill>
            <a:ln cap="sq">
              <a:noFill/>
              <a:prstDash val="solid"/>
              <a:miter/>
            </a:ln>
          </p:spPr>
        </p:sp>
        <p:sp>
          <p:nvSpPr>
            <p:cNvPr name="TextBox 45" id="45"/>
            <p:cNvSpPr txBox="true"/>
            <p:nvPr/>
          </p:nvSpPr>
          <p:spPr>
            <a:xfrm>
              <a:off x="0" y="-38100"/>
              <a:ext cx="914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AutoShape 46" id="46"/>
          <p:cNvSpPr/>
          <p:nvPr/>
        </p:nvSpPr>
        <p:spPr>
          <a:xfrm>
            <a:off x="762000" y="2000250"/>
            <a:ext cx="0" cy="400050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7" id="47"/>
          <p:cNvSpPr/>
          <p:nvPr/>
        </p:nvSpPr>
        <p:spPr>
          <a:xfrm>
            <a:off x="1524000" y="2000250"/>
            <a:ext cx="0" cy="400050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8" id="48"/>
          <p:cNvSpPr/>
          <p:nvPr/>
        </p:nvSpPr>
        <p:spPr>
          <a:xfrm>
            <a:off x="2286000" y="2000250"/>
            <a:ext cx="0" cy="400050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9" id="49"/>
          <p:cNvSpPr/>
          <p:nvPr/>
        </p:nvSpPr>
        <p:spPr>
          <a:xfrm>
            <a:off x="3048000" y="2000250"/>
            <a:ext cx="0" cy="400050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0" id="50"/>
          <p:cNvSpPr/>
          <p:nvPr/>
        </p:nvSpPr>
        <p:spPr>
          <a:xfrm>
            <a:off x="3810000" y="2000250"/>
            <a:ext cx="0" cy="400050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1" id="51"/>
          <p:cNvSpPr/>
          <p:nvPr/>
        </p:nvSpPr>
        <p:spPr>
          <a:xfrm>
            <a:off x="4572000" y="2000250"/>
            <a:ext cx="0" cy="400050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2" id="52"/>
          <p:cNvSpPr/>
          <p:nvPr/>
        </p:nvSpPr>
        <p:spPr>
          <a:xfrm>
            <a:off x="5334000" y="2000250"/>
            <a:ext cx="0" cy="400050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3" id="53"/>
          <p:cNvSpPr/>
          <p:nvPr/>
        </p:nvSpPr>
        <p:spPr>
          <a:xfrm>
            <a:off x="6096000" y="2000250"/>
            <a:ext cx="0" cy="400050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4" id="54"/>
          <p:cNvSpPr/>
          <p:nvPr/>
        </p:nvSpPr>
        <p:spPr>
          <a:xfrm>
            <a:off x="6858000" y="2000250"/>
            <a:ext cx="0" cy="400050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5" id="55"/>
          <p:cNvSpPr/>
          <p:nvPr/>
        </p:nvSpPr>
        <p:spPr>
          <a:xfrm>
            <a:off x="7620000" y="2000250"/>
            <a:ext cx="0" cy="400050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6" id="56"/>
          <p:cNvSpPr/>
          <p:nvPr/>
        </p:nvSpPr>
        <p:spPr>
          <a:xfrm>
            <a:off x="762000" y="2000250"/>
            <a:ext cx="6858000" cy="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7" id="57"/>
          <p:cNvSpPr/>
          <p:nvPr/>
        </p:nvSpPr>
        <p:spPr>
          <a:xfrm>
            <a:off x="762000" y="2762250"/>
            <a:ext cx="6858000" cy="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8" id="58"/>
          <p:cNvSpPr/>
          <p:nvPr/>
        </p:nvSpPr>
        <p:spPr>
          <a:xfrm>
            <a:off x="762000" y="3524250"/>
            <a:ext cx="6858000" cy="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9" id="59"/>
          <p:cNvSpPr/>
          <p:nvPr/>
        </p:nvSpPr>
        <p:spPr>
          <a:xfrm>
            <a:off x="762000" y="4286250"/>
            <a:ext cx="6858000" cy="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0" id="60"/>
          <p:cNvSpPr/>
          <p:nvPr/>
        </p:nvSpPr>
        <p:spPr>
          <a:xfrm>
            <a:off x="762000" y="5048250"/>
            <a:ext cx="6858000" cy="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1" id="61"/>
          <p:cNvSpPr/>
          <p:nvPr/>
        </p:nvSpPr>
        <p:spPr>
          <a:xfrm>
            <a:off x="762000" y="5810250"/>
            <a:ext cx="6858000" cy="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2" id="62"/>
          <p:cNvSpPr/>
          <p:nvPr/>
        </p:nvSpPr>
        <p:spPr>
          <a:xfrm>
            <a:off x="1790700" y="2286000"/>
            <a:ext cx="0" cy="3429000"/>
          </a:xfrm>
          <a:prstGeom prst="line">
            <a:avLst/>
          </a:prstGeom>
          <a:ln cap="flat" w="28575">
            <a:solidFill>
              <a:srgbClr val="55555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3" id="63"/>
          <p:cNvSpPr/>
          <p:nvPr/>
        </p:nvSpPr>
        <p:spPr>
          <a:xfrm>
            <a:off x="2990850" y="2286000"/>
            <a:ext cx="0" cy="3429000"/>
          </a:xfrm>
          <a:prstGeom prst="line">
            <a:avLst/>
          </a:prstGeom>
          <a:ln cap="flat" w="28575">
            <a:solidFill>
              <a:srgbClr val="55555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4" id="64"/>
          <p:cNvSpPr/>
          <p:nvPr/>
        </p:nvSpPr>
        <p:spPr>
          <a:xfrm>
            <a:off x="4191000" y="2286000"/>
            <a:ext cx="0" cy="3429000"/>
          </a:xfrm>
          <a:prstGeom prst="line">
            <a:avLst/>
          </a:prstGeom>
          <a:ln cap="flat" w="28575">
            <a:solidFill>
              <a:srgbClr val="55555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5" id="65"/>
          <p:cNvSpPr/>
          <p:nvPr/>
        </p:nvSpPr>
        <p:spPr>
          <a:xfrm>
            <a:off x="5391150" y="2286000"/>
            <a:ext cx="0" cy="3429000"/>
          </a:xfrm>
          <a:prstGeom prst="line">
            <a:avLst/>
          </a:prstGeom>
          <a:ln cap="flat" w="28575">
            <a:solidFill>
              <a:srgbClr val="55555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6" id="66"/>
          <p:cNvSpPr/>
          <p:nvPr/>
        </p:nvSpPr>
        <p:spPr>
          <a:xfrm>
            <a:off x="6591300" y="2286000"/>
            <a:ext cx="0" cy="3429000"/>
          </a:xfrm>
          <a:prstGeom prst="line">
            <a:avLst/>
          </a:prstGeom>
          <a:ln cap="flat" w="28575">
            <a:solidFill>
              <a:srgbClr val="55555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7" id="67"/>
          <p:cNvSpPr/>
          <p:nvPr/>
        </p:nvSpPr>
        <p:spPr>
          <a:xfrm>
            <a:off x="819150" y="2057400"/>
            <a:ext cx="209550" cy="0"/>
          </a:xfrm>
          <a:prstGeom prst="line">
            <a:avLst/>
          </a:prstGeom>
          <a:ln cap="flat" w="19050">
            <a:solidFill>
              <a:srgbClr val="B5121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8" id="68"/>
          <p:cNvSpPr/>
          <p:nvPr/>
        </p:nvSpPr>
        <p:spPr>
          <a:xfrm>
            <a:off x="819150" y="2057400"/>
            <a:ext cx="0" cy="209550"/>
          </a:xfrm>
          <a:prstGeom prst="line">
            <a:avLst/>
          </a:prstGeom>
          <a:ln cap="flat" w="19050">
            <a:solidFill>
              <a:srgbClr val="B5121B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69" id="69"/>
          <p:cNvGrpSpPr/>
          <p:nvPr/>
        </p:nvGrpSpPr>
        <p:grpSpPr>
          <a:xfrm rot="0">
            <a:off x="857250" y="5619750"/>
            <a:ext cx="304800" cy="438531"/>
            <a:chOff x="0" y="0"/>
            <a:chExt cx="406400" cy="584708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406400" cy="584708"/>
            </a:xfrm>
            <a:custGeom>
              <a:avLst/>
              <a:gdLst/>
              <a:ahLst/>
              <a:cxnLst/>
              <a:rect r="r" b="b" t="t" l="l"/>
              <a:pathLst>
                <a:path h="584708" w="406400">
                  <a:moveTo>
                    <a:pt x="0" y="0"/>
                  </a:moveTo>
                  <a:lnTo>
                    <a:pt x="406400" y="0"/>
                  </a:lnTo>
                  <a:lnTo>
                    <a:pt x="406400" y="584708"/>
                  </a:lnTo>
                  <a:lnTo>
                    <a:pt x="0" y="584708"/>
                  </a:lnTo>
                  <a:close/>
                </a:path>
              </a:pathLst>
            </a:custGeom>
            <a:solidFill>
              <a:srgbClr val="B5121B"/>
            </a:solidFill>
            <a:ln cap="sq">
              <a:noFill/>
              <a:prstDash val="solid"/>
              <a:miter/>
            </a:ln>
          </p:spPr>
        </p:sp>
        <p:sp>
          <p:nvSpPr>
            <p:cNvPr name="TextBox 71" id="71"/>
            <p:cNvSpPr txBox="true"/>
            <p:nvPr/>
          </p:nvSpPr>
          <p:spPr>
            <a:xfrm>
              <a:off x="0" y="-38100"/>
              <a:ext cx="406400" cy="622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  <a:r>
                <a:rPr lang="en-US" sz="1500" b="true">
                  <a:solidFill>
                    <a:srgbClr val="FFFFFF"/>
                  </a:solidFill>
                  <a:latin typeface="Oswald Bold"/>
                  <a:ea typeface="Oswald Bold"/>
                  <a:cs typeface="Oswald Bold"/>
                  <a:sym typeface="Oswald Bold"/>
                </a:rPr>
                <a:t>1</a:t>
              </a:r>
            </a:p>
          </p:txBody>
        </p:sp>
      </p:grpSp>
      <p:grpSp>
        <p:nvGrpSpPr>
          <p:cNvPr name="Group 72" id="72"/>
          <p:cNvGrpSpPr/>
          <p:nvPr/>
        </p:nvGrpSpPr>
        <p:grpSpPr>
          <a:xfrm rot="0">
            <a:off x="7810500" y="2000250"/>
            <a:ext cx="4953000" cy="1905000"/>
            <a:chOff x="0" y="0"/>
            <a:chExt cx="6604000" cy="2540000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6604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6604000">
                  <a:moveTo>
                    <a:pt x="0" y="0"/>
                  </a:moveTo>
                  <a:lnTo>
                    <a:pt x="6604000" y="0"/>
                  </a:lnTo>
                  <a:lnTo>
                    <a:pt x="6604000" y="2540000"/>
                  </a:lnTo>
                  <a:lnTo>
                    <a:pt x="0" y="2540000"/>
                  </a:lnTo>
                  <a:close/>
                </a:path>
              </a:pathLst>
            </a:custGeom>
            <a:solidFill>
              <a:srgbClr val="1A1A1A"/>
            </a:solidFill>
            <a:ln cap="sq">
              <a:noFill/>
              <a:prstDash val="solid"/>
              <a:miter/>
            </a:ln>
          </p:spPr>
        </p:sp>
        <p:sp>
          <p:nvSpPr>
            <p:cNvPr name="TextBox 74" id="74"/>
            <p:cNvSpPr txBox="true"/>
            <p:nvPr/>
          </p:nvSpPr>
          <p:spPr>
            <a:xfrm>
              <a:off x="0" y="-38100"/>
              <a:ext cx="6604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AutoShape 75" id="75"/>
          <p:cNvSpPr/>
          <p:nvPr/>
        </p:nvSpPr>
        <p:spPr>
          <a:xfrm>
            <a:off x="7810500" y="2000250"/>
            <a:ext cx="0" cy="190500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6" id="76"/>
          <p:cNvSpPr/>
          <p:nvPr/>
        </p:nvSpPr>
        <p:spPr>
          <a:xfrm>
            <a:off x="8572500" y="2000250"/>
            <a:ext cx="0" cy="190500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7" id="77"/>
          <p:cNvSpPr/>
          <p:nvPr/>
        </p:nvSpPr>
        <p:spPr>
          <a:xfrm>
            <a:off x="9334500" y="2000250"/>
            <a:ext cx="0" cy="190500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8" id="78"/>
          <p:cNvSpPr/>
          <p:nvPr/>
        </p:nvSpPr>
        <p:spPr>
          <a:xfrm>
            <a:off x="10096500" y="2000250"/>
            <a:ext cx="0" cy="190500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9" id="79"/>
          <p:cNvSpPr/>
          <p:nvPr/>
        </p:nvSpPr>
        <p:spPr>
          <a:xfrm>
            <a:off x="10858500" y="2000250"/>
            <a:ext cx="0" cy="190500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0" id="80"/>
          <p:cNvSpPr/>
          <p:nvPr/>
        </p:nvSpPr>
        <p:spPr>
          <a:xfrm>
            <a:off x="11620500" y="2000250"/>
            <a:ext cx="0" cy="190500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1" id="81"/>
          <p:cNvSpPr/>
          <p:nvPr/>
        </p:nvSpPr>
        <p:spPr>
          <a:xfrm>
            <a:off x="12382500" y="2000250"/>
            <a:ext cx="0" cy="190500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2" id="82"/>
          <p:cNvSpPr/>
          <p:nvPr/>
        </p:nvSpPr>
        <p:spPr>
          <a:xfrm>
            <a:off x="7810500" y="2000250"/>
            <a:ext cx="4953000" cy="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3" id="83"/>
          <p:cNvSpPr/>
          <p:nvPr/>
        </p:nvSpPr>
        <p:spPr>
          <a:xfrm>
            <a:off x="7810500" y="2762250"/>
            <a:ext cx="4953000" cy="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4" id="84"/>
          <p:cNvSpPr/>
          <p:nvPr/>
        </p:nvSpPr>
        <p:spPr>
          <a:xfrm>
            <a:off x="7810500" y="3524250"/>
            <a:ext cx="4953000" cy="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5" id="85"/>
          <p:cNvSpPr/>
          <p:nvPr/>
        </p:nvSpPr>
        <p:spPr>
          <a:xfrm>
            <a:off x="8553450" y="2286000"/>
            <a:ext cx="0" cy="1333500"/>
          </a:xfrm>
          <a:prstGeom prst="line">
            <a:avLst/>
          </a:prstGeom>
          <a:ln cap="flat" w="28575">
            <a:solidFill>
              <a:srgbClr val="55555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6" id="86"/>
          <p:cNvSpPr/>
          <p:nvPr/>
        </p:nvSpPr>
        <p:spPr>
          <a:xfrm>
            <a:off x="9420225" y="2286000"/>
            <a:ext cx="0" cy="1333500"/>
          </a:xfrm>
          <a:prstGeom prst="line">
            <a:avLst/>
          </a:prstGeom>
          <a:ln cap="flat" w="28575">
            <a:solidFill>
              <a:srgbClr val="55555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7" id="87"/>
          <p:cNvSpPr/>
          <p:nvPr/>
        </p:nvSpPr>
        <p:spPr>
          <a:xfrm>
            <a:off x="10287000" y="2286000"/>
            <a:ext cx="0" cy="1333500"/>
          </a:xfrm>
          <a:prstGeom prst="line">
            <a:avLst/>
          </a:prstGeom>
          <a:ln cap="flat" w="28575">
            <a:solidFill>
              <a:srgbClr val="55555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8" id="88"/>
          <p:cNvSpPr/>
          <p:nvPr/>
        </p:nvSpPr>
        <p:spPr>
          <a:xfrm>
            <a:off x="11153775" y="2286000"/>
            <a:ext cx="0" cy="1333500"/>
          </a:xfrm>
          <a:prstGeom prst="line">
            <a:avLst/>
          </a:prstGeom>
          <a:ln cap="flat" w="28575">
            <a:solidFill>
              <a:srgbClr val="55555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9" id="89"/>
          <p:cNvSpPr/>
          <p:nvPr/>
        </p:nvSpPr>
        <p:spPr>
          <a:xfrm>
            <a:off x="12020550" y="2286000"/>
            <a:ext cx="0" cy="1333500"/>
          </a:xfrm>
          <a:prstGeom prst="line">
            <a:avLst/>
          </a:prstGeom>
          <a:ln cap="flat" w="28575">
            <a:solidFill>
              <a:srgbClr val="55555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0" id="90"/>
          <p:cNvSpPr/>
          <p:nvPr/>
        </p:nvSpPr>
        <p:spPr>
          <a:xfrm>
            <a:off x="7867650" y="2057400"/>
            <a:ext cx="209550" cy="0"/>
          </a:xfrm>
          <a:prstGeom prst="line">
            <a:avLst/>
          </a:prstGeom>
          <a:ln cap="flat" w="19050">
            <a:solidFill>
              <a:srgbClr val="B5121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1" id="91"/>
          <p:cNvSpPr/>
          <p:nvPr/>
        </p:nvSpPr>
        <p:spPr>
          <a:xfrm>
            <a:off x="7867650" y="2057400"/>
            <a:ext cx="0" cy="209550"/>
          </a:xfrm>
          <a:prstGeom prst="line">
            <a:avLst/>
          </a:prstGeom>
          <a:ln cap="flat" w="19050">
            <a:solidFill>
              <a:srgbClr val="B5121B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92" id="92"/>
          <p:cNvGrpSpPr/>
          <p:nvPr/>
        </p:nvGrpSpPr>
        <p:grpSpPr>
          <a:xfrm rot="0">
            <a:off x="7905750" y="3524250"/>
            <a:ext cx="304800" cy="438531"/>
            <a:chOff x="0" y="0"/>
            <a:chExt cx="406400" cy="584708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406400" cy="584708"/>
            </a:xfrm>
            <a:custGeom>
              <a:avLst/>
              <a:gdLst/>
              <a:ahLst/>
              <a:cxnLst/>
              <a:rect r="r" b="b" t="t" l="l"/>
              <a:pathLst>
                <a:path h="584708" w="406400">
                  <a:moveTo>
                    <a:pt x="0" y="0"/>
                  </a:moveTo>
                  <a:lnTo>
                    <a:pt x="406400" y="0"/>
                  </a:lnTo>
                  <a:lnTo>
                    <a:pt x="406400" y="584708"/>
                  </a:lnTo>
                  <a:lnTo>
                    <a:pt x="0" y="584708"/>
                  </a:lnTo>
                  <a:close/>
                </a:path>
              </a:pathLst>
            </a:custGeom>
            <a:solidFill>
              <a:srgbClr val="B5121B"/>
            </a:solidFill>
            <a:ln cap="sq">
              <a:noFill/>
              <a:prstDash val="solid"/>
              <a:miter/>
            </a:ln>
          </p:spPr>
        </p:sp>
        <p:sp>
          <p:nvSpPr>
            <p:cNvPr name="TextBox 94" id="94"/>
            <p:cNvSpPr txBox="true"/>
            <p:nvPr/>
          </p:nvSpPr>
          <p:spPr>
            <a:xfrm>
              <a:off x="0" y="-38100"/>
              <a:ext cx="406400" cy="622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  <a:r>
                <a:rPr lang="en-US" sz="1500" b="true">
                  <a:solidFill>
                    <a:srgbClr val="FFFFFF"/>
                  </a:solidFill>
                  <a:latin typeface="Oswald Bold"/>
                  <a:ea typeface="Oswald Bold"/>
                  <a:cs typeface="Oswald Bold"/>
                  <a:sym typeface="Oswald Bold"/>
                </a:rPr>
                <a:t>2</a:t>
              </a:r>
            </a:p>
          </p:txBody>
        </p:sp>
      </p:grpSp>
      <p:grpSp>
        <p:nvGrpSpPr>
          <p:cNvPr name="Group 95" id="95"/>
          <p:cNvGrpSpPr/>
          <p:nvPr/>
        </p:nvGrpSpPr>
        <p:grpSpPr>
          <a:xfrm rot="0">
            <a:off x="12954000" y="2000250"/>
            <a:ext cx="4572000" cy="1905000"/>
            <a:chOff x="0" y="0"/>
            <a:chExt cx="6096000" cy="2540000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6096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6096000">
                  <a:moveTo>
                    <a:pt x="0" y="0"/>
                  </a:moveTo>
                  <a:lnTo>
                    <a:pt x="6096000" y="0"/>
                  </a:lnTo>
                  <a:lnTo>
                    <a:pt x="6096000" y="2540000"/>
                  </a:lnTo>
                  <a:lnTo>
                    <a:pt x="0" y="2540000"/>
                  </a:lnTo>
                  <a:close/>
                </a:path>
              </a:pathLst>
            </a:custGeom>
            <a:solidFill>
              <a:srgbClr val="1A1A1A"/>
            </a:solidFill>
            <a:ln cap="sq">
              <a:noFill/>
              <a:prstDash val="solid"/>
              <a:miter/>
            </a:ln>
          </p:spPr>
        </p:sp>
        <p:sp>
          <p:nvSpPr>
            <p:cNvPr name="TextBox 97" id="97"/>
            <p:cNvSpPr txBox="true"/>
            <p:nvPr/>
          </p:nvSpPr>
          <p:spPr>
            <a:xfrm>
              <a:off x="0" y="-38100"/>
              <a:ext cx="6096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AutoShape 98" id="98"/>
          <p:cNvSpPr/>
          <p:nvPr/>
        </p:nvSpPr>
        <p:spPr>
          <a:xfrm>
            <a:off x="12954000" y="2000250"/>
            <a:ext cx="0" cy="190500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9" id="99"/>
          <p:cNvSpPr/>
          <p:nvPr/>
        </p:nvSpPr>
        <p:spPr>
          <a:xfrm>
            <a:off x="13716000" y="2000250"/>
            <a:ext cx="0" cy="190500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0" id="100"/>
          <p:cNvSpPr/>
          <p:nvPr/>
        </p:nvSpPr>
        <p:spPr>
          <a:xfrm>
            <a:off x="14478000" y="2000250"/>
            <a:ext cx="0" cy="190500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1" id="101"/>
          <p:cNvSpPr/>
          <p:nvPr/>
        </p:nvSpPr>
        <p:spPr>
          <a:xfrm>
            <a:off x="15240000" y="2000250"/>
            <a:ext cx="0" cy="190500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2" id="102"/>
          <p:cNvSpPr/>
          <p:nvPr/>
        </p:nvSpPr>
        <p:spPr>
          <a:xfrm>
            <a:off x="16002000" y="2000250"/>
            <a:ext cx="0" cy="190500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3" id="103"/>
          <p:cNvSpPr/>
          <p:nvPr/>
        </p:nvSpPr>
        <p:spPr>
          <a:xfrm>
            <a:off x="16764000" y="2000250"/>
            <a:ext cx="0" cy="190500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4" id="104"/>
          <p:cNvSpPr/>
          <p:nvPr/>
        </p:nvSpPr>
        <p:spPr>
          <a:xfrm>
            <a:off x="17526000" y="2000250"/>
            <a:ext cx="0" cy="190500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5" id="105"/>
          <p:cNvSpPr/>
          <p:nvPr/>
        </p:nvSpPr>
        <p:spPr>
          <a:xfrm>
            <a:off x="12954000" y="2000250"/>
            <a:ext cx="4572000" cy="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6" id="106"/>
          <p:cNvSpPr/>
          <p:nvPr/>
        </p:nvSpPr>
        <p:spPr>
          <a:xfrm>
            <a:off x="12954000" y="2762250"/>
            <a:ext cx="4572000" cy="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7" id="107"/>
          <p:cNvSpPr/>
          <p:nvPr/>
        </p:nvSpPr>
        <p:spPr>
          <a:xfrm>
            <a:off x="12954000" y="3524250"/>
            <a:ext cx="4572000" cy="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8" id="108"/>
          <p:cNvSpPr/>
          <p:nvPr/>
        </p:nvSpPr>
        <p:spPr>
          <a:xfrm>
            <a:off x="13639800" y="2286000"/>
            <a:ext cx="0" cy="1333500"/>
          </a:xfrm>
          <a:prstGeom prst="line">
            <a:avLst/>
          </a:prstGeom>
          <a:ln cap="flat" w="28575">
            <a:solidFill>
              <a:srgbClr val="55555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9" id="109"/>
          <p:cNvSpPr/>
          <p:nvPr/>
        </p:nvSpPr>
        <p:spPr>
          <a:xfrm>
            <a:off x="14439900" y="2286000"/>
            <a:ext cx="0" cy="1333500"/>
          </a:xfrm>
          <a:prstGeom prst="line">
            <a:avLst/>
          </a:prstGeom>
          <a:ln cap="flat" w="28575">
            <a:solidFill>
              <a:srgbClr val="55555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10" id="110"/>
          <p:cNvSpPr/>
          <p:nvPr/>
        </p:nvSpPr>
        <p:spPr>
          <a:xfrm>
            <a:off x="15240000" y="2286000"/>
            <a:ext cx="0" cy="1333500"/>
          </a:xfrm>
          <a:prstGeom prst="line">
            <a:avLst/>
          </a:prstGeom>
          <a:ln cap="flat" w="28575">
            <a:solidFill>
              <a:srgbClr val="55555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11" id="111"/>
          <p:cNvSpPr/>
          <p:nvPr/>
        </p:nvSpPr>
        <p:spPr>
          <a:xfrm>
            <a:off x="16040100" y="2286000"/>
            <a:ext cx="0" cy="1333500"/>
          </a:xfrm>
          <a:prstGeom prst="line">
            <a:avLst/>
          </a:prstGeom>
          <a:ln cap="flat" w="28575">
            <a:solidFill>
              <a:srgbClr val="55555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12" id="112"/>
          <p:cNvSpPr/>
          <p:nvPr/>
        </p:nvSpPr>
        <p:spPr>
          <a:xfrm>
            <a:off x="16840200" y="2286000"/>
            <a:ext cx="0" cy="1333500"/>
          </a:xfrm>
          <a:prstGeom prst="line">
            <a:avLst/>
          </a:prstGeom>
          <a:ln cap="flat" w="28575">
            <a:solidFill>
              <a:srgbClr val="55555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13" id="113"/>
          <p:cNvSpPr/>
          <p:nvPr/>
        </p:nvSpPr>
        <p:spPr>
          <a:xfrm>
            <a:off x="13011150" y="2057400"/>
            <a:ext cx="209550" cy="0"/>
          </a:xfrm>
          <a:prstGeom prst="line">
            <a:avLst/>
          </a:prstGeom>
          <a:ln cap="flat" w="19050">
            <a:solidFill>
              <a:srgbClr val="B5121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14" id="114"/>
          <p:cNvSpPr/>
          <p:nvPr/>
        </p:nvSpPr>
        <p:spPr>
          <a:xfrm>
            <a:off x="13011150" y="2057400"/>
            <a:ext cx="0" cy="209550"/>
          </a:xfrm>
          <a:prstGeom prst="line">
            <a:avLst/>
          </a:prstGeom>
          <a:ln cap="flat" w="19050">
            <a:solidFill>
              <a:srgbClr val="B5121B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15" id="115"/>
          <p:cNvGrpSpPr/>
          <p:nvPr/>
        </p:nvGrpSpPr>
        <p:grpSpPr>
          <a:xfrm rot="0">
            <a:off x="13049250" y="3524250"/>
            <a:ext cx="304800" cy="438531"/>
            <a:chOff x="0" y="0"/>
            <a:chExt cx="406400" cy="584708"/>
          </a:xfrm>
        </p:grpSpPr>
        <p:sp>
          <p:nvSpPr>
            <p:cNvPr name="Freeform 116" id="116"/>
            <p:cNvSpPr/>
            <p:nvPr/>
          </p:nvSpPr>
          <p:spPr>
            <a:xfrm flipH="false" flipV="false" rot="0">
              <a:off x="0" y="0"/>
              <a:ext cx="406400" cy="584708"/>
            </a:xfrm>
            <a:custGeom>
              <a:avLst/>
              <a:gdLst/>
              <a:ahLst/>
              <a:cxnLst/>
              <a:rect r="r" b="b" t="t" l="l"/>
              <a:pathLst>
                <a:path h="584708" w="406400">
                  <a:moveTo>
                    <a:pt x="0" y="0"/>
                  </a:moveTo>
                  <a:lnTo>
                    <a:pt x="406400" y="0"/>
                  </a:lnTo>
                  <a:lnTo>
                    <a:pt x="406400" y="584708"/>
                  </a:lnTo>
                  <a:lnTo>
                    <a:pt x="0" y="584708"/>
                  </a:lnTo>
                  <a:close/>
                </a:path>
              </a:pathLst>
            </a:custGeom>
            <a:solidFill>
              <a:srgbClr val="B5121B"/>
            </a:solidFill>
            <a:ln cap="sq">
              <a:noFill/>
              <a:prstDash val="solid"/>
              <a:miter/>
            </a:ln>
          </p:spPr>
        </p:sp>
        <p:sp>
          <p:nvSpPr>
            <p:cNvPr name="TextBox 117" id="117"/>
            <p:cNvSpPr txBox="true"/>
            <p:nvPr/>
          </p:nvSpPr>
          <p:spPr>
            <a:xfrm>
              <a:off x="0" y="-38100"/>
              <a:ext cx="406400" cy="622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  <a:r>
                <a:rPr lang="en-US" sz="1500" b="true">
                  <a:solidFill>
                    <a:srgbClr val="FFFFFF"/>
                  </a:solidFill>
                  <a:latin typeface="Oswald Bold"/>
                  <a:ea typeface="Oswald Bold"/>
                  <a:cs typeface="Oswald Bold"/>
                  <a:sym typeface="Oswald Bold"/>
                </a:rPr>
                <a:t>3</a:t>
              </a:r>
            </a:p>
          </p:txBody>
        </p:sp>
      </p:grpSp>
      <p:grpSp>
        <p:nvGrpSpPr>
          <p:cNvPr name="Group 118" id="118"/>
          <p:cNvGrpSpPr/>
          <p:nvPr/>
        </p:nvGrpSpPr>
        <p:grpSpPr>
          <a:xfrm rot="0">
            <a:off x="7810500" y="4095750"/>
            <a:ext cx="3619500" cy="1905000"/>
            <a:chOff x="0" y="0"/>
            <a:chExt cx="4826000" cy="2540000"/>
          </a:xfrm>
        </p:grpSpPr>
        <p:sp>
          <p:nvSpPr>
            <p:cNvPr name="Freeform 119" id="119"/>
            <p:cNvSpPr/>
            <p:nvPr/>
          </p:nvSpPr>
          <p:spPr>
            <a:xfrm flipH="false" flipV="false" rot="0">
              <a:off x="0" y="0"/>
              <a:ext cx="4826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4826000">
                  <a:moveTo>
                    <a:pt x="0" y="0"/>
                  </a:moveTo>
                  <a:lnTo>
                    <a:pt x="4826000" y="0"/>
                  </a:lnTo>
                  <a:lnTo>
                    <a:pt x="4826000" y="2540000"/>
                  </a:lnTo>
                  <a:lnTo>
                    <a:pt x="0" y="2540000"/>
                  </a:lnTo>
                  <a:close/>
                </a:path>
              </a:pathLst>
            </a:custGeom>
            <a:solidFill>
              <a:srgbClr val="1A1A1A"/>
            </a:solidFill>
            <a:ln cap="sq">
              <a:noFill/>
              <a:prstDash val="solid"/>
              <a:miter/>
            </a:ln>
          </p:spPr>
        </p:sp>
        <p:sp>
          <p:nvSpPr>
            <p:cNvPr name="TextBox 120" id="120"/>
            <p:cNvSpPr txBox="true"/>
            <p:nvPr/>
          </p:nvSpPr>
          <p:spPr>
            <a:xfrm>
              <a:off x="0" y="-38100"/>
              <a:ext cx="4826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AutoShape 121" id="121"/>
          <p:cNvSpPr/>
          <p:nvPr/>
        </p:nvSpPr>
        <p:spPr>
          <a:xfrm>
            <a:off x="7810500" y="4095750"/>
            <a:ext cx="0" cy="190500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22" id="122"/>
          <p:cNvSpPr/>
          <p:nvPr/>
        </p:nvSpPr>
        <p:spPr>
          <a:xfrm>
            <a:off x="8572500" y="4095750"/>
            <a:ext cx="0" cy="190500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23" id="123"/>
          <p:cNvSpPr/>
          <p:nvPr/>
        </p:nvSpPr>
        <p:spPr>
          <a:xfrm>
            <a:off x="9334500" y="4095750"/>
            <a:ext cx="0" cy="190500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24" id="124"/>
          <p:cNvSpPr/>
          <p:nvPr/>
        </p:nvSpPr>
        <p:spPr>
          <a:xfrm>
            <a:off x="10096500" y="4095750"/>
            <a:ext cx="0" cy="190500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25" id="125"/>
          <p:cNvSpPr/>
          <p:nvPr/>
        </p:nvSpPr>
        <p:spPr>
          <a:xfrm>
            <a:off x="10858500" y="4095750"/>
            <a:ext cx="0" cy="190500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26" id="126"/>
          <p:cNvSpPr/>
          <p:nvPr/>
        </p:nvSpPr>
        <p:spPr>
          <a:xfrm>
            <a:off x="7810500" y="4095750"/>
            <a:ext cx="3619500" cy="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27" id="127"/>
          <p:cNvSpPr/>
          <p:nvPr/>
        </p:nvSpPr>
        <p:spPr>
          <a:xfrm>
            <a:off x="7810500" y="4857750"/>
            <a:ext cx="3619500" cy="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28" id="128"/>
          <p:cNvSpPr/>
          <p:nvPr/>
        </p:nvSpPr>
        <p:spPr>
          <a:xfrm>
            <a:off x="7810500" y="5619750"/>
            <a:ext cx="3619500" cy="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29" id="129"/>
          <p:cNvSpPr/>
          <p:nvPr/>
        </p:nvSpPr>
        <p:spPr>
          <a:xfrm>
            <a:off x="8353425" y="4381500"/>
            <a:ext cx="0" cy="1333500"/>
          </a:xfrm>
          <a:prstGeom prst="line">
            <a:avLst/>
          </a:prstGeom>
          <a:ln cap="flat" w="28575">
            <a:solidFill>
              <a:srgbClr val="55555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30" id="130"/>
          <p:cNvSpPr/>
          <p:nvPr/>
        </p:nvSpPr>
        <p:spPr>
          <a:xfrm>
            <a:off x="8986838" y="4381500"/>
            <a:ext cx="0" cy="1333500"/>
          </a:xfrm>
          <a:prstGeom prst="line">
            <a:avLst/>
          </a:prstGeom>
          <a:ln cap="flat" w="28575">
            <a:solidFill>
              <a:srgbClr val="55555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31" id="131"/>
          <p:cNvSpPr/>
          <p:nvPr/>
        </p:nvSpPr>
        <p:spPr>
          <a:xfrm>
            <a:off x="9620250" y="4381500"/>
            <a:ext cx="0" cy="1333500"/>
          </a:xfrm>
          <a:prstGeom prst="line">
            <a:avLst/>
          </a:prstGeom>
          <a:ln cap="flat" w="28575">
            <a:solidFill>
              <a:srgbClr val="55555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32" id="132"/>
          <p:cNvSpPr/>
          <p:nvPr/>
        </p:nvSpPr>
        <p:spPr>
          <a:xfrm>
            <a:off x="10253662" y="4381500"/>
            <a:ext cx="0" cy="1333500"/>
          </a:xfrm>
          <a:prstGeom prst="line">
            <a:avLst/>
          </a:prstGeom>
          <a:ln cap="flat" w="28575">
            <a:solidFill>
              <a:srgbClr val="55555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33" id="133"/>
          <p:cNvSpPr/>
          <p:nvPr/>
        </p:nvSpPr>
        <p:spPr>
          <a:xfrm>
            <a:off x="10887075" y="4381500"/>
            <a:ext cx="0" cy="1333500"/>
          </a:xfrm>
          <a:prstGeom prst="line">
            <a:avLst/>
          </a:prstGeom>
          <a:ln cap="flat" w="28575">
            <a:solidFill>
              <a:srgbClr val="55555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34" id="134"/>
          <p:cNvSpPr/>
          <p:nvPr/>
        </p:nvSpPr>
        <p:spPr>
          <a:xfrm>
            <a:off x="7867650" y="4152900"/>
            <a:ext cx="209550" cy="0"/>
          </a:xfrm>
          <a:prstGeom prst="line">
            <a:avLst/>
          </a:prstGeom>
          <a:ln cap="flat" w="19050">
            <a:solidFill>
              <a:srgbClr val="B5121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35" id="135"/>
          <p:cNvSpPr/>
          <p:nvPr/>
        </p:nvSpPr>
        <p:spPr>
          <a:xfrm>
            <a:off x="7867650" y="4152900"/>
            <a:ext cx="0" cy="209550"/>
          </a:xfrm>
          <a:prstGeom prst="line">
            <a:avLst/>
          </a:prstGeom>
          <a:ln cap="flat" w="19050">
            <a:solidFill>
              <a:srgbClr val="B5121B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36" id="136"/>
          <p:cNvGrpSpPr/>
          <p:nvPr/>
        </p:nvGrpSpPr>
        <p:grpSpPr>
          <a:xfrm rot="0">
            <a:off x="7905750" y="5619750"/>
            <a:ext cx="304800" cy="438531"/>
            <a:chOff x="0" y="0"/>
            <a:chExt cx="406400" cy="584708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406400" cy="584708"/>
            </a:xfrm>
            <a:custGeom>
              <a:avLst/>
              <a:gdLst/>
              <a:ahLst/>
              <a:cxnLst/>
              <a:rect r="r" b="b" t="t" l="l"/>
              <a:pathLst>
                <a:path h="584708" w="406400">
                  <a:moveTo>
                    <a:pt x="0" y="0"/>
                  </a:moveTo>
                  <a:lnTo>
                    <a:pt x="406400" y="0"/>
                  </a:lnTo>
                  <a:lnTo>
                    <a:pt x="406400" y="584708"/>
                  </a:lnTo>
                  <a:lnTo>
                    <a:pt x="0" y="584708"/>
                  </a:lnTo>
                  <a:close/>
                </a:path>
              </a:pathLst>
            </a:custGeom>
            <a:solidFill>
              <a:srgbClr val="B5121B"/>
            </a:solidFill>
            <a:ln cap="sq">
              <a:noFill/>
              <a:prstDash val="solid"/>
              <a:miter/>
            </a:ln>
          </p:spPr>
        </p:sp>
        <p:sp>
          <p:nvSpPr>
            <p:cNvPr name="TextBox 138" id="138"/>
            <p:cNvSpPr txBox="true"/>
            <p:nvPr/>
          </p:nvSpPr>
          <p:spPr>
            <a:xfrm>
              <a:off x="0" y="-38100"/>
              <a:ext cx="406400" cy="622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  <a:r>
                <a:rPr lang="en-US" sz="1500" b="true">
                  <a:solidFill>
                    <a:srgbClr val="FFFFFF"/>
                  </a:solidFill>
                  <a:latin typeface="Oswald Bold"/>
                  <a:ea typeface="Oswald Bold"/>
                  <a:cs typeface="Oswald Bold"/>
                  <a:sym typeface="Oswald Bold"/>
                </a:rPr>
                <a:t>4</a:t>
              </a:r>
            </a:p>
          </p:txBody>
        </p:sp>
      </p:grpSp>
      <p:grpSp>
        <p:nvGrpSpPr>
          <p:cNvPr name="Group 139" id="139"/>
          <p:cNvGrpSpPr/>
          <p:nvPr/>
        </p:nvGrpSpPr>
        <p:grpSpPr>
          <a:xfrm rot="0">
            <a:off x="11620500" y="4095750"/>
            <a:ext cx="5905500" cy="1905000"/>
            <a:chOff x="0" y="0"/>
            <a:chExt cx="7874000" cy="2540000"/>
          </a:xfrm>
        </p:grpSpPr>
        <p:sp>
          <p:nvSpPr>
            <p:cNvPr name="Freeform 140" id="140"/>
            <p:cNvSpPr/>
            <p:nvPr/>
          </p:nvSpPr>
          <p:spPr>
            <a:xfrm flipH="false" flipV="false" rot="0">
              <a:off x="0" y="0"/>
              <a:ext cx="7874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7874000">
                  <a:moveTo>
                    <a:pt x="0" y="0"/>
                  </a:moveTo>
                  <a:lnTo>
                    <a:pt x="7874000" y="0"/>
                  </a:lnTo>
                  <a:lnTo>
                    <a:pt x="7874000" y="2540000"/>
                  </a:lnTo>
                  <a:lnTo>
                    <a:pt x="0" y="2540000"/>
                  </a:lnTo>
                  <a:close/>
                </a:path>
              </a:pathLst>
            </a:custGeom>
            <a:solidFill>
              <a:srgbClr val="1A1A1A"/>
            </a:solidFill>
            <a:ln cap="sq">
              <a:noFill/>
              <a:prstDash val="solid"/>
              <a:miter/>
            </a:ln>
          </p:spPr>
        </p:sp>
        <p:sp>
          <p:nvSpPr>
            <p:cNvPr name="TextBox 141" id="141"/>
            <p:cNvSpPr txBox="true"/>
            <p:nvPr/>
          </p:nvSpPr>
          <p:spPr>
            <a:xfrm>
              <a:off x="0" y="-38100"/>
              <a:ext cx="7874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AutoShape 142" id="142"/>
          <p:cNvSpPr/>
          <p:nvPr/>
        </p:nvSpPr>
        <p:spPr>
          <a:xfrm>
            <a:off x="11620500" y="4095750"/>
            <a:ext cx="0" cy="190500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43" id="143"/>
          <p:cNvSpPr/>
          <p:nvPr/>
        </p:nvSpPr>
        <p:spPr>
          <a:xfrm>
            <a:off x="12382500" y="4095750"/>
            <a:ext cx="0" cy="190500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44" id="144"/>
          <p:cNvSpPr/>
          <p:nvPr/>
        </p:nvSpPr>
        <p:spPr>
          <a:xfrm>
            <a:off x="13144500" y="4095750"/>
            <a:ext cx="0" cy="190500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45" id="145"/>
          <p:cNvSpPr/>
          <p:nvPr/>
        </p:nvSpPr>
        <p:spPr>
          <a:xfrm>
            <a:off x="13906500" y="4095750"/>
            <a:ext cx="0" cy="190500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46" id="146"/>
          <p:cNvSpPr/>
          <p:nvPr/>
        </p:nvSpPr>
        <p:spPr>
          <a:xfrm>
            <a:off x="14668500" y="4095750"/>
            <a:ext cx="0" cy="190500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47" id="147"/>
          <p:cNvSpPr/>
          <p:nvPr/>
        </p:nvSpPr>
        <p:spPr>
          <a:xfrm>
            <a:off x="15430500" y="4095750"/>
            <a:ext cx="0" cy="190500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48" id="148"/>
          <p:cNvSpPr/>
          <p:nvPr/>
        </p:nvSpPr>
        <p:spPr>
          <a:xfrm>
            <a:off x="16192500" y="4095750"/>
            <a:ext cx="0" cy="190500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49" id="149"/>
          <p:cNvSpPr/>
          <p:nvPr/>
        </p:nvSpPr>
        <p:spPr>
          <a:xfrm>
            <a:off x="16954500" y="4095750"/>
            <a:ext cx="0" cy="190500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50" id="150"/>
          <p:cNvSpPr/>
          <p:nvPr/>
        </p:nvSpPr>
        <p:spPr>
          <a:xfrm>
            <a:off x="11620500" y="4095750"/>
            <a:ext cx="5905500" cy="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51" id="151"/>
          <p:cNvSpPr/>
          <p:nvPr/>
        </p:nvSpPr>
        <p:spPr>
          <a:xfrm>
            <a:off x="11620500" y="4857750"/>
            <a:ext cx="5905500" cy="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52" id="152"/>
          <p:cNvSpPr/>
          <p:nvPr/>
        </p:nvSpPr>
        <p:spPr>
          <a:xfrm>
            <a:off x="11620500" y="5619750"/>
            <a:ext cx="5905500" cy="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53" id="153"/>
          <p:cNvSpPr/>
          <p:nvPr/>
        </p:nvSpPr>
        <p:spPr>
          <a:xfrm>
            <a:off x="12506325" y="4381500"/>
            <a:ext cx="0" cy="1333500"/>
          </a:xfrm>
          <a:prstGeom prst="line">
            <a:avLst/>
          </a:prstGeom>
          <a:ln cap="flat" w="28575">
            <a:solidFill>
              <a:srgbClr val="55555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54" id="154"/>
          <p:cNvSpPr/>
          <p:nvPr/>
        </p:nvSpPr>
        <p:spPr>
          <a:xfrm>
            <a:off x="13539788" y="4381500"/>
            <a:ext cx="0" cy="1333500"/>
          </a:xfrm>
          <a:prstGeom prst="line">
            <a:avLst/>
          </a:prstGeom>
          <a:ln cap="flat" w="28575">
            <a:solidFill>
              <a:srgbClr val="55555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55" id="155"/>
          <p:cNvSpPr/>
          <p:nvPr/>
        </p:nvSpPr>
        <p:spPr>
          <a:xfrm>
            <a:off x="14573250" y="4381500"/>
            <a:ext cx="0" cy="1333500"/>
          </a:xfrm>
          <a:prstGeom prst="line">
            <a:avLst/>
          </a:prstGeom>
          <a:ln cap="flat" w="28575">
            <a:solidFill>
              <a:srgbClr val="55555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56" id="156"/>
          <p:cNvSpPr/>
          <p:nvPr/>
        </p:nvSpPr>
        <p:spPr>
          <a:xfrm>
            <a:off x="15606712" y="4381500"/>
            <a:ext cx="0" cy="1333500"/>
          </a:xfrm>
          <a:prstGeom prst="line">
            <a:avLst/>
          </a:prstGeom>
          <a:ln cap="flat" w="28575">
            <a:solidFill>
              <a:srgbClr val="55555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57" id="157"/>
          <p:cNvSpPr/>
          <p:nvPr/>
        </p:nvSpPr>
        <p:spPr>
          <a:xfrm>
            <a:off x="16640175" y="4381500"/>
            <a:ext cx="0" cy="1333500"/>
          </a:xfrm>
          <a:prstGeom prst="line">
            <a:avLst/>
          </a:prstGeom>
          <a:ln cap="flat" w="28575">
            <a:solidFill>
              <a:srgbClr val="55555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58" id="158"/>
          <p:cNvSpPr/>
          <p:nvPr/>
        </p:nvSpPr>
        <p:spPr>
          <a:xfrm>
            <a:off x="11677650" y="4152900"/>
            <a:ext cx="209550" cy="0"/>
          </a:xfrm>
          <a:prstGeom prst="line">
            <a:avLst/>
          </a:prstGeom>
          <a:ln cap="flat" w="19050">
            <a:solidFill>
              <a:srgbClr val="B5121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59" id="159"/>
          <p:cNvSpPr/>
          <p:nvPr/>
        </p:nvSpPr>
        <p:spPr>
          <a:xfrm>
            <a:off x="11677650" y="4152900"/>
            <a:ext cx="0" cy="209550"/>
          </a:xfrm>
          <a:prstGeom prst="line">
            <a:avLst/>
          </a:prstGeom>
          <a:ln cap="flat" w="19050">
            <a:solidFill>
              <a:srgbClr val="B5121B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60" id="160"/>
          <p:cNvGrpSpPr/>
          <p:nvPr/>
        </p:nvGrpSpPr>
        <p:grpSpPr>
          <a:xfrm rot="0">
            <a:off x="11715750" y="5619750"/>
            <a:ext cx="304800" cy="438531"/>
            <a:chOff x="0" y="0"/>
            <a:chExt cx="406400" cy="584708"/>
          </a:xfrm>
        </p:grpSpPr>
        <p:sp>
          <p:nvSpPr>
            <p:cNvPr name="Freeform 161" id="161"/>
            <p:cNvSpPr/>
            <p:nvPr/>
          </p:nvSpPr>
          <p:spPr>
            <a:xfrm flipH="false" flipV="false" rot="0">
              <a:off x="0" y="0"/>
              <a:ext cx="406400" cy="584708"/>
            </a:xfrm>
            <a:custGeom>
              <a:avLst/>
              <a:gdLst/>
              <a:ahLst/>
              <a:cxnLst/>
              <a:rect r="r" b="b" t="t" l="l"/>
              <a:pathLst>
                <a:path h="584708" w="406400">
                  <a:moveTo>
                    <a:pt x="0" y="0"/>
                  </a:moveTo>
                  <a:lnTo>
                    <a:pt x="406400" y="0"/>
                  </a:lnTo>
                  <a:lnTo>
                    <a:pt x="406400" y="584708"/>
                  </a:lnTo>
                  <a:lnTo>
                    <a:pt x="0" y="584708"/>
                  </a:lnTo>
                  <a:close/>
                </a:path>
              </a:pathLst>
            </a:custGeom>
            <a:solidFill>
              <a:srgbClr val="B5121B"/>
            </a:solidFill>
            <a:ln cap="sq">
              <a:noFill/>
              <a:prstDash val="solid"/>
              <a:miter/>
            </a:ln>
          </p:spPr>
        </p:sp>
        <p:sp>
          <p:nvSpPr>
            <p:cNvPr name="TextBox 162" id="162"/>
            <p:cNvSpPr txBox="true"/>
            <p:nvPr/>
          </p:nvSpPr>
          <p:spPr>
            <a:xfrm>
              <a:off x="0" y="-38100"/>
              <a:ext cx="406400" cy="622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  <a:r>
                <a:rPr lang="en-US" sz="1500" b="true">
                  <a:solidFill>
                    <a:srgbClr val="FFFFFF"/>
                  </a:solidFill>
                  <a:latin typeface="Oswald Bold"/>
                  <a:ea typeface="Oswald Bold"/>
                  <a:cs typeface="Oswald Bold"/>
                  <a:sym typeface="Oswald Bold"/>
                </a:rPr>
                <a:t>5</a:t>
              </a:r>
            </a:p>
          </p:txBody>
        </p:sp>
      </p:grpSp>
      <p:sp>
        <p:nvSpPr>
          <p:cNvPr name="TextBox 163" id="163"/>
          <p:cNvSpPr txBox="true"/>
          <p:nvPr/>
        </p:nvSpPr>
        <p:spPr>
          <a:xfrm rot="0">
            <a:off x="762000" y="6057900"/>
            <a:ext cx="6858000" cy="148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spc="225">
                <a:solidFill>
                  <a:srgbClr val="555555"/>
                </a:solidFill>
                <a:latin typeface="Inter 2"/>
                <a:ea typeface="Inter 2"/>
                <a:cs typeface="Inter 2"/>
                <a:sym typeface="Inter 2"/>
              </a:rPr>
              <a:t>01  Full-length support tacked plumb along the sidewall — corner posts referenced.</a:t>
            </a:r>
          </a:p>
        </p:txBody>
      </p:sp>
      <p:sp>
        <p:nvSpPr>
          <p:cNvPr name="TextBox 164" id="164"/>
          <p:cNvSpPr txBox="true"/>
          <p:nvPr/>
        </p:nvSpPr>
        <p:spPr>
          <a:xfrm rot="0">
            <a:off x="7810500" y="3962400"/>
            <a:ext cx="4953000" cy="1657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64"/>
              </a:lnSpc>
            </a:pPr>
            <a:r>
              <a:rPr lang="en-US" sz="975" spc="243">
                <a:solidFill>
                  <a:srgbClr val="555555"/>
                </a:solidFill>
                <a:latin typeface="Inter 2"/>
                <a:ea typeface="Inter 2"/>
                <a:cs typeface="Inter 2"/>
                <a:sym typeface="Inter 2"/>
              </a:rPr>
              <a:t>02  Alignment check with laser plumb and torpedo level.</a:t>
            </a:r>
          </a:p>
        </p:txBody>
      </p:sp>
      <p:sp>
        <p:nvSpPr>
          <p:cNvPr name="TextBox 165" id="165"/>
          <p:cNvSpPr txBox="true"/>
          <p:nvPr/>
        </p:nvSpPr>
        <p:spPr>
          <a:xfrm rot="0">
            <a:off x="12954000" y="3952875"/>
            <a:ext cx="4572000" cy="150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55"/>
              </a:lnSpc>
            </a:pPr>
            <a:r>
              <a:rPr lang="en-US" sz="825" spc="206">
                <a:solidFill>
                  <a:srgbClr val="555555"/>
                </a:solidFill>
                <a:latin typeface="Inter 2"/>
                <a:ea typeface="Inter 2"/>
                <a:cs typeface="Inter 2"/>
                <a:sym typeface="Inter 2"/>
              </a:rPr>
              <a:t>03  Root pass, vertical up — E71T-1 flux core, downhand fill.</a:t>
            </a:r>
          </a:p>
        </p:txBody>
      </p:sp>
      <p:sp>
        <p:nvSpPr>
          <p:cNvPr name="TextBox 166" id="166"/>
          <p:cNvSpPr txBox="true"/>
          <p:nvPr/>
        </p:nvSpPr>
        <p:spPr>
          <a:xfrm rot="0">
            <a:off x="7810500" y="6057900"/>
            <a:ext cx="3619500" cy="148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spc="225">
                <a:solidFill>
                  <a:srgbClr val="555555"/>
                </a:solidFill>
                <a:latin typeface="Inter 2"/>
                <a:ea typeface="Inter 2"/>
                <a:cs typeface="Inter 2"/>
                <a:sym typeface="Inter 2"/>
              </a:rPr>
              <a:t>04  Crew hand-off between weld positions.</a:t>
            </a:r>
          </a:p>
        </p:txBody>
      </p:sp>
      <p:sp>
        <p:nvSpPr>
          <p:cNvPr name="TextBox 167" id="167"/>
          <p:cNvSpPr txBox="true"/>
          <p:nvPr/>
        </p:nvSpPr>
        <p:spPr>
          <a:xfrm rot="0">
            <a:off x="11620500" y="6057900"/>
            <a:ext cx="5905500" cy="1657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64"/>
              </a:lnSpc>
            </a:pPr>
            <a:r>
              <a:rPr lang="en-US" sz="975" spc="243">
                <a:solidFill>
                  <a:srgbClr val="555555"/>
                </a:solidFill>
                <a:latin typeface="Inter 2"/>
                <a:ea typeface="Inter 2"/>
                <a:cs typeface="Inter 2"/>
                <a:sym typeface="Inter 2"/>
              </a:rPr>
              <a:t>05  Support run complete, ready for gusset plates.</a:t>
            </a:r>
          </a:p>
        </p:txBody>
      </p:sp>
      <p:grpSp>
        <p:nvGrpSpPr>
          <p:cNvPr name="Group 168" id="168"/>
          <p:cNvGrpSpPr/>
          <p:nvPr/>
        </p:nvGrpSpPr>
        <p:grpSpPr>
          <a:xfrm rot="0">
            <a:off x="762000" y="6667500"/>
            <a:ext cx="16764000" cy="2476500"/>
            <a:chOff x="0" y="0"/>
            <a:chExt cx="22352000" cy="3302000"/>
          </a:xfrm>
        </p:grpSpPr>
        <p:sp>
          <p:nvSpPr>
            <p:cNvPr name="Freeform 169" id="169"/>
            <p:cNvSpPr/>
            <p:nvPr/>
          </p:nvSpPr>
          <p:spPr>
            <a:xfrm flipH="false" flipV="false" rot="0">
              <a:off x="0" y="0"/>
              <a:ext cx="22352000" cy="3302000"/>
            </a:xfrm>
            <a:custGeom>
              <a:avLst/>
              <a:gdLst/>
              <a:ahLst/>
              <a:cxnLst/>
              <a:rect r="r" b="b" t="t" l="l"/>
              <a:pathLst>
                <a:path h="3302000" w="22352000">
                  <a:moveTo>
                    <a:pt x="0" y="0"/>
                  </a:moveTo>
                  <a:lnTo>
                    <a:pt x="22352000" y="0"/>
                  </a:lnTo>
                  <a:lnTo>
                    <a:pt x="22352000" y="3302000"/>
                  </a:lnTo>
                  <a:lnTo>
                    <a:pt x="0" y="3302000"/>
                  </a:lnTo>
                  <a:close/>
                </a:path>
              </a:pathLst>
            </a:custGeom>
            <a:solidFill>
              <a:srgbClr val="1A1A1A"/>
            </a:solidFill>
            <a:ln cap="sq">
              <a:noFill/>
              <a:prstDash val="solid"/>
              <a:miter/>
            </a:ln>
          </p:spPr>
        </p:sp>
        <p:sp>
          <p:nvSpPr>
            <p:cNvPr name="TextBox 170" id="170"/>
            <p:cNvSpPr txBox="true"/>
            <p:nvPr/>
          </p:nvSpPr>
          <p:spPr>
            <a:xfrm>
              <a:off x="0" y="-38100"/>
              <a:ext cx="22352000" cy="334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1" id="171"/>
          <p:cNvGrpSpPr/>
          <p:nvPr/>
        </p:nvGrpSpPr>
        <p:grpSpPr>
          <a:xfrm rot="0">
            <a:off x="762000" y="6667500"/>
            <a:ext cx="57150" cy="2476500"/>
            <a:chOff x="0" y="0"/>
            <a:chExt cx="76200" cy="3302000"/>
          </a:xfrm>
        </p:grpSpPr>
        <p:sp>
          <p:nvSpPr>
            <p:cNvPr name="Freeform 172" id="172"/>
            <p:cNvSpPr/>
            <p:nvPr/>
          </p:nvSpPr>
          <p:spPr>
            <a:xfrm flipH="false" flipV="false" rot="0">
              <a:off x="0" y="0"/>
              <a:ext cx="76200" cy="3302000"/>
            </a:xfrm>
            <a:custGeom>
              <a:avLst/>
              <a:gdLst/>
              <a:ahLst/>
              <a:cxnLst/>
              <a:rect r="r" b="b" t="t" l="l"/>
              <a:pathLst>
                <a:path h="3302000" w="76200">
                  <a:moveTo>
                    <a:pt x="0" y="0"/>
                  </a:moveTo>
                  <a:lnTo>
                    <a:pt x="76200" y="0"/>
                  </a:lnTo>
                  <a:lnTo>
                    <a:pt x="76200" y="3302000"/>
                  </a:lnTo>
                  <a:lnTo>
                    <a:pt x="0" y="3302000"/>
                  </a:lnTo>
                  <a:close/>
                </a:path>
              </a:pathLst>
            </a:custGeom>
            <a:solidFill>
              <a:srgbClr val="B5121B"/>
            </a:solidFill>
            <a:ln cap="sq">
              <a:noFill/>
              <a:prstDash val="solid"/>
              <a:miter/>
            </a:ln>
          </p:spPr>
        </p:sp>
        <p:sp>
          <p:nvSpPr>
            <p:cNvPr name="TextBox 173" id="173"/>
            <p:cNvSpPr txBox="true"/>
            <p:nvPr/>
          </p:nvSpPr>
          <p:spPr>
            <a:xfrm>
              <a:off x="0" y="-38100"/>
              <a:ext cx="76200" cy="334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74" id="174"/>
          <p:cNvSpPr txBox="true"/>
          <p:nvPr/>
        </p:nvSpPr>
        <p:spPr>
          <a:xfrm rot="0">
            <a:off x="1143000" y="6867525"/>
            <a:ext cx="8572500" cy="2076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200" spc="420" b="true">
                <a:solidFill>
                  <a:srgbClr val="C0C0C0"/>
                </a:solidFill>
                <a:latin typeface="Inter 2 Bold"/>
                <a:ea typeface="Inter 2 Bold"/>
                <a:cs typeface="Inter 2 Bold"/>
                <a:sym typeface="Inter 2 Bold"/>
              </a:rPr>
              <a:t>FIELD CHALLENGES  &amp;  SOLUTIONS</a:t>
            </a:r>
          </a:p>
        </p:txBody>
      </p:sp>
      <p:sp>
        <p:nvSpPr>
          <p:cNvPr name="TextBox 175" id="175"/>
          <p:cNvSpPr txBox="true"/>
          <p:nvPr/>
        </p:nvSpPr>
        <p:spPr>
          <a:xfrm rot="0">
            <a:off x="1143000" y="7248525"/>
            <a:ext cx="3810000" cy="150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55"/>
              </a:lnSpc>
            </a:pPr>
            <a:r>
              <a:rPr lang="en-US" sz="825" spc="330" b="true">
                <a:solidFill>
                  <a:srgbClr val="B5121B"/>
                </a:solidFill>
                <a:latin typeface="Inter 2 Bold"/>
                <a:ea typeface="Inter 2 Bold"/>
                <a:cs typeface="Inter 2 Bold"/>
                <a:sym typeface="Inter 2 Bold"/>
              </a:rPr>
              <a:t>CHALLENGE</a:t>
            </a:r>
          </a:p>
        </p:txBody>
      </p:sp>
      <p:sp>
        <p:nvSpPr>
          <p:cNvPr name="TextBox 176" id="176"/>
          <p:cNvSpPr txBox="true"/>
          <p:nvPr/>
        </p:nvSpPr>
        <p:spPr>
          <a:xfrm rot="0">
            <a:off x="1143000" y="7439025"/>
            <a:ext cx="4953000" cy="4357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43"/>
              </a:lnSpc>
            </a:pPr>
            <a:r>
              <a:rPr lang="en-US" sz="1125">
                <a:solidFill>
                  <a:srgbClr val="C0C0C0"/>
                </a:solidFill>
                <a:latin typeface="Inter 2"/>
                <a:ea typeface="Inter 2"/>
                <a:cs typeface="Inter 2"/>
                <a:sym typeface="Inter 2"/>
              </a:rPr>
              <a:t>Corner posts out of plumb by ~3/8" over full height, biasing every support run.</a:t>
            </a:r>
          </a:p>
        </p:txBody>
      </p:sp>
      <p:sp>
        <p:nvSpPr>
          <p:cNvPr name="TextBox 177" id="177"/>
          <p:cNvSpPr txBox="true"/>
          <p:nvPr/>
        </p:nvSpPr>
        <p:spPr>
          <a:xfrm rot="0">
            <a:off x="6286500" y="7248525"/>
            <a:ext cx="3810000" cy="150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55"/>
              </a:lnSpc>
            </a:pPr>
            <a:r>
              <a:rPr lang="en-US" sz="825" spc="330" b="true">
                <a:solidFill>
                  <a:srgbClr val="B5121B"/>
                </a:solidFill>
                <a:latin typeface="Inter 2 Bold"/>
                <a:ea typeface="Inter 2 Bold"/>
                <a:cs typeface="Inter 2 Bold"/>
                <a:sym typeface="Inter 2 Bold"/>
              </a:rPr>
              <a:t>SOLUTION</a:t>
            </a:r>
          </a:p>
        </p:txBody>
      </p:sp>
      <p:sp>
        <p:nvSpPr>
          <p:cNvPr name="TextBox 178" id="178"/>
          <p:cNvSpPr txBox="true"/>
          <p:nvPr/>
        </p:nvSpPr>
        <p:spPr>
          <a:xfrm rot="0">
            <a:off x="6286500" y="7439025"/>
            <a:ext cx="4953000" cy="4357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43"/>
              </a:lnSpc>
            </a:pPr>
            <a:r>
              <a:rPr lang="en-US" sz="1125">
                <a:solidFill>
                  <a:srgbClr val="C0C0C0"/>
                </a:solidFill>
                <a:latin typeface="Inter 2"/>
                <a:ea typeface="Inter 2"/>
                <a:cs typeface="Inter 2"/>
                <a:sym typeface="Inter 2"/>
              </a:rPr>
              <a:t>Fabricated adjustable gusset plates to shim each support at the top and bottom rail.</a:t>
            </a:r>
          </a:p>
        </p:txBody>
      </p:sp>
      <p:sp>
        <p:nvSpPr>
          <p:cNvPr name="TextBox 179" id="179"/>
          <p:cNvSpPr txBox="true"/>
          <p:nvPr/>
        </p:nvSpPr>
        <p:spPr>
          <a:xfrm rot="0">
            <a:off x="11430000" y="7248525"/>
            <a:ext cx="4762500" cy="150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55"/>
              </a:lnSpc>
            </a:pPr>
            <a:r>
              <a:rPr lang="en-US" sz="825" spc="330" b="true">
                <a:solidFill>
                  <a:srgbClr val="B5121B"/>
                </a:solidFill>
                <a:latin typeface="Inter 2 Bold"/>
                <a:ea typeface="Inter 2 Bold"/>
                <a:cs typeface="Inter 2 Bold"/>
                <a:sym typeface="Inter 2 Bold"/>
              </a:rPr>
              <a:t>SAFETY</a:t>
            </a:r>
          </a:p>
        </p:txBody>
      </p:sp>
      <p:sp>
        <p:nvSpPr>
          <p:cNvPr name="TextBox 180" id="180"/>
          <p:cNvSpPr txBox="true"/>
          <p:nvPr/>
        </p:nvSpPr>
        <p:spPr>
          <a:xfrm rot="0">
            <a:off x="11430000" y="7439025"/>
            <a:ext cx="5905500" cy="4357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43"/>
              </a:lnSpc>
            </a:pPr>
            <a:r>
              <a:rPr lang="en-US" sz="1125">
                <a:solidFill>
                  <a:srgbClr val="C0C0C0"/>
                </a:solidFill>
                <a:latin typeface="Inter 2"/>
                <a:ea typeface="Inter 2"/>
                <a:cs typeface="Inter 2"/>
                <a:sym typeface="Inter 2"/>
              </a:rPr>
              <a:t>Hot-work permit, forced-air ventilation, and dual fire watch throughout all vertical positions.</a:t>
            </a:r>
          </a:p>
        </p:txBody>
      </p:sp>
      <p:sp>
        <p:nvSpPr>
          <p:cNvPr name="AutoShape 181" id="181"/>
          <p:cNvSpPr/>
          <p:nvPr/>
        </p:nvSpPr>
        <p:spPr>
          <a:xfrm>
            <a:off x="762000" y="9677400"/>
            <a:ext cx="16764000" cy="0"/>
          </a:xfrm>
          <a:prstGeom prst="line">
            <a:avLst/>
          </a:prstGeom>
          <a:ln cap="flat" w="9525">
            <a:solidFill>
              <a:srgbClr val="DDDDDD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82" id="182"/>
          <p:cNvSpPr txBox="true"/>
          <p:nvPr/>
        </p:nvSpPr>
        <p:spPr>
          <a:xfrm rot="0">
            <a:off x="762000" y="9810750"/>
            <a:ext cx="381000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405" b="true">
                <a:solidFill>
                  <a:srgbClr val="555555"/>
                </a:solidFill>
                <a:latin typeface="Oswald Bold"/>
                <a:ea typeface="Oswald Bold"/>
                <a:cs typeface="Oswald Bold"/>
                <a:sym typeface="Oswald Bold"/>
              </a:rPr>
              <a:t>METAL WORX, INC.</a:t>
            </a:r>
          </a:p>
        </p:txBody>
      </p:sp>
      <p:sp>
        <p:nvSpPr>
          <p:cNvPr name="TextBox 183" id="183"/>
          <p:cNvSpPr txBox="true"/>
          <p:nvPr/>
        </p:nvSpPr>
        <p:spPr>
          <a:xfrm rot="0">
            <a:off x="4762500" y="9829800"/>
            <a:ext cx="7620000" cy="148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60"/>
              </a:lnSpc>
            </a:pPr>
            <a:r>
              <a:rPr lang="en-US" sz="900" spc="359">
                <a:solidFill>
                  <a:srgbClr val="555555"/>
                </a:solidFill>
                <a:latin typeface="Inter 2"/>
                <a:ea typeface="Inter 2"/>
                <a:cs typeface="Inter 2"/>
                <a:sym typeface="Inter 2"/>
              </a:rPr>
              <a:t>WALL SUPPORTS</a:t>
            </a:r>
          </a:p>
        </p:txBody>
      </p:sp>
      <p:sp>
        <p:nvSpPr>
          <p:cNvPr name="TextBox 184" id="184"/>
          <p:cNvSpPr txBox="true"/>
          <p:nvPr/>
        </p:nvSpPr>
        <p:spPr>
          <a:xfrm rot="0">
            <a:off x="15811500" y="9829800"/>
            <a:ext cx="1714500" cy="148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260"/>
              </a:lnSpc>
            </a:pPr>
            <a:r>
              <a:rPr lang="en-US" sz="900" spc="359">
                <a:solidFill>
                  <a:srgbClr val="555555"/>
                </a:solidFill>
                <a:latin typeface="Inter 2"/>
                <a:ea typeface="Inter 2"/>
                <a:cs typeface="Inter 2"/>
                <a:sym typeface="Inter 2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" id="3"/>
          <p:cNvSpPr/>
          <p:nvPr/>
        </p:nvSpPr>
        <p:spPr>
          <a:xfrm>
            <a:off x="762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" id="4"/>
          <p:cNvSpPr/>
          <p:nvPr/>
        </p:nvSpPr>
        <p:spPr>
          <a:xfrm>
            <a:off x="1524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" id="5"/>
          <p:cNvSpPr/>
          <p:nvPr/>
        </p:nvSpPr>
        <p:spPr>
          <a:xfrm>
            <a:off x="2286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" id="6"/>
          <p:cNvSpPr/>
          <p:nvPr/>
        </p:nvSpPr>
        <p:spPr>
          <a:xfrm>
            <a:off x="3048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" id="7"/>
          <p:cNvSpPr/>
          <p:nvPr/>
        </p:nvSpPr>
        <p:spPr>
          <a:xfrm>
            <a:off x="3810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" id="8"/>
          <p:cNvSpPr/>
          <p:nvPr/>
        </p:nvSpPr>
        <p:spPr>
          <a:xfrm>
            <a:off x="4572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" id="9"/>
          <p:cNvSpPr/>
          <p:nvPr/>
        </p:nvSpPr>
        <p:spPr>
          <a:xfrm>
            <a:off x="5334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" id="10"/>
          <p:cNvSpPr/>
          <p:nvPr/>
        </p:nvSpPr>
        <p:spPr>
          <a:xfrm>
            <a:off x="6096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1" id="11"/>
          <p:cNvSpPr/>
          <p:nvPr/>
        </p:nvSpPr>
        <p:spPr>
          <a:xfrm>
            <a:off x="6858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2" id="12"/>
          <p:cNvSpPr/>
          <p:nvPr/>
        </p:nvSpPr>
        <p:spPr>
          <a:xfrm>
            <a:off x="7620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3" id="13"/>
          <p:cNvSpPr/>
          <p:nvPr/>
        </p:nvSpPr>
        <p:spPr>
          <a:xfrm>
            <a:off x="8382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4" id="14"/>
          <p:cNvSpPr/>
          <p:nvPr/>
        </p:nvSpPr>
        <p:spPr>
          <a:xfrm>
            <a:off x="9144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5" id="15"/>
          <p:cNvSpPr/>
          <p:nvPr/>
        </p:nvSpPr>
        <p:spPr>
          <a:xfrm>
            <a:off x="9906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6" id="16"/>
          <p:cNvSpPr/>
          <p:nvPr/>
        </p:nvSpPr>
        <p:spPr>
          <a:xfrm>
            <a:off x="10668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7" id="17"/>
          <p:cNvSpPr/>
          <p:nvPr/>
        </p:nvSpPr>
        <p:spPr>
          <a:xfrm>
            <a:off x="11430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8" id="18"/>
          <p:cNvSpPr/>
          <p:nvPr/>
        </p:nvSpPr>
        <p:spPr>
          <a:xfrm>
            <a:off x="12192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9" id="19"/>
          <p:cNvSpPr/>
          <p:nvPr/>
        </p:nvSpPr>
        <p:spPr>
          <a:xfrm>
            <a:off x="12954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0" id="20"/>
          <p:cNvSpPr/>
          <p:nvPr/>
        </p:nvSpPr>
        <p:spPr>
          <a:xfrm>
            <a:off x="13716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1" id="21"/>
          <p:cNvSpPr/>
          <p:nvPr/>
        </p:nvSpPr>
        <p:spPr>
          <a:xfrm>
            <a:off x="14478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2" id="22"/>
          <p:cNvSpPr/>
          <p:nvPr/>
        </p:nvSpPr>
        <p:spPr>
          <a:xfrm>
            <a:off x="15240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3" id="23"/>
          <p:cNvSpPr/>
          <p:nvPr/>
        </p:nvSpPr>
        <p:spPr>
          <a:xfrm>
            <a:off x="16002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4" id="24"/>
          <p:cNvSpPr/>
          <p:nvPr/>
        </p:nvSpPr>
        <p:spPr>
          <a:xfrm>
            <a:off x="16764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5" id="25"/>
          <p:cNvSpPr/>
          <p:nvPr/>
        </p:nvSpPr>
        <p:spPr>
          <a:xfrm>
            <a:off x="17526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6" id="26"/>
          <p:cNvSpPr/>
          <p:nvPr/>
        </p:nvSpPr>
        <p:spPr>
          <a:xfrm>
            <a:off x="18288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7" id="27"/>
          <p:cNvSpPr/>
          <p:nvPr/>
        </p:nvSpPr>
        <p:spPr>
          <a:xfrm>
            <a:off x="0" y="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8" id="28"/>
          <p:cNvSpPr/>
          <p:nvPr/>
        </p:nvSpPr>
        <p:spPr>
          <a:xfrm>
            <a:off x="0" y="76200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9" id="29"/>
          <p:cNvSpPr/>
          <p:nvPr/>
        </p:nvSpPr>
        <p:spPr>
          <a:xfrm>
            <a:off x="0" y="152400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0" id="30"/>
          <p:cNvSpPr/>
          <p:nvPr/>
        </p:nvSpPr>
        <p:spPr>
          <a:xfrm>
            <a:off x="0" y="228600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1" id="31"/>
          <p:cNvSpPr/>
          <p:nvPr/>
        </p:nvSpPr>
        <p:spPr>
          <a:xfrm>
            <a:off x="0" y="304800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2" id="32"/>
          <p:cNvSpPr/>
          <p:nvPr/>
        </p:nvSpPr>
        <p:spPr>
          <a:xfrm>
            <a:off x="0" y="381000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3" id="33"/>
          <p:cNvSpPr/>
          <p:nvPr/>
        </p:nvSpPr>
        <p:spPr>
          <a:xfrm>
            <a:off x="0" y="457200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4" id="34"/>
          <p:cNvSpPr/>
          <p:nvPr/>
        </p:nvSpPr>
        <p:spPr>
          <a:xfrm>
            <a:off x="0" y="533400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5" id="35"/>
          <p:cNvSpPr/>
          <p:nvPr/>
        </p:nvSpPr>
        <p:spPr>
          <a:xfrm>
            <a:off x="0" y="609600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6" id="36"/>
          <p:cNvSpPr/>
          <p:nvPr/>
        </p:nvSpPr>
        <p:spPr>
          <a:xfrm>
            <a:off x="0" y="685800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7" id="37"/>
          <p:cNvSpPr/>
          <p:nvPr/>
        </p:nvSpPr>
        <p:spPr>
          <a:xfrm>
            <a:off x="0" y="762000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8" id="38"/>
          <p:cNvSpPr/>
          <p:nvPr/>
        </p:nvSpPr>
        <p:spPr>
          <a:xfrm>
            <a:off x="0" y="838200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9" id="39"/>
          <p:cNvSpPr/>
          <p:nvPr/>
        </p:nvSpPr>
        <p:spPr>
          <a:xfrm>
            <a:off x="0" y="914400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0" id="40"/>
          <p:cNvSpPr/>
          <p:nvPr/>
        </p:nvSpPr>
        <p:spPr>
          <a:xfrm>
            <a:off x="0" y="990600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41" id="41"/>
          <p:cNvSpPr txBox="true"/>
          <p:nvPr/>
        </p:nvSpPr>
        <p:spPr>
          <a:xfrm rot="0">
            <a:off x="762000" y="733425"/>
            <a:ext cx="8572500" cy="2076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200" spc="420" b="true">
                <a:solidFill>
                  <a:srgbClr val="B5121B"/>
                </a:solidFill>
                <a:latin typeface="Inter 2 Bold"/>
                <a:ea typeface="Inter 2 Bold"/>
                <a:cs typeface="Inter 2 Bold"/>
                <a:sym typeface="Inter 2 Bold"/>
              </a:rPr>
              <a:t>PHASE 03  ·  OVERHEAD REINFORCEMENT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762000" y="1152525"/>
            <a:ext cx="13335000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00"/>
              </a:lnSpc>
            </a:pPr>
            <a:r>
              <a:rPr lang="en-US" sz="4500" spc="-44" b="true">
                <a:solidFill>
                  <a:srgbClr val="FFFFFF"/>
                </a:solidFill>
                <a:latin typeface="Oswald Bold"/>
                <a:ea typeface="Oswald Bold"/>
                <a:cs typeface="Oswald Bold"/>
                <a:sym typeface="Oswald Bold"/>
              </a:rPr>
              <a:t>Reinforcing the Upper Structure.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762000" y="2257425"/>
            <a:ext cx="85725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spc="840" b="true">
                <a:solidFill>
                  <a:srgbClr val="C0C0C0"/>
                </a:solidFill>
                <a:latin typeface="Oswald Bold"/>
                <a:ea typeface="Oswald Bold"/>
                <a:cs typeface="Oswald Bold"/>
                <a:sym typeface="Oswald Bold"/>
              </a:rPr>
              <a:t>BEFORE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9525000" y="2257425"/>
            <a:ext cx="85725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spc="840" b="true">
                <a:solidFill>
                  <a:srgbClr val="B5121B"/>
                </a:solidFill>
                <a:latin typeface="Oswald Bold"/>
                <a:ea typeface="Oswald Bold"/>
                <a:cs typeface="Oswald Bold"/>
                <a:sym typeface="Oswald Bold"/>
              </a:rPr>
              <a:t>AFTER</a:t>
            </a:r>
          </a:p>
        </p:txBody>
      </p:sp>
      <p:grpSp>
        <p:nvGrpSpPr>
          <p:cNvPr name="Group 45" id="45"/>
          <p:cNvGrpSpPr/>
          <p:nvPr/>
        </p:nvGrpSpPr>
        <p:grpSpPr>
          <a:xfrm rot="0">
            <a:off x="762000" y="2762250"/>
            <a:ext cx="8382000" cy="5334000"/>
            <a:chOff x="0" y="0"/>
            <a:chExt cx="11176000" cy="711200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11176000" cy="7112000"/>
            </a:xfrm>
            <a:custGeom>
              <a:avLst/>
              <a:gdLst/>
              <a:ahLst/>
              <a:cxnLst/>
              <a:rect r="r" b="b" t="t" l="l"/>
              <a:pathLst>
                <a:path h="7112000" w="11176000">
                  <a:moveTo>
                    <a:pt x="0" y="0"/>
                  </a:moveTo>
                  <a:lnTo>
                    <a:pt x="11176000" y="0"/>
                  </a:lnTo>
                  <a:lnTo>
                    <a:pt x="11176000" y="7112000"/>
                  </a:lnTo>
                  <a:lnTo>
                    <a:pt x="0" y="7112000"/>
                  </a:lnTo>
                  <a:close/>
                </a:path>
              </a:pathLst>
            </a:custGeom>
            <a:solidFill>
              <a:srgbClr val="0D0D0D"/>
            </a:solidFill>
            <a:ln cap="sq">
              <a:noFill/>
              <a:prstDash val="solid"/>
              <a:miter/>
            </a:ln>
          </p:spPr>
        </p:sp>
        <p:sp>
          <p:nvSpPr>
            <p:cNvPr name="TextBox 47" id="47"/>
            <p:cNvSpPr txBox="true"/>
            <p:nvPr/>
          </p:nvSpPr>
          <p:spPr>
            <a:xfrm>
              <a:off x="0" y="-38100"/>
              <a:ext cx="11176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AutoShape 48" id="48"/>
          <p:cNvSpPr/>
          <p:nvPr/>
        </p:nvSpPr>
        <p:spPr>
          <a:xfrm>
            <a:off x="762000" y="2762250"/>
            <a:ext cx="0" cy="533400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9" id="49"/>
          <p:cNvSpPr/>
          <p:nvPr/>
        </p:nvSpPr>
        <p:spPr>
          <a:xfrm>
            <a:off x="1524000" y="2762250"/>
            <a:ext cx="0" cy="533400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0" id="50"/>
          <p:cNvSpPr/>
          <p:nvPr/>
        </p:nvSpPr>
        <p:spPr>
          <a:xfrm>
            <a:off x="2286000" y="2762250"/>
            <a:ext cx="0" cy="533400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1" id="51"/>
          <p:cNvSpPr/>
          <p:nvPr/>
        </p:nvSpPr>
        <p:spPr>
          <a:xfrm>
            <a:off x="3048000" y="2762250"/>
            <a:ext cx="0" cy="533400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2" id="52"/>
          <p:cNvSpPr/>
          <p:nvPr/>
        </p:nvSpPr>
        <p:spPr>
          <a:xfrm>
            <a:off x="3810000" y="2762250"/>
            <a:ext cx="0" cy="533400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3" id="53"/>
          <p:cNvSpPr/>
          <p:nvPr/>
        </p:nvSpPr>
        <p:spPr>
          <a:xfrm>
            <a:off x="4572000" y="2762250"/>
            <a:ext cx="0" cy="533400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4" id="54"/>
          <p:cNvSpPr/>
          <p:nvPr/>
        </p:nvSpPr>
        <p:spPr>
          <a:xfrm>
            <a:off x="5334000" y="2762250"/>
            <a:ext cx="0" cy="533400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5" id="55"/>
          <p:cNvSpPr/>
          <p:nvPr/>
        </p:nvSpPr>
        <p:spPr>
          <a:xfrm>
            <a:off x="6096000" y="2762250"/>
            <a:ext cx="0" cy="533400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6" id="56"/>
          <p:cNvSpPr/>
          <p:nvPr/>
        </p:nvSpPr>
        <p:spPr>
          <a:xfrm>
            <a:off x="6858000" y="2762250"/>
            <a:ext cx="0" cy="533400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7" id="57"/>
          <p:cNvSpPr/>
          <p:nvPr/>
        </p:nvSpPr>
        <p:spPr>
          <a:xfrm>
            <a:off x="7620000" y="2762250"/>
            <a:ext cx="0" cy="533400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8" id="58"/>
          <p:cNvSpPr/>
          <p:nvPr/>
        </p:nvSpPr>
        <p:spPr>
          <a:xfrm>
            <a:off x="8382000" y="2762250"/>
            <a:ext cx="0" cy="533400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9" id="59"/>
          <p:cNvSpPr/>
          <p:nvPr/>
        </p:nvSpPr>
        <p:spPr>
          <a:xfrm>
            <a:off x="9144000" y="2762250"/>
            <a:ext cx="0" cy="533400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0" id="60"/>
          <p:cNvSpPr/>
          <p:nvPr/>
        </p:nvSpPr>
        <p:spPr>
          <a:xfrm>
            <a:off x="762000" y="2762250"/>
            <a:ext cx="8382000" cy="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1" id="61"/>
          <p:cNvSpPr/>
          <p:nvPr/>
        </p:nvSpPr>
        <p:spPr>
          <a:xfrm>
            <a:off x="762000" y="3524250"/>
            <a:ext cx="8382000" cy="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2" id="62"/>
          <p:cNvSpPr/>
          <p:nvPr/>
        </p:nvSpPr>
        <p:spPr>
          <a:xfrm>
            <a:off x="762000" y="4286250"/>
            <a:ext cx="8382000" cy="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3" id="63"/>
          <p:cNvSpPr/>
          <p:nvPr/>
        </p:nvSpPr>
        <p:spPr>
          <a:xfrm>
            <a:off x="762000" y="5048250"/>
            <a:ext cx="8382000" cy="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4" id="64"/>
          <p:cNvSpPr/>
          <p:nvPr/>
        </p:nvSpPr>
        <p:spPr>
          <a:xfrm>
            <a:off x="762000" y="5810250"/>
            <a:ext cx="8382000" cy="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5" id="65"/>
          <p:cNvSpPr/>
          <p:nvPr/>
        </p:nvSpPr>
        <p:spPr>
          <a:xfrm>
            <a:off x="762000" y="6572250"/>
            <a:ext cx="8382000" cy="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6" id="66"/>
          <p:cNvSpPr/>
          <p:nvPr/>
        </p:nvSpPr>
        <p:spPr>
          <a:xfrm>
            <a:off x="762000" y="7334250"/>
            <a:ext cx="8382000" cy="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7" id="67"/>
          <p:cNvSpPr/>
          <p:nvPr/>
        </p:nvSpPr>
        <p:spPr>
          <a:xfrm>
            <a:off x="762000" y="8096250"/>
            <a:ext cx="8382000" cy="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68" id="68"/>
          <p:cNvGrpSpPr/>
          <p:nvPr/>
        </p:nvGrpSpPr>
        <p:grpSpPr>
          <a:xfrm rot="0">
            <a:off x="1524000" y="3905250"/>
            <a:ext cx="6858000" cy="571500"/>
            <a:chOff x="0" y="0"/>
            <a:chExt cx="9144000" cy="76200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9144000" cy="342900"/>
            </a:xfrm>
            <a:custGeom>
              <a:avLst/>
              <a:gdLst/>
              <a:ahLst/>
              <a:cxnLst/>
              <a:rect r="r" b="b" t="t" l="l"/>
              <a:pathLst>
                <a:path h="342900" w="9144000">
                  <a:moveTo>
                    <a:pt x="0" y="0"/>
                  </a:moveTo>
                  <a:cubicBezTo>
                    <a:pt x="2286000" y="457200"/>
                    <a:pt x="6858000" y="457200"/>
                    <a:pt x="9144000" y="0"/>
                  </a:cubicBezTo>
                </a:path>
              </a:pathLst>
            </a:custGeom>
            <a:ln w="38100" cap="sq">
              <a:solidFill>
                <a:srgbClr val="666666"/>
              </a:solidFill>
              <a:prstDash val="solid"/>
              <a:miter/>
            </a:ln>
          </p:spPr>
        </p:sp>
        <p:sp>
          <p:nvSpPr>
            <p:cNvPr name="TextBox 70" id="70"/>
            <p:cNvSpPr txBox="true"/>
            <p:nvPr/>
          </p:nvSpPr>
          <p:spPr>
            <a:xfrm>
              <a:off x="0" y="-38100"/>
              <a:ext cx="9144000" cy="80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AutoShape 71" id="71"/>
          <p:cNvSpPr/>
          <p:nvPr/>
        </p:nvSpPr>
        <p:spPr>
          <a:xfrm>
            <a:off x="2095500" y="4476750"/>
            <a:ext cx="0" cy="2857500"/>
          </a:xfrm>
          <a:prstGeom prst="line">
            <a:avLst/>
          </a:prstGeom>
          <a:ln cap="flat" w="28575">
            <a:solidFill>
              <a:srgbClr val="55555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2" id="72"/>
          <p:cNvSpPr/>
          <p:nvPr/>
        </p:nvSpPr>
        <p:spPr>
          <a:xfrm>
            <a:off x="3810000" y="4476750"/>
            <a:ext cx="0" cy="2857500"/>
          </a:xfrm>
          <a:prstGeom prst="line">
            <a:avLst/>
          </a:prstGeom>
          <a:ln cap="flat" w="28575">
            <a:solidFill>
              <a:srgbClr val="55555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3" id="73"/>
          <p:cNvSpPr/>
          <p:nvPr/>
        </p:nvSpPr>
        <p:spPr>
          <a:xfrm>
            <a:off x="5524500" y="4476750"/>
            <a:ext cx="0" cy="2857500"/>
          </a:xfrm>
          <a:prstGeom prst="line">
            <a:avLst/>
          </a:prstGeom>
          <a:ln cap="flat" w="28575">
            <a:solidFill>
              <a:srgbClr val="55555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4" id="74"/>
          <p:cNvSpPr/>
          <p:nvPr/>
        </p:nvSpPr>
        <p:spPr>
          <a:xfrm>
            <a:off x="7239000" y="4476750"/>
            <a:ext cx="0" cy="2857500"/>
          </a:xfrm>
          <a:prstGeom prst="line">
            <a:avLst/>
          </a:prstGeom>
          <a:ln cap="flat" w="28575">
            <a:solidFill>
              <a:srgbClr val="55555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5" id="75"/>
          <p:cNvSpPr/>
          <p:nvPr/>
        </p:nvSpPr>
        <p:spPr>
          <a:xfrm>
            <a:off x="838200" y="2838450"/>
            <a:ext cx="209550" cy="0"/>
          </a:xfrm>
          <a:prstGeom prst="line">
            <a:avLst/>
          </a:prstGeom>
          <a:ln cap="flat" w="19050">
            <a:solidFill>
              <a:srgbClr val="55555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6" id="76"/>
          <p:cNvSpPr/>
          <p:nvPr/>
        </p:nvSpPr>
        <p:spPr>
          <a:xfrm>
            <a:off x="838200" y="2838450"/>
            <a:ext cx="0" cy="209550"/>
          </a:xfrm>
          <a:prstGeom prst="line">
            <a:avLst/>
          </a:prstGeom>
          <a:ln cap="flat" w="19050">
            <a:solidFill>
              <a:srgbClr val="555555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77" id="77"/>
          <p:cNvGrpSpPr/>
          <p:nvPr/>
        </p:nvGrpSpPr>
        <p:grpSpPr>
          <a:xfrm rot="0">
            <a:off x="9525000" y="2762250"/>
            <a:ext cx="8001000" cy="5334000"/>
            <a:chOff x="0" y="0"/>
            <a:chExt cx="10668000" cy="7112000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10668000" cy="7112000"/>
            </a:xfrm>
            <a:custGeom>
              <a:avLst/>
              <a:gdLst/>
              <a:ahLst/>
              <a:cxnLst/>
              <a:rect r="r" b="b" t="t" l="l"/>
              <a:pathLst>
                <a:path h="7112000" w="10668000">
                  <a:moveTo>
                    <a:pt x="0" y="0"/>
                  </a:moveTo>
                  <a:lnTo>
                    <a:pt x="10668000" y="0"/>
                  </a:lnTo>
                  <a:lnTo>
                    <a:pt x="10668000" y="7112000"/>
                  </a:lnTo>
                  <a:lnTo>
                    <a:pt x="0" y="7112000"/>
                  </a:lnTo>
                  <a:close/>
                </a:path>
              </a:pathLst>
            </a:custGeom>
            <a:solidFill>
              <a:srgbClr val="0D0D0D"/>
            </a:solidFill>
            <a:ln cap="sq">
              <a:noFill/>
              <a:prstDash val="solid"/>
              <a:miter/>
            </a:ln>
          </p:spPr>
        </p:sp>
        <p:sp>
          <p:nvSpPr>
            <p:cNvPr name="TextBox 79" id="79"/>
            <p:cNvSpPr txBox="true"/>
            <p:nvPr/>
          </p:nvSpPr>
          <p:spPr>
            <a:xfrm>
              <a:off x="0" y="-38100"/>
              <a:ext cx="10668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AutoShape 80" id="80"/>
          <p:cNvSpPr/>
          <p:nvPr/>
        </p:nvSpPr>
        <p:spPr>
          <a:xfrm>
            <a:off x="9525000" y="2762250"/>
            <a:ext cx="0" cy="5334000"/>
          </a:xfrm>
          <a:prstGeom prst="line">
            <a:avLst/>
          </a:prstGeom>
          <a:ln cap="flat" w="9525">
            <a:solidFill>
              <a:srgbClr val="555555">
                <a:alpha val="3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1" id="81"/>
          <p:cNvSpPr/>
          <p:nvPr/>
        </p:nvSpPr>
        <p:spPr>
          <a:xfrm>
            <a:off x="10287000" y="2762250"/>
            <a:ext cx="0" cy="5334000"/>
          </a:xfrm>
          <a:prstGeom prst="line">
            <a:avLst/>
          </a:prstGeom>
          <a:ln cap="flat" w="9525">
            <a:solidFill>
              <a:srgbClr val="555555">
                <a:alpha val="3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2" id="82"/>
          <p:cNvSpPr/>
          <p:nvPr/>
        </p:nvSpPr>
        <p:spPr>
          <a:xfrm>
            <a:off x="11049000" y="2762250"/>
            <a:ext cx="0" cy="5334000"/>
          </a:xfrm>
          <a:prstGeom prst="line">
            <a:avLst/>
          </a:prstGeom>
          <a:ln cap="flat" w="9525">
            <a:solidFill>
              <a:srgbClr val="555555">
                <a:alpha val="3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3" id="83"/>
          <p:cNvSpPr/>
          <p:nvPr/>
        </p:nvSpPr>
        <p:spPr>
          <a:xfrm>
            <a:off x="11811000" y="2762250"/>
            <a:ext cx="0" cy="5334000"/>
          </a:xfrm>
          <a:prstGeom prst="line">
            <a:avLst/>
          </a:prstGeom>
          <a:ln cap="flat" w="9525">
            <a:solidFill>
              <a:srgbClr val="555555">
                <a:alpha val="3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4" id="84"/>
          <p:cNvSpPr/>
          <p:nvPr/>
        </p:nvSpPr>
        <p:spPr>
          <a:xfrm>
            <a:off x="12573000" y="2762250"/>
            <a:ext cx="0" cy="5334000"/>
          </a:xfrm>
          <a:prstGeom prst="line">
            <a:avLst/>
          </a:prstGeom>
          <a:ln cap="flat" w="9525">
            <a:solidFill>
              <a:srgbClr val="555555">
                <a:alpha val="3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5" id="85"/>
          <p:cNvSpPr/>
          <p:nvPr/>
        </p:nvSpPr>
        <p:spPr>
          <a:xfrm>
            <a:off x="13335000" y="2762250"/>
            <a:ext cx="0" cy="5334000"/>
          </a:xfrm>
          <a:prstGeom prst="line">
            <a:avLst/>
          </a:prstGeom>
          <a:ln cap="flat" w="9525">
            <a:solidFill>
              <a:srgbClr val="555555">
                <a:alpha val="3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6" id="86"/>
          <p:cNvSpPr/>
          <p:nvPr/>
        </p:nvSpPr>
        <p:spPr>
          <a:xfrm>
            <a:off x="14097000" y="2762250"/>
            <a:ext cx="0" cy="5334000"/>
          </a:xfrm>
          <a:prstGeom prst="line">
            <a:avLst/>
          </a:prstGeom>
          <a:ln cap="flat" w="9525">
            <a:solidFill>
              <a:srgbClr val="555555">
                <a:alpha val="3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7" id="87"/>
          <p:cNvSpPr/>
          <p:nvPr/>
        </p:nvSpPr>
        <p:spPr>
          <a:xfrm>
            <a:off x="14859000" y="2762250"/>
            <a:ext cx="0" cy="5334000"/>
          </a:xfrm>
          <a:prstGeom prst="line">
            <a:avLst/>
          </a:prstGeom>
          <a:ln cap="flat" w="9525">
            <a:solidFill>
              <a:srgbClr val="555555">
                <a:alpha val="3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8" id="88"/>
          <p:cNvSpPr/>
          <p:nvPr/>
        </p:nvSpPr>
        <p:spPr>
          <a:xfrm>
            <a:off x="15621000" y="2762250"/>
            <a:ext cx="0" cy="5334000"/>
          </a:xfrm>
          <a:prstGeom prst="line">
            <a:avLst/>
          </a:prstGeom>
          <a:ln cap="flat" w="9525">
            <a:solidFill>
              <a:srgbClr val="555555">
                <a:alpha val="3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9" id="89"/>
          <p:cNvSpPr/>
          <p:nvPr/>
        </p:nvSpPr>
        <p:spPr>
          <a:xfrm>
            <a:off x="16383000" y="2762250"/>
            <a:ext cx="0" cy="5334000"/>
          </a:xfrm>
          <a:prstGeom prst="line">
            <a:avLst/>
          </a:prstGeom>
          <a:ln cap="flat" w="9525">
            <a:solidFill>
              <a:srgbClr val="555555">
                <a:alpha val="3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0" id="90"/>
          <p:cNvSpPr/>
          <p:nvPr/>
        </p:nvSpPr>
        <p:spPr>
          <a:xfrm>
            <a:off x="17145000" y="2762250"/>
            <a:ext cx="0" cy="5334000"/>
          </a:xfrm>
          <a:prstGeom prst="line">
            <a:avLst/>
          </a:prstGeom>
          <a:ln cap="flat" w="9525">
            <a:solidFill>
              <a:srgbClr val="555555">
                <a:alpha val="3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1" id="91"/>
          <p:cNvSpPr/>
          <p:nvPr/>
        </p:nvSpPr>
        <p:spPr>
          <a:xfrm>
            <a:off x="9525000" y="2762250"/>
            <a:ext cx="8001000" cy="0"/>
          </a:xfrm>
          <a:prstGeom prst="line">
            <a:avLst/>
          </a:prstGeom>
          <a:ln cap="flat" w="9525">
            <a:solidFill>
              <a:srgbClr val="555555">
                <a:alpha val="3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2" id="92"/>
          <p:cNvSpPr/>
          <p:nvPr/>
        </p:nvSpPr>
        <p:spPr>
          <a:xfrm>
            <a:off x="9525000" y="3524250"/>
            <a:ext cx="8001000" cy="0"/>
          </a:xfrm>
          <a:prstGeom prst="line">
            <a:avLst/>
          </a:prstGeom>
          <a:ln cap="flat" w="9525">
            <a:solidFill>
              <a:srgbClr val="555555">
                <a:alpha val="3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3" id="93"/>
          <p:cNvSpPr/>
          <p:nvPr/>
        </p:nvSpPr>
        <p:spPr>
          <a:xfrm>
            <a:off x="9525000" y="4286250"/>
            <a:ext cx="8001000" cy="0"/>
          </a:xfrm>
          <a:prstGeom prst="line">
            <a:avLst/>
          </a:prstGeom>
          <a:ln cap="flat" w="9525">
            <a:solidFill>
              <a:srgbClr val="555555">
                <a:alpha val="3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4" id="94"/>
          <p:cNvSpPr/>
          <p:nvPr/>
        </p:nvSpPr>
        <p:spPr>
          <a:xfrm>
            <a:off x="9525000" y="5048250"/>
            <a:ext cx="8001000" cy="0"/>
          </a:xfrm>
          <a:prstGeom prst="line">
            <a:avLst/>
          </a:prstGeom>
          <a:ln cap="flat" w="9525">
            <a:solidFill>
              <a:srgbClr val="555555">
                <a:alpha val="3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5" id="95"/>
          <p:cNvSpPr/>
          <p:nvPr/>
        </p:nvSpPr>
        <p:spPr>
          <a:xfrm>
            <a:off x="9525000" y="5810250"/>
            <a:ext cx="8001000" cy="0"/>
          </a:xfrm>
          <a:prstGeom prst="line">
            <a:avLst/>
          </a:prstGeom>
          <a:ln cap="flat" w="9525">
            <a:solidFill>
              <a:srgbClr val="555555">
                <a:alpha val="3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6" id="96"/>
          <p:cNvSpPr/>
          <p:nvPr/>
        </p:nvSpPr>
        <p:spPr>
          <a:xfrm>
            <a:off x="9525000" y="6572250"/>
            <a:ext cx="8001000" cy="0"/>
          </a:xfrm>
          <a:prstGeom prst="line">
            <a:avLst/>
          </a:prstGeom>
          <a:ln cap="flat" w="9525">
            <a:solidFill>
              <a:srgbClr val="555555">
                <a:alpha val="3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7" id="97"/>
          <p:cNvSpPr/>
          <p:nvPr/>
        </p:nvSpPr>
        <p:spPr>
          <a:xfrm>
            <a:off x="9525000" y="7334250"/>
            <a:ext cx="8001000" cy="0"/>
          </a:xfrm>
          <a:prstGeom prst="line">
            <a:avLst/>
          </a:prstGeom>
          <a:ln cap="flat" w="9525">
            <a:solidFill>
              <a:srgbClr val="555555">
                <a:alpha val="3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8" id="98"/>
          <p:cNvSpPr/>
          <p:nvPr/>
        </p:nvSpPr>
        <p:spPr>
          <a:xfrm>
            <a:off x="9525000" y="8096250"/>
            <a:ext cx="8001000" cy="0"/>
          </a:xfrm>
          <a:prstGeom prst="line">
            <a:avLst/>
          </a:prstGeom>
          <a:ln cap="flat" w="9525">
            <a:solidFill>
              <a:srgbClr val="555555">
                <a:alpha val="3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9" id="99"/>
          <p:cNvSpPr/>
          <p:nvPr/>
        </p:nvSpPr>
        <p:spPr>
          <a:xfrm>
            <a:off x="10096500" y="4095750"/>
            <a:ext cx="6858000" cy="0"/>
          </a:xfrm>
          <a:prstGeom prst="line">
            <a:avLst/>
          </a:prstGeom>
          <a:ln cap="flat" w="76200">
            <a:solidFill>
              <a:srgbClr val="B5121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0" id="100"/>
          <p:cNvSpPr/>
          <p:nvPr/>
        </p:nvSpPr>
        <p:spPr>
          <a:xfrm>
            <a:off x="10668000" y="4095750"/>
            <a:ext cx="0" cy="3429000"/>
          </a:xfrm>
          <a:prstGeom prst="line">
            <a:avLst/>
          </a:prstGeom>
          <a:ln cap="flat" w="38100">
            <a:solidFill>
              <a:srgbClr val="88888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1" id="101"/>
          <p:cNvSpPr/>
          <p:nvPr/>
        </p:nvSpPr>
        <p:spPr>
          <a:xfrm>
            <a:off x="12096750" y="4095750"/>
            <a:ext cx="0" cy="3429000"/>
          </a:xfrm>
          <a:prstGeom prst="line">
            <a:avLst/>
          </a:prstGeom>
          <a:ln cap="flat" w="38100">
            <a:solidFill>
              <a:srgbClr val="88888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2" id="102"/>
          <p:cNvSpPr/>
          <p:nvPr/>
        </p:nvSpPr>
        <p:spPr>
          <a:xfrm>
            <a:off x="13525500" y="4095750"/>
            <a:ext cx="0" cy="3429000"/>
          </a:xfrm>
          <a:prstGeom prst="line">
            <a:avLst/>
          </a:prstGeom>
          <a:ln cap="flat" w="38100">
            <a:solidFill>
              <a:srgbClr val="88888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3" id="103"/>
          <p:cNvSpPr/>
          <p:nvPr/>
        </p:nvSpPr>
        <p:spPr>
          <a:xfrm>
            <a:off x="14954250" y="4095750"/>
            <a:ext cx="0" cy="3429000"/>
          </a:xfrm>
          <a:prstGeom prst="line">
            <a:avLst/>
          </a:prstGeom>
          <a:ln cap="flat" w="38100">
            <a:solidFill>
              <a:srgbClr val="88888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4" id="104"/>
          <p:cNvSpPr/>
          <p:nvPr/>
        </p:nvSpPr>
        <p:spPr>
          <a:xfrm>
            <a:off x="16383000" y="4095750"/>
            <a:ext cx="0" cy="3429000"/>
          </a:xfrm>
          <a:prstGeom prst="line">
            <a:avLst/>
          </a:prstGeom>
          <a:ln cap="flat" w="38100">
            <a:solidFill>
              <a:srgbClr val="88888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5" id="105"/>
          <p:cNvSpPr/>
          <p:nvPr/>
        </p:nvSpPr>
        <p:spPr>
          <a:xfrm>
            <a:off x="10668000" y="4857750"/>
            <a:ext cx="5715000" cy="0"/>
          </a:xfrm>
          <a:prstGeom prst="line">
            <a:avLst/>
          </a:prstGeom>
          <a:ln cap="flat" w="28575">
            <a:solidFill>
              <a:srgbClr val="66666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6" id="106"/>
          <p:cNvSpPr/>
          <p:nvPr/>
        </p:nvSpPr>
        <p:spPr>
          <a:xfrm>
            <a:off x="10668000" y="5619750"/>
            <a:ext cx="5715000" cy="0"/>
          </a:xfrm>
          <a:prstGeom prst="line">
            <a:avLst/>
          </a:prstGeom>
          <a:ln cap="flat" w="28575">
            <a:solidFill>
              <a:srgbClr val="66666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7" id="107"/>
          <p:cNvSpPr/>
          <p:nvPr/>
        </p:nvSpPr>
        <p:spPr>
          <a:xfrm>
            <a:off x="10668000" y="6381750"/>
            <a:ext cx="5715000" cy="0"/>
          </a:xfrm>
          <a:prstGeom prst="line">
            <a:avLst/>
          </a:prstGeom>
          <a:ln cap="flat" w="28575">
            <a:solidFill>
              <a:srgbClr val="66666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8" id="108"/>
          <p:cNvSpPr/>
          <p:nvPr/>
        </p:nvSpPr>
        <p:spPr>
          <a:xfrm>
            <a:off x="10668000" y="7143750"/>
            <a:ext cx="5715000" cy="0"/>
          </a:xfrm>
          <a:prstGeom prst="line">
            <a:avLst/>
          </a:prstGeom>
          <a:ln cap="flat" w="28575">
            <a:solidFill>
              <a:srgbClr val="66666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9" id="109"/>
          <p:cNvSpPr/>
          <p:nvPr/>
        </p:nvSpPr>
        <p:spPr>
          <a:xfrm>
            <a:off x="9601200" y="2838450"/>
            <a:ext cx="209550" cy="0"/>
          </a:xfrm>
          <a:prstGeom prst="line">
            <a:avLst/>
          </a:prstGeom>
          <a:ln cap="flat" w="19050">
            <a:solidFill>
              <a:srgbClr val="B5121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10" id="110"/>
          <p:cNvSpPr/>
          <p:nvPr/>
        </p:nvSpPr>
        <p:spPr>
          <a:xfrm>
            <a:off x="9601200" y="2838450"/>
            <a:ext cx="0" cy="209550"/>
          </a:xfrm>
          <a:prstGeom prst="line">
            <a:avLst/>
          </a:prstGeom>
          <a:ln cap="flat" w="19050">
            <a:solidFill>
              <a:srgbClr val="B5121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11" id="111"/>
          <p:cNvSpPr txBox="true"/>
          <p:nvPr/>
        </p:nvSpPr>
        <p:spPr>
          <a:xfrm rot="0">
            <a:off x="762000" y="8229600"/>
            <a:ext cx="8382000" cy="1657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64"/>
              </a:lnSpc>
            </a:pPr>
            <a:r>
              <a:rPr lang="en-US" sz="975" spc="243">
                <a:solidFill>
                  <a:srgbClr val="C0C0C0"/>
                </a:solidFill>
                <a:latin typeface="Inter 2"/>
                <a:ea typeface="Inter 2"/>
                <a:cs typeface="Inter 2"/>
                <a:sym typeface="Inter 2"/>
              </a:rPr>
              <a:t>Deflection observed under load; roof plane unrestrained between corner posts.</a:t>
            </a:r>
          </a:p>
        </p:txBody>
      </p:sp>
      <p:sp>
        <p:nvSpPr>
          <p:cNvPr name="TextBox 112" id="112"/>
          <p:cNvSpPr txBox="true"/>
          <p:nvPr/>
        </p:nvSpPr>
        <p:spPr>
          <a:xfrm rot="0">
            <a:off x="9525000" y="8229600"/>
            <a:ext cx="8001000" cy="148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spc="225">
                <a:solidFill>
                  <a:srgbClr val="C0C0C0"/>
                </a:solidFill>
                <a:latin typeface="Inter 2"/>
                <a:ea typeface="Inter 2"/>
                <a:cs typeface="Inter 2"/>
                <a:sym typeface="Inter 2"/>
              </a:rPr>
              <a:t>Cross-header and paired stiffeners tied into wall supports — plane locked, deflection eliminated.</a:t>
            </a:r>
          </a:p>
        </p:txBody>
      </p:sp>
      <p:sp>
        <p:nvSpPr>
          <p:cNvPr name="TextBox 113" id="113"/>
          <p:cNvSpPr txBox="true"/>
          <p:nvPr/>
        </p:nvSpPr>
        <p:spPr>
          <a:xfrm rot="0">
            <a:off x="762000" y="8924925"/>
            <a:ext cx="4762500" cy="2076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200" spc="420" b="true">
                <a:solidFill>
                  <a:srgbClr val="C0C0C0"/>
                </a:solidFill>
                <a:latin typeface="Inter 2 Bold"/>
                <a:ea typeface="Inter 2 Bold"/>
                <a:cs typeface="Inter 2 Bold"/>
                <a:sym typeface="Inter 2 Bold"/>
              </a:rPr>
              <a:t>TRANSFORMATION SUMMARY</a:t>
            </a:r>
          </a:p>
        </p:txBody>
      </p:sp>
      <p:sp>
        <p:nvSpPr>
          <p:cNvPr name="TextBox 114" id="114"/>
          <p:cNvSpPr txBox="true"/>
          <p:nvPr/>
        </p:nvSpPr>
        <p:spPr>
          <a:xfrm rot="0">
            <a:off x="4762500" y="8915400"/>
            <a:ext cx="1276350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135" b="true">
                <a:solidFill>
                  <a:srgbClr val="FFFFFF"/>
                </a:solidFill>
                <a:latin typeface="Inter 2 Bold"/>
                <a:ea typeface="Inter 2 Bold"/>
                <a:cs typeface="Inter 2 Bold"/>
                <a:sym typeface="Inter 2 Bold"/>
              </a:rPr>
              <a:t>Overhead deflection: 3/8" → 0.  Load rating: doubled.  Interior rigging: sanctioned for full spec.</a:t>
            </a:r>
          </a:p>
        </p:txBody>
      </p:sp>
      <p:sp>
        <p:nvSpPr>
          <p:cNvPr name="AutoShape 115" id="115"/>
          <p:cNvSpPr/>
          <p:nvPr/>
        </p:nvSpPr>
        <p:spPr>
          <a:xfrm>
            <a:off x="762000" y="9677400"/>
            <a:ext cx="16764000" cy="0"/>
          </a:xfrm>
          <a:prstGeom prst="line">
            <a:avLst/>
          </a:prstGeom>
          <a:ln cap="flat" w="9525">
            <a:solidFill>
              <a:srgbClr val="55555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16" id="116"/>
          <p:cNvSpPr txBox="true"/>
          <p:nvPr/>
        </p:nvSpPr>
        <p:spPr>
          <a:xfrm rot="0">
            <a:off x="762000" y="9810750"/>
            <a:ext cx="381000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405" b="true">
                <a:solidFill>
                  <a:srgbClr val="C0C0C0"/>
                </a:solidFill>
                <a:latin typeface="Oswald Bold"/>
                <a:ea typeface="Oswald Bold"/>
                <a:cs typeface="Oswald Bold"/>
                <a:sym typeface="Oswald Bold"/>
              </a:rPr>
              <a:t>METAL WORX, INC.</a:t>
            </a:r>
          </a:p>
        </p:txBody>
      </p:sp>
      <p:sp>
        <p:nvSpPr>
          <p:cNvPr name="TextBox 117" id="117"/>
          <p:cNvSpPr txBox="true"/>
          <p:nvPr/>
        </p:nvSpPr>
        <p:spPr>
          <a:xfrm rot="0">
            <a:off x="4762500" y="9829800"/>
            <a:ext cx="7620000" cy="148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60"/>
              </a:lnSpc>
            </a:pPr>
            <a:r>
              <a:rPr lang="en-US" sz="900" spc="359">
                <a:solidFill>
                  <a:srgbClr val="C0C0C0"/>
                </a:solidFill>
                <a:latin typeface="Inter 2"/>
                <a:ea typeface="Inter 2"/>
                <a:cs typeface="Inter 2"/>
                <a:sym typeface="Inter 2"/>
              </a:rPr>
              <a:t>UPPER STRUCTURE</a:t>
            </a:r>
          </a:p>
        </p:txBody>
      </p:sp>
      <p:sp>
        <p:nvSpPr>
          <p:cNvPr name="TextBox 118" id="118"/>
          <p:cNvSpPr txBox="true"/>
          <p:nvPr/>
        </p:nvSpPr>
        <p:spPr>
          <a:xfrm rot="0">
            <a:off x="15811500" y="9829800"/>
            <a:ext cx="1714500" cy="148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260"/>
              </a:lnSpc>
            </a:pPr>
            <a:r>
              <a:rPr lang="en-US" sz="900" spc="359">
                <a:solidFill>
                  <a:srgbClr val="C0C0C0"/>
                </a:solidFill>
                <a:latin typeface="Inter 2"/>
                <a:ea typeface="Inter 2"/>
                <a:cs typeface="Inter 2"/>
                <a:sym typeface="Inter 2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" id="3"/>
          <p:cNvSpPr/>
          <p:nvPr/>
        </p:nvSpPr>
        <p:spPr>
          <a:xfrm>
            <a:off x="762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" id="4"/>
          <p:cNvSpPr/>
          <p:nvPr/>
        </p:nvSpPr>
        <p:spPr>
          <a:xfrm>
            <a:off x="1524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" id="5"/>
          <p:cNvSpPr/>
          <p:nvPr/>
        </p:nvSpPr>
        <p:spPr>
          <a:xfrm>
            <a:off x="2286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" id="6"/>
          <p:cNvSpPr/>
          <p:nvPr/>
        </p:nvSpPr>
        <p:spPr>
          <a:xfrm>
            <a:off x="3048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" id="7"/>
          <p:cNvSpPr/>
          <p:nvPr/>
        </p:nvSpPr>
        <p:spPr>
          <a:xfrm>
            <a:off x="3810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" id="8"/>
          <p:cNvSpPr/>
          <p:nvPr/>
        </p:nvSpPr>
        <p:spPr>
          <a:xfrm>
            <a:off x="4572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" id="9"/>
          <p:cNvSpPr/>
          <p:nvPr/>
        </p:nvSpPr>
        <p:spPr>
          <a:xfrm>
            <a:off x="5334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" id="10"/>
          <p:cNvSpPr/>
          <p:nvPr/>
        </p:nvSpPr>
        <p:spPr>
          <a:xfrm>
            <a:off x="6096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1" id="11"/>
          <p:cNvSpPr/>
          <p:nvPr/>
        </p:nvSpPr>
        <p:spPr>
          <a:xfrm>
            <a:off x="6858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2" id="12"/>
          <p:cNvSpPr/>
          <p:nvPr/>
        </p:nvSpPr>
        <p:spPr>
          <a:xfrm>
            <a:off x="7620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3" id="13"/>
          <p:cNvSpPr/>
          <p:nvPr/>
        </p:nvSpPr>
        <p:spPr>
          <a:xfrm>
            <a:off x="8382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4" id="14"/>
          <p:cNvSpPr/>
          <p:nvPr/>
        </p:nvSpPr>
        <p:spPr>
          <a:xfrm>
            <a:off x="9144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5" id="15"/>
          <p:cNvSpPr/>
          <p:nvPr/>
        </p:nvSpPr>
        <p:spPr>
          <a:xfrm>
            <a:off x="9906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6" id="16"/>
          <p:cNvSpPr/>
          <p:nvPr/>
        </p:nvSpPr>
        <p:spPr>
          <a:xfrm>
            <a:off x="10668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7" id="17"/>
          <p:cNvSpPr/>
          <p:nvPr/>
        </p:nvSpPr>
        <p:spPr>
          <a:xfrm>
            <a:off x="11430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8" id="18"/>
          <p:cNvSpPr/>
          <p:nvPr/>
        </p:nvSpPr>
        <p:spPr>
          <a:xfrm>
            <a:off x="12192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9" id="19"/>
          <p:cNvSpPr/>
          <p:nvPr/>
        </p:nvSpPr>
        <p:spPr>
          <a:xfrm>
            <a:off x="12954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0" id="20"/>
          <p:cNvSpPr/>
          <p:nvPr/>
        </p:nvSpPr>
        <p:spPr>
          <a:xfrm>
            <a:off x="13716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1" id="21"/>
          <p:cNvSpPr/>
          <p:nvPr/>
        </p:nvSpPr>
        <p:spPr>
          <a:xfrm>
            <a:off x="14478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2" id="22"/>
          <p:cNvSpPr/>
          <p:nvPr/>
        </p:nvSpPr>
        <p:spPr>
          <a:xfrm>
            <a:off x="15240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3" id="23"/>
          <p:cNvSpPr/>
          <p:nvPr/>
        </p:nvSpPr>
        <p:spPr>
          <a:xfrm>
            <a:off x="16002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4" id="24"/>
          <p:cNvSpPr/>
          <p:nvPr/>
        </p:nvSpPr>
        <p:spPr>
          <a:xfrm>
            <a:off x="16764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5" id="25"/>
          <p:cNvSpPr/>
          <p:nvPr/>
        </p:nvSpPr>
        <p:spPr>
          <a:xfrm>
            <a:off x="17526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6" id="26"/>
          <p:cNvSpPr/>
          <p:nvPr/>
        </p:nvSpPr>
        <p:spPr>
          <a:xfrm>
            <a:off x="18288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7" id="27"/>
          <p:cNvSpPr/>
          <p:nvPr/>
        </p:nvSpPr>
        <p:spPr>
          <a:xfrm>
            <a:off x="0" y="0"/>
            <a:ext cx="18288000" cy="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8" id="28"/>
          <p:cNvSpPr/>
          <p:nvPr/>
        </p:nvSpPr>
        <p:spPr>
          <a:xfrm>
            <a:off x="0" y="762000"/>
            <a:ext cx="18288000" cy="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9" id="29"/>
          <p:cNvSpPr/>
          <p:nvPr/>
        </p:nvSpPr>
        <p:spPr>
          <a:xfrm>
            <a:off x="0" y="1524000"/>
            <a:ext cx="18288000" cy="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0" id="30"/>
          <p:cNvSpPr/>
          <p:nvPr/>
        </p:nvSpPr>
        <p:spPr>
          <a:xfrm>
            <a:off x="0" y="2286000"/>
            <a:ext cx="18288000" cy="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1" id="31"/>
          <p:cNvSpPr/>
          <p:nvPr/>
        </p:nvSpPr>
        <p:spPr>
          <a:xfrm>
            <a:off x="0" y="3048000"/>
            <a:ext cx="18288000" cy="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2" id="32"/>
          <p:cNvSpPr/>
          <p:nvPr/>
        </p:nvSpPr>
        <p:spPr>
          <a:xfrm>
            <a:off x="0" y="3810000"/>
            <a:ext cx="18288000" cy="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3" id="33"/>
          <p:cNvSpPr/>
          <p:nvPr/>
        </p:nvSpPr>
        <p:spPr>
          <a:xfrm>
            <a:off x="0" y="4572000"/>
            <a:ext cx="18288000" cy="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4" id="34"/>
          <p:cNvSpPr/>
          <p:nvPr/>
        </p:nvSpPr>
        <p:spPr>
          <a:xfrm>
            <a:off x="0" y="5334000"/>
            <a:ext cx="18288000" cy="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5" id="35"/>
          <p:cNvSpPr/>
          <p:nvPr/>
        </p:nvSpPr>
        <p:spPr>
          <a:xfrm>
            <a:off x="0" y="6096000"/>
            <a:ext cx="18288000" cy="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6" id="36"/>
          <p:cNvSpPr/>
          <p:nvPr/>
        </p:nvSpPr>
        <p:spPr>
          <a:xfrm>
            <a:off x="0" y="6858000"/>
            <a:ext cx="18288000" cy="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7" id="37"/>
          <p:cNvSpPr/>
          <p:nvPr/>
        </p:nvSpPr>
        <p:spPr>
          <a:xfrm>
            <a:off x="0" y="7620000"/>
            <a:ext cx="18288000" cy="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8" id="38"/>
          <p:cNvSpPr/>
          <p:nvPr/>
        </p:nvSpPr>
        <p:spPr>
          <a:xfrm>
            <a:off x="0" y="8382000"/>
            <a:ext cx="18288000" cy="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9" id="39"/>
          <p:cNvSpPr/>
          <p:nvPr/>
        </p:nvSpPr>
        <p:spPr>
          <a:xfrm>
            <a:off x="0" y="9144000"/>
            <a:ext cx="18288000" cy="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0" id="40"/>
          <p:cNvSpPr/>
          <p:nvPr/>
        </p:nvSpPr>
        <p:spPr>
          <a:xfrm>
            <a:off x="0" y="9906000"/>
            <a:ext cx="18288000" cy="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41" id="41"/>
          <p:cNvSpPr txBox="true"/>
          <p:nvPr/>
        </p:nvSpPr>
        <p:spPr>
          <a:xfrm rot="0">
            <a:off x="762000" y="542925"/>
            <a:ext cx="8572500" cy="2076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200" spc="420" b="true">
                <a:solidFill>
                  <a:srgbClr val="B5121B"/>
                </a:solidFill>
                <a:latin typeface="Inter 2 Bold"/>
                <a:ea typeface="Inter 2 Bold"/>
                <a:cs typeface="Inter 2 Bold"/>
                <a:sym typeface="Inter 2 Bold"/>
              </a:rPr>
              <a:t>PHASE 04  ·  INTERIOR STEEL LINING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762000" y="800100"/>
            <a:ext cx="15240000" cy="762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1A1A1A"/>
                </a:solidFill>
                <a:latin typeface="Oswald Bold"/>
                <a:ea typeface="Oswald Bold"/>
                <a:cs typeface="Oswald Bold"/>
                <a:sym typeface="Oswald Bold"/>
              </a:rPr>
              <a:t>Skinning the interior in welded plate.</a:t>
            </a:r>
          </a:p>
        </p:txBody>
      </p:sp>
      <p:grpSp>
        <p:nvGrpSpPr>
          <p:cNvPr name="Group 43" id="43"/>
          <p:cNvGrpSpPr/>
          <p:nvPr/>
        </p:nvGrpSpPr>
        <p:grpSpPr>
          <a:xfrm rot="0">
            <a:off x="762000" y="2095500"/>
            <a:ext cx="8191500" cy="6858000"/>
            <a:chOff x="0" y="0"/>
            <a:chExt cx="10922000" cy="914400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10922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0922000">
                  <a:moveTo>
                    <a:pt x="0" y="0"/>
                  </a:moveTo>
                  <a:lnTo>
                    <a:pt x="10922000" y="0"/>
                  </a:lnTo>
                  <a:lnTo>
                    <a:pt x="10922000" y="9144000"/>
                  </a:lnTo>
                  <a:lnTo>
                    <a:pt x="0" y="9144000"/>
                  </a:lnTo>
                  <a:close/>
                </a:path>
              </a:pathLst>
            </a:custGeom>
            <a:solidFill>
              <a:srgbClr val="1A1A1A"/>
            </a:solidFill>
            <a:ln cap="sq">
              <a:noFill/>
              <a:prstDash val="solid"/>
              <a:miter/>
            </a:ln>
          </p:spPr>
        </p:sp>
        <p:sp>
          <p:nvSpPr>
            <p:cNvPr name="TextBox 45" id="45"/>
            <p:cNvSpPr txBox="true"/>
            <p:nvPr/>
          </p:nvSpPr>
          <p:spPr>
            <a:xfrm>
              <a:off x="0" y="-38100"/>
              <a:ext cx="10922000" cy="918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AutoShape 46" id="46"/>
          <p:cNvSpPr/>
          <p:nvPr/>
        </p:nvSpPr>
        <p:spPr>
          <a:xfrm>
            <a:off x="762000" y="2095500"/>
            <a:ext cx="0" cy="6858000"/>
          </a:xfrm>
          <a:prstGeom prst="line">
            <a:avLst/>
          </a:prstGeom>
          <a:ln cap="flat" w="9525">
            <a:solidFill>
              <a:srgbClr val="555555">
                <a:alpha val="19608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7" id="47"/>
          <p:cNvSpPr/>
          <p:nvPr/>
        </p:nvSpPr>
        <p:spPr>
          <a:xfrm>
            <a:off x="1524000" y="2095500"/>
            <a:ext cx="0" cy="6858000"/>
          </a:xfrm>
          <a:prstGeom prst="line">
            <a:avLst/>
          </a:prstGeom>
          <a:ln cap="flat" w="9525">
            <a:solidFill>
              <a:srgbClr val="555555">
                <a:alpha val="19608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8" id="48"/>
          <p:cNvSpPr/>
          <p:nvPr/>
        </p:nvSpPr>
        <p:spPr>
          <a:xfrm>
            <a:off x="2286000" y="2095500"/>
            <a:ext cx="0" cy="6858000"/>
          </a:xfrm>
          <a:prstGeom prst="line">
            <a:avLst/>
          </a:prstGeom>
          <a:ln cap="flat" w="9525">
            <a:solidFill>
              <a:srgbClr val="555555">
                <a:alpha val="19608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9" id="49"/>
          <p:cNvSpPr/>
          <p:nvPr/>
        </p:nvSpPr>
        <p:spPr>
          <a:xfrm>
            <a:off x="3048000" y="2095500"/>
            <a:ext cx="0" cy="6858000"/>
          </a:xfrm>
          <a:prstGeom prst="line">
            <a:avLst/>
          </a:prstGeom>
          <a:ln cap="flat" w="9525">
            <a:solidFill>
              <a:srgbClr val="555555">
                <a:alpha val="19608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0" id="50"/>
          <p:cNvSpPr/>
          <p:nvPr/>
        </p:nvSpPr>
        <p:spPr>
          <a:xfrm>
            <a:off x="3810000" y="2095500"/>
            <a:ext cx="0" cy="6858000"/>
          </a:xfrm>
          <a:prstGeom prst="line">
            <a:avLst/>
          </a:prstGeom>
          <a:ln cap="flat" w="9525">
            <a:solidFill>
              <a:srgbClr val="555555">
                <a:alpha val="19608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1" id="51"/>
          <p:cNvSpPr/>
          <p:nvPr/>
        </p:nvSpPr>
        <p:spPr>
          <a:xfrm>
            <a:off x="4572000" y="2095500"/>
            <a:ext cx="0" cy="6858000"/>
          </a:xfrm>
          <a:prstGeom prst="line">
            <a:avLst/>
          </a:prstGeom>
          <a:ln cap="flat" w="9525">
            <a:solidFill>
              <a:srgbClr val="555555">
                <a:alpha val="19608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2" id="52"/>
          <p:cNvSpPr/>
          <p:nvPr/>
        </p:nvSpPr>
        <p:spPr>
          <a:xfrm>
            <a:off x="5334000" y="2095500"/>
            <a:ext cx="0" cy="6858000"/>
          </a:xfrm>
          <a:prstGeom prst="line">
            <a:avLst/>
          </a:prstGeom>
          <a:ln cap="flat" w="9525">
            <a:solidFill>
              <a:srgbClr val="555555">
                <a:alpha val="19608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3" id="53"/>
          <p:cNvSpPr/>
          <p:nvPr/>
        </p:nvSpPr>
        <p:spPr>
          <a:xfrm>
            <a:off x="6096000" y="2095500"/>
            <a:ext cx="0" cy="6858000"/>
          </a:xfrm>
          <a:prstGeom prst="line">
            <a:avLst/>
          </a:prstGeom>
          <a:ln cap="flat" w="9525">
            <a:solidFill>
              <a:srgbClr val="555555">
                <a:alpha val="19608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4" id="54"/>
          <p:cNvSpPr/>
          <p:nvPr/>
        </p:nvSpPr>
        <p:spPr>
          <a:xfrm>
            <a:off x="6858000" y="2095500"/>
            <a:ext cx="0" cy="6858000"/>
          </a:xfrm>
          <a:prstGeom prst="line">
            <a:avLst/>
          </a:prstGeom>
          <a:ln cap="flat" w="9525">
            <a:solidFill>
              <a:srgbClr val="555555">
                <a:alpha val="19608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5" id="55"/>
          <p:cNvSpPr/>
          <p:nvPr/>
        </p:nvSpPr>
        <p:spPr>
          <a:xfrm>
            <a:off x="7620000" y="2095500"/>
            <a:ext cx="0" cy="6858000"/>
          </a:xfrm>
          <a:prstGeom prst="line">
            <a:avLst/>
          </a:prstGeom>
          <a:ln cap="flat" w="9525">
            <a:solidFill>
              <a:srgbClr val="555555">
                <a:alpha val="19608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6" id="56"/>
          <p:cNvSpPr/>
          <p:nvPr/>
        </p:nvSpPr>
        <p:spPr>
          <a:xfrm>
            <a:off x="8382000" y="2095500"/>
            <a:ext cx="0" cy="6858000"/>
          </a:xfrm>
          <a:prstGeom prst="line">
            <a:avLst/>
          </a:prstGeom>
          <a:ln cap="flat" w="9525">
            <a:solidFill>
              <a:srgbClr val="555555">
                <a:alpha val="19608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7" id="57"/>
          <p:cNvSpPr/>
          <p:nvPr/>
        </p:nvSpPr>
        <p:spPr>
          <a:xfrm>
            <a:off x="762000" y="2095500"/>
            <a:ext cx="8191500" cy="0"/>
          </a:xfrm>
          <a:prstGeom prst="line">
            <a:avLst/>
          </a:prstGeom>
          <a:ln cap="flat" w="9525">
            <a:solidFill>
              <a:srgbClr val="555555">
                <a:alpha val="19608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8" id="58"/>
          <p:cNvSpPr/>
          <p:nvPr/>
        </p:nvSpPr>
        <p:spPr>
          <a:xfrm>
            <a:off x="762000" y="2857500"/>
            <a:ext cx="8191500" cy="0"/>
          </a:xfrm>
          <a:prstGeom prst="line">
            <a:avLst/>
          </a:prstGeom>
          <a:ln cap="flat" w="9525">
            <a:solidFill>
              <a:srgbClr val="555555">
                <a:alpha val="19608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9" id="59"/>
          <p:cNvSpPr/>
          <p:nvPr/>
        </p:nvSpPr>
        <p:spPr>
          <a:xfrm>
            <a:off x="762000" y="3619500"/>
            <a:ext cx="8191500" cy="0"/>
          </a:xfrm>
          <a:prstGeom prst="line">
            <a:avLst/>
          </a:prstGeom>
          <a:ln cap="flat" w="9525">
            <a:solidFill>
              <a:srgbClr val="555555">
                <a:alpha val="19608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0" id="60"/>
          <p:cNvSpPr/>
          <p:nvPr/>
        </p:nvSpPr>
        <p:spPr>
          <a:xfrm>
            <a:off x="762000" y="4381500"/>
            <a:ext cx="8191500" cy="0"/>
          </a:xfrm>
          <a:prstGeom prst="line">
            <a:avLst/>
          </a:prstGeom>
          <a:ln cap="flat" w="9525">
            <a:solidFill>
              <a:srgbClr val="555555">
                <a:alpha val="19608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1" id="61"/>
          <p:cNvSpPr/>
          <p:nvPr/>
        </p:nvSpPr>
        <p:spPr>
          <a:xfrm>
            <a:off x="762000" y="5143500"/>
            <a:ext cx="8191500" cy="0"/>
          </a:xfrm>
          <a:prstGeom prst="line">
            <a:avLst/>
          </a:prstGeom>
          <a:ln cap="flat" w="9525">
            <a:solidFill>
              <a:srgbClr val="555555">
                <a:alpha val="19608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2" id="62"/>
          <p:cNvSpPr/>
          <p:nvPr/>
        </p:nvSpPr>
        <p:spPr>
          <a:xfrm>
            <a:off x="762000" y="5905500"/>
            <a:ext cx="8191500" cy="0"/>
          </a:xfrm>
          <a:prstGeom prst="line">
            <a:avLst/>
          </a:prstGeom>
          <a:ln cap="flat" w="9525">
            <a:solidFill>
              <a:srgbClr val="555555">
                <a:alpha val="19608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3" id="63"/>
          <p:cNvSpPr/>
          <p:nvPr/>
        </p:nvSpPr>
        <p:spPr>
          <a:xfrm>
            <a:off x="762000" y="6667500"/>
            <a:ext cx="8191500" cy="0"/>
          </a:xfrm>
          <a:prstGeom prst="line">
            <a:avLst/>
          </a:prstGeom>
          <a:ln cap="flat" w="9525">
            <a:solidFill>
              <a:srgbClr val="555555">
                <a:alpha val="19608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4" id="64"/>
          <p:cNvSpPr/>
          <p:nvPr/>
        </p:nvSpPr>
        <p:spPr>
          <a:xfrm>
            <a:off x="762000" y="7429500"/>
            <a:ext cx="8191500" cy="0"/>
          </a:xfrm>
          <a:prstGeom prst="line">
            <a:avLst/>
          </a:prstGeom>
          <a:ln cap="flat" w="9525">
            <a:solidFill>
              <a:srgbClr val="555555">
                <a:alpha val="19608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5" id="65"/>
          <p:cNvSpPr/>
          <p:nvPr/>
        </p:nvSpPr>
        <p:spPr>
          <a:xfrm>
            <a:off x="762000" y="8191500"/>
            <a:ext cx="8191500" cy="0"/>
          </a:xfrm>
          <a:prstGeom prst="line">
            <a:avLst/>
          </a:prstGeom>
          <a:ln cap="flat" w="9525">
            <a:solidFill>
              <a:srgbClr val="555555">
                <a:alpha val="19608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6" id="66"/>
          <p:cNvSpPr/>
          <p:nvPr/>
        </p:nvSpPr>
        <p:spPr>
          <a:xfrm>
            <a:off x="762000" y="8953500"/>
            <a:ext cx="8191500" cy="0"/>
          </a:xfrm>
          <a:prstGeom prst="line">
            <a:avLst/>
          </a:prstGeom>
          <a:ln cap="flat" w="9525">
            <a:solidFill>
              <a:srgbClr val="555555">
                <a:alpha val="19608"/>
              </a:srgbClr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67" id="67"/>
          <p:cNvGrpSpPr/>
          <p:nvPr/>
        </p:nvGrpSpPr>
        <p:grpSpPr>
          <a:xfrm rot="0">
            <a:off x="9334500" y="2095500"/>
            <a:ext cx="8191500" cy="6858000"/>
            <a:chOff x="0" y="0"/>
            <a:chExt cx="10922000" cy="9144000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10922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0922000">
                  <a:moveTo>
                    <a:pt x="0" y="0"/>
                  </a:moveTo>
                  <a:lnTo>
                    <a:pt x="10922000" y="0"/>
                  </a:lnTo>
                  <a:lnTo>
                    <a:pt x="10922000" y="9144000"/>
                  </a:lnTo>
                  <a:lnTo>
                    <a:pt x="0" y="9144000"/>
                  </a:lnTo>
                  <a:close/>
                </a:path>
              </a:pathLst>
            </a:custGeom>
            <a:solidFill>
              <a:srgbClr val="B5121B"/>
            </a:solidFill>
            <a:ln cap="sq">
              <a:noFill/>
              <a:prstDash val="solid"/>
              <a:miter/>
            </a:ln>
          </p:spPr>
        </p:sp>
        <p:sp>
          <p:nvSpPr>
            <p:cNvPr name="TextBox 69" id="69"/>
            <p:cNvSpPr txBox="true"/>
            <p:nvPr/>
          </p:nvSpPr>
          <p:spPr>
            <a:xfrm>
              <a:off x="0" y="-38100"/>
              <a:ext cx="10922000" cy="918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70" id="70"/>
          <p:cNvGrpSpPr/>
          <p:nvPr/>
        </p:nvGrpSpPr>
        <p:grpSpPr>
          <a:xfrm rot="0">
            <a:off x="1143000" y="2476500"/>
            <a:ext cx="7429500" cy="3048000"/>
            <a:chOff x="0" y="0"/>
            <a:chExt cx="9906000" cy="4064000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9906000" cy="4064000"/>
            </a:xfrm>
            <a:custGeom>
              <a:avLst/>
              <a:gdLst/>
              <a:ahLst/>
              <a:cxnLst/>
              <a:rect r="r" b="b" t="t" l="l"/>
              <a:pathLst>
                <a:path h="4064000" w="9906000">
                  <a:moveTo>
                    <a:pt x="0" y="0"/>
                  </a:moveTo>
                  <a:lnTo>
                    <a:pt x="9906000" y="0"/>
                  </a:lnTo>
                  <a:lnTo>
                    <a:pt x="9906000" y="4064000"/>
                  </a:lnTo>
                  <a:lnTo>
                    <a:pt x="0" y="4064000"/>
                  </a:lnTo>
                  <a:close/>
                </a:path>
              </a:pathLst>
            </a:custGeom>
            <a:solidFill>
              <a:srgbClr val="0A0A0A"/>
            </a:solidFill>
            <a:ln cap="sq">
              <a:noFill/>
              <a:prstDash val="solid"/>
              <a:miter/>
            </a:ln>
          </p:spPr>
        </p:sp>
        <p:sp>
          <p:nvSpPr>
            <p:cNvPr name="TextBox 72" id="72"/>
            <p:cNvSpPr txBox="true"/>
            <p:nvPr/>
          </p:nvSpPr>
          <p:spPr>
            <a:xfrm>
              <a:off x="0" y="-38100"/>
              <a:ext cx="9906000" cy="410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AutoShape 73" id="73"/>
          <p:cNvSpPr/>
          <p:nvPr/>
        </p:nvSpPr>
        <p:spPr>
          <a:xfrm>
            <a:off x="1143000" y="2476500"/>
            <a:ext cx="0" cy="304800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4" id="74"/>
          <p:cNvSpPr/>
          <p:nvPr/>
        </p:nvSpPr>
        <p:spPr>
          <a:xfrm>
            <a:off x="1905000" y="2476500"/>
            <a:ext cx="0" cy="304800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5" id="75"/>
          <p:cNvSpPr/>
          <p:nvPr/>
        </p:nvSpPr>
        <p:spPr>
          <a:xfrm>
            <a:off x="2667000" y="2476500"/>
            <a:ext cx="0" cy="304800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6" id="76"/>
          <p:cNvSpPr/>
          <p:nvPr/>
        </p:nvSpPr>
        <p:spPr>
          <a:xfrm>
            <a:off x="3429000" y="2476500"/>
            <a:ext cx="0" cy="304800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7" id="77"/>
          <p:cNvSpPr/>
          <p:nvPr/>
        </p:nvSpPr>
        <p:spPr>
          <a:xfrm>
            <a:off x="4191000" y="2476500"/>
            <a:ext cx="0" cy="304800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8" id="78"/>
          <p:cNvSpPr/>
          <p:nvPr/>
        </p:nvSpPr>
        <p:spPr>
          <a:xfrm>
            <a:off x="4953000" y="2476500"/>
            <a:ext cx="0" cy="304800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9" id="79"/>
          <p:cNvSpPr/>
          <p:nvPr/>
        </p:nvSpPr>
        <p:spPr>
          <a:xfrm>
            <a:off x="5715000" y="2476500"/>
            <a:ext cx="0" cy="304800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0" id="80"/>
          <p:cNvSpPr/>
          <p:nvPr/>
        </p:nvSpPr>
        <p:spPr>
          <a:xfrm>
            <a:off x="6477000" y="2476500"/>
            <a:ext cx="0" cy="304800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1" id="81"/>
          <p:cNvSpPr/>
          <p:nvPr/>
        </p:nvSpPr>
        <p:spPr>
          <a:xfrm>
            <a:off x="7239000" y="2476500"/>
            <a:ext cx="0" cy="304800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2" id="82"/>
          <p:cNvSpPr/>
          <p:nvPr/>
        </p:nvSpPr>
        <p:spPr>
          <a:xfrm>
            <a:off x="8001000" y="2476500"/>
            <a:ext cx="0" cy="304800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3" id="83"/>
          <p:cNvSpPr/>
          <p:nvPr/>
        </p:nvSpPr>
        <p:spPr>
          <a:xfrm>
            <a:off x="1143000" y="2476500"/>
            <a:ext cx="7429500" cy="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4" id="84"/>
          <p:cNvSpPr/>
          <p:nvPr/>
        </p:nvSpPr>
        <p:spPr>
          <a:xfrm>
            <a:off x="1143000" y="3238500"/>
            <a:ext cx="7429500" cy="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5" id="85"/>
          <p:cNvSpPr/>
          <p:nvPr/>
        </p:nvSpPr>
        <p:spPr>
          <a:xfrm>
            <a:off x="1143000" y="4000500"/>
            <a:ext cx="7429500" cy="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6" id="86"/>
          <p:cNvSpPr/>
          <p:nvPr/>
        </p:nvSpPr>
        <p:spPr>
          <a:xfrm>
            <a:off x="1143000" y="4762500"/>
            <a:ext cx="7429500" cy="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7" id="87"/>
          <p:cNvSpPr/>
          <p:nvPr/>
        </p:nvSpPr>
        <p:spPr>
          <a:xfrm>
            <a:off x="1143000" y="5524500"/>
            <a:ext cx="7429500" cy="0"/>
          </a:xfrm>
          <a:prstGeom prst="line">
            <a:avLst/>
          </a:prstGeom>
          <a:ln cap="flat" w="9525">
            <a:solidFill>
              <a:srgbClr val="555555">
                <a:alpha val="2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8" id="88"/>
          <p:cNvSpPr/>
          <p:nvPr/>
        </p:nvSpPr>
        <p:spPr>
          <a:xfrm>
            <a:off x="1524000" y="2667000"/>
            <a:ext cx="0" cy="2667000"/>
          </a:xfrm>
          <a:prstGeom prst="line">
            <a:avLst/>
          </a:prstGeom>
          <a:ln cap="flat" w="28575">
            <a:solidFill>
              <a:srgbClr val="55555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9" id="89"/>
          <p:cNvSpPr/>
          <p:nvPr/>
        </p:nvSpPr>
        <p:spPr>
          <a:xfrm>
            <a:off x="2857500" y="2667000"/>
            <a:ext cx="0" cy="2667000"/>
          </a:xfrm>
          <a:prstGeom prst="line">
            <a:avLst/>
          </a:prstGeom>
          <a:ln cap="flat" w="28575">
            <a:solidFill>
              <a:srgbClr val="55555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0" id="90"/>
          <p:cNvSpPr/>
          <p:nvPr/>
        </p:nvSpPr>
        <p:spPr>
          <a:xfrm>
            <a:off x="4191000" y="2667000"/>
            <a:ext cx="0" cy="2667000"/>
          </a:xfrm>
          <a:prstGeom prst="line">
            <a:avLst/>
          </a:prstGeom>
          <a:ln cap="flat" w="28575">
            <a:solidFill>
              <a:srgbClr val="55555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1" id="91"/>
          <p:cNvSpPr/>
          <p:nvPr/>
        </p:nvSpPr>
        <p:spPr>
          <a:xfrm>
            <a:off x="5524500" y="2667000"/>
            <a:ext cx="0" cy="2667000"/>
          </a:xfrm>
          <a:prstGeom prst="line">
            <a:avLst/>
          </a:prstGeom>
          <a:ln cap="flat" w="28575">
            <a:solidFill>
              <a:srgbClr val="55555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2" id="92"/>
          <p:cNvSpPr/>
          <p:nvPr/>
        </p:nvSpPr>
        <p:spPr>
          <a:xfrm>
            <a:off x="6858000" y="2667000"/>
            <a:ext cx="0" cy="2667000"/>
          </a:xfrm>
          <a:prstGeom prst="line">
            <a:avLst/>
          </a:prstGeom>
          <a:ln cap="flat" w="28575">
            <a:solidFill>
              <a:srgbClr val="55555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3" id="93"/>
          <p:cNvSpPr/>
          <p:nvPr/>
        </p:nvSpPr>
        <p:spPr>
          <a:xfrm>
            <a:off x="8191500" y="2667000"/>
            <a:ext cx="0" cy="2667000"/>
          </a:xfrm>
          <a:prstGeom prst="line">
            <a:avLst/>
          </a:prstGeom>
          <a:ln cap="flat" w="28575">
            <a:solidFill>
              <a:srgbClr val="55555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4" id="94"/>
          <p:cNvSpPr/>
          <p:nvPr/>
        </p:nvSpPr>
        <p:spPr>
          <a:xfrm>
            <a:off x="1219200" y="2552700"/>
            <a:ext cx="209550" cy="0"/>
          </a:xfrm>
          <a:prstGeom prst="line">
            <a:avLst/>
          </a:prstGeom>
          <a:ln cap="flat" w="19050">
            <a:solidFill>
              <a:srgbClr val="B5121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5" id="95"/>
          <p:cNvSpPr/>
          <p:nvPr/>
        </p:nvSpPr>
        <p:spPr>
          <a:xfrm>
            <a:off x="1219200" y="2552700"/>
            <a:ext cx="0" cy="209550"/>
          </a:xfrm>
          <a:prstGeom prst="line">
            <a:avLst/>
          </a:prstGeom>
          <a:ln cap="flat" w="19050">
            <a:solidFill>
              <a:srgbClr val="B5121B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96" id="96"/>
          <p:cNvGrpSpPr/>
          <p:nvPr/>
        </p:nvGrpSpPr>
        <p:grpSpPr>
          <a:xfrm rot="0">
            <a:off x="9715500" y="2476500"/>
            <a:ext cx="7429500" cy="3048000"/>
            <a:chOff x="0" y="0"/>
            <a:chExt cx="9906000" cy="4064000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9906000" cy="4064000"/>
            </a:xfrm>
            <a:custGeom>
              <a:avLst/>
              <a:gdLst/>
              <a:ahLst/>
              <a:cxnLst/>
              <a:rect r="r" b="b" t="t" l="l"/>
              <a:pathLst>
                <a:path h="4064000" w="9906000">
                  <a:moveTo>
                    <a:pt x="0" y="0"/>
                  </a:moveTo>
                  <a:lnTo>
                    <a:pt x="9906000" y="0"/>
                  </a:lnTo>
                  <a:lnTo>
                    <a:pt x="9906000" y="4064000"/>
                  </a:lnTo>
                  <a:lnTo>
                    <a:pt x="0" y="4064000"/>
                  </a:lnTo>
                  <a:close/>
                </a:path>
              </a:pathLst>
            </a:custGeom>
            <a:solidFill>
              <a:srgbClr val="0A0A0A"/>
            </a:solidFill>
            <a:ln cap="sq">
              <a:noFill/>
              <a:prstDash val="solid"/>
              <a:miter/>
            </a:ln>
          </p:spPr>
        </p:sp>
        <p:sp>
          <p:nvSpPr>
            <p:cNvPr name="TextBox 98" id="98"/>
            <p:cNvSpPr txBox="true"/>
            <p:nvPr/>
          </p:nvSpPr>
          <p:spPr>
            <a:xfrm>
              <a:off x="0" y="-38100"/>
              <a:ext cx="9906000" cy="410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AutoShape 99" id="99"/>
          <p:cNvSpPr/>
          <p:nvPr/>
        </p:nvSpPr>
        <p:spPr>
          <a:xfrm>
            <a:off x="9715500" y="2476500"/>
            <a:ext cx="0" cy="3048000"/>
          </a:xfrm>
          <a:prstGeom prst="line">
            <a:avLst/>
          </a:prstGeom>
          <a:ln cap="flat" w="9525">
            <a:solidFill>
              <a:srgbClr val="FFFFFF">
                <a:alpha val="17647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0" id="100"/>
          <p:cNvSpPr/>
          <p:nvPr/>
        </p:nvSpPr>
        <p:spPr>
          <a:xfrm>
            <a:off x="10477500" y="2476500"/>
            <a:ext cx="0" cy="3048000"/>
          </a:xfrm>
          <a:prstGeom prst="line">
            <a:avLst/>
          </a:prstGeom>
          <a:ln cap="flat" w="9525">
            <a:solidFill>
              <a:srgbClr val="FFFFFF">
                <a:alpha val="17647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1" id="101"/>
          <p:cNvSpPr/>
          <p:nvPr/>
        </p:nvSpPr>
        <p:spPr>
          <a:xfrm>
            <a:off x="11239500" y="2476500"/>
            <a:ext cx="0" cy="3048000"/>
          </a:xfrm>
          <a:prstGeom prst="line">
            <a:avLst/>
          </a:prstGeom>
          <a:ln cap="flat" w="9525">
            <a:solidFill>
              <a:srgbClr val="FFFFFF">
                <a:alpha val="17647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2" id="102"/>
          <p:cNvSpPr/>
          <p:nvPr/>
        </p:nvSpPr>
        <p:spPr>
          <a:xfrm>
            <a:off x="12001500" y="2476500"/>
            <a:ext cx="0" cy="3048000"/>
          </a:xfrm>
          <a:prstGeom prst="line">
            <a:avLst/>
          </a:prstGeom>
          <a:ln cap="flat" w="9525">
            <a:solidFill>
              <a:srgbClr val="FFFFFF">
                <a:alpha val="17647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3" id="103"/>
          <p:cNvSpPr/>
          <p:nvPr/>
        </p:nvSpPr>
        <p:spPr>
          <a:xfrm>
            <a:off x="12763500" y="2476500"/>
            <a:ext cx="0" cy="3048000"/>
          </a:xfrm>
          <a:prstGeom prst="line">
            <a:avLst/>
          </a:prstGeom>
          <a:ln cap="flat" w="9525">
            <a:solidFill>
              <a:srgbClr val="FFFFFF">
                <a:alpha val="17647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4" id="104"/>
          <p:cNvSpPr/>
          <p:nvPr/>
        </p:nvSpPr>
        <p:spPr>
          <a:xfrm>
            <a:off x="13525500" y="2476500"/>
            <a:ext cx="0" cy="3048000"/>
          </a:xfrm>
          <a:prstGeom prst="line">
            <a:avLst/>
          </a:prstGeom>
          <a:ln cap="flat" w="9525">
            <a:solidFill>
              <a:srgbClr val="FFFFFF">
                <a:alpha val="17647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5" id="105"/>
          <p:cNvSpPr/>
          <p:nvPr/>
        </p:nvSpPr>
        <p:spPr>
          <a:xfrm>
            <a:off x="14287500" y="2476500"/>
            <a:ext cx="0" cy="3048000"/>
          </a:xfrm>
          <a:prstGeom prst="line">
            <a:avLst/>
          </a:prstGeom>
          <a:ln cap="flat" w="9525">
            <a:solidFill>
              <a:srgbClr val="FFFFFF">
                <a:alpha val="17647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6" id="106"/>
          <p:cNvSpPr/>
          <p:nvPr/>
        </p:nvSpPr>
        <p:spPr>
          <a:xfrm>
            <a:off x="15049500" y="2476500"/>
            <a:ext cx="0" cy="3048000"/>
          </a:xfrm>
          <a:prstGeom prst="line">
            <a:avLst/>
          </a:prstGeom>
          <a:ln cap="flat" w="9525">
            <a:solidFill>
              <a:srgbClr val="FFFFFF">
                <a:alpha val="17647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7" id="107"/>
          <p:cNvSpPr/>
          <p:nvPr/>
        </p:nvSpPr>
        <p:spPr>
          <a:xfrm>
            <a:off x="15811500" y="2476500"/>
            <a:ext cx="0" cy="3048000"/>
          </a:xfrm>
          <a:prstGeom prst="line">
            <a:avLst/>
          </a:prstGeom>
          <a:ln cap="flat" w="9525">
            <a:solidFill>
              <a:srgbClr val="FFFFFF">
                <a:alpha val="17647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8" id="108"/>
          <p:cNvSpPr/>
          <p:nvPr/>
        </p:nvSpPr>
        <p:spPr>
          <a:xfrm>
            <a:off x="16573500" y="2476500"/>
            <a:ext cx="0" cy="3048000"/>
          </a:xfrm>
          <a:prstGeom prst="line">
            <a:avLst/>
          </a:prstGeom>
          <a:ln cap="flat" w="9525">
            <a:solidFill>
              <a:srgbClr val="FFFFFF">
                <a:alpha val="17647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9" id="109"/>
          <p:cNvSpPr/>
          <p:nvPr/>
        </p:nvSpPr>
        <p:spPr>
          <a:xfrm>
            <a:off x="9715500" y="2476500"/>
            <a:ext cx="7429500" cy="0"/>
          </a:xfrm>
          <a:prstGeom prst="line">
            <a:avLst/>
          </a:prstGeom>
          <a:ln cap="flat" w="9525">
            <a:solidFill>
              <a:srgbClr val="FFFFFF">
                <a:alpha val="17647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10" id="110"/>
          <p:cNvSpPr/>
          <p:nvPr/>
        </p:nvSpPr>
        <p:spPr>
          <a:xfrm>
            <a:off x="9715500" y="3238500"/>
            <a:ext cx="7429500" cy="0"/>
          </a:xfrm>
          <a:prstGeom prst="line">
            <a:avLst/>
          </a:prstGeom>
          <a:ln cap="flat" w="9525">
            <a:solidFill>
              <a:srgbClr val="FFFFFF">
                <a:alpha val="17647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11" id="111"/>
          <p:cNvSpPr/>
          <p:nvPr/>
        </p:nvSpPr>
        <p:spPr>
          <a:xfrm>
            <a:off x="9715500" y="4000500"/>
            <a:ext cx="7429500" cy="0"/>
          </a:xfrm>
          <a:prstGeom prst="line">
            <a:avLst/>
          </a:prstGeom>
          <a:ln cap="flat" w="9525">
            <a:solidFill>
              <a:srgbClr val="FFFFFF">
                <a:alpha val="17647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12" id="112"/>
          <p:cNvSpPr/>
          <p:nvPr/>
        </p:nvSpPr>
        <p:spPr>
          <a:xfrm>
            <a:off x="9715500" y="4762500"/>
            <a:ext cx="7429500" cy="0"/>
          </a:xfrm>
          <a:prstGeom prst="line">
            <a:avLst/>
          </a:prstGeom>
          <a:ln cap="flat" w="9525">
            <a:solidFill>
              <a:srgbClr val="FFFFFF">
                <a:alpha val="17647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13" id="113"/>
          <p:cNvSpPr/>
          <p:nvPr/>
        </p:nvSpPr>
        <p:spPr>
          <a:xfrm>
            <a:off x="9715500" y="5524500"/>
            <a:ext cx="7429500" cy="0"/>
          </a:xfrm>
          <a:prstGeom prst="line">
            <a:avLst/>
          </a:prstGeom>
          <a:ln cap="flat" w="9525">
            <a:solidFill>
              <a:srgbClr val="FFFFFF">
                <a:alpha val="17647"/>
              </a:srgbClr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14" id="114"/>
          <p:cNvGrpSpPr/>
          <p:nvPr/>
        </p:nvGrpSpPr>
        <p:grpSpPr>
          <a:xfrm rot="0">
            <a:off x="10096500" y="2857500"/>
            <a:ext cx="6667500" cy="571500"/>
            <a:chOff x="0" y="0"/>
            <a:chExt cx="8890000" cy="762000"/>
          </a:xfrm>
        </p:grpSpPr>
        <p:sp>
          <p:nvSpPr>
            <p:cNvPr name="Freeform 115" id="115"/>
            <p:cNvSpPr/>
            <p:nvPr/>
          </p:nvSpPr>
          <p:spPr>
            <a:xfrm flipH="false" flipV="false" rot="0">
              <a:off x="0" y="0"/>
              <a:ext cx="8890000" cy="762000"/>
            </a:xfrm>
            <a:custGeom>
              <a:avLst/>
              <a:gdLst/>
              <a:ahLst/>
              <a:cxnLst/>
              <a:rect r="r" b="b" t="t" l="l"/>
              <a:pathLst>
                <a:path h="762000" w="8890000">
                  <a:moveTo>
                    <a:pt x="0" y="0"/>
                  </a:moveTo>
                  <a:lnTo>
                    <a:pt x="8890000" y="0"/>
                  </a:lnTo>
                  <a:lnTo>
                    <a:pt x="8890000" y="762000"/>
                  </a:lnTo>
                  <a:lnTo>
                    <a:pt x="0" y="762000"/>
                  </a:lnTo>
                  <a:close/>
                </a:path>
              </a:pathLst>
            </a:custGeom>
            <a:solidFill>
              <a:srgbClr val="1A1A1A"/>
            </a:solidFill>
            <a:ln w="9525" cap="sq">
              <a:solidFill>
                <a:srgbClr val="333333"/>
              </a:solidFill>
              <a:prstDash val="solid"/>
              <a:miter/>
            </a:ln>
          </p:spPr>
        </p:sp>
        <p:sp>
          <p:nvSpPr>
            <p:cNvPr name="TextBox 116" id="116"/>
            <p:cNvSpPr txBox="true"/>
            <p:nvPr/>
          </p:nvSpPr>
          <p:spPr>
            <a:xfrm>
              <a:off x="0" y="-38100"/>
              <a:ext cx="8890000" cy="80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7" id="117"/>
          <p:cNvGrpSpPr/>
          <p:nvPr/>
        </p:nvGrpSpPr>
        <p:grpSpPr>
          <a:xfrm rot="0">
            <a:off x="10096500" y="3524250"/>
            <a:ext cx="6667500" cy="571500"/>
            <a:chOff x="0" y="0"/>
            <a:chExt cx="8890000" cy="762000"/>
          </a:xfrm>
        </p:grpSpPr>
        <p:sp>
          <p:nvSpPr>
            <p:cNvPr name="Freeform 118" id="118"/>
            <p:cNvSpPr/>
            <p:nvPr/>
          </p:nvSpPr>
          <p:spPr>
            <a:xfrm flipH="false" flipV="false" rot="0">
              <a:off x="0" y="0"/>
              <a:ext cx="8890000" cy="762000"/>
            </a:xfrm>
            <a:custGeom>
              <a:avLst/>
              <a:gdLst/>
              <a:ahLst/>
              <a:cxnLst/>
              <a:rect r="r" b="b" t="t" l="l"/>
              <a:pathLst>
                <a:path h="762000" w="8890000">
                  <a:moveTo>
                    <a:pt x="0" y="0"/>
                  </a:moveTo>
                  <a:lnTo>
                    <a:pt x="8890000" y="0"/>
                  </a:lnTo>
                  <a:lnTo>
                    <a:pt x="8890000" y="762000"/>
                  </a:lnTo>
                  <a:lnTo>
                    <a:pt x="0" y="762000"/>
                  </a:lnTo>
                  <a:close/>
                </a:path>
              </a:pathLst>
            </a:custGeom>
            <a:solidFill>
              <a:srgbClr val="1A1A1A"/>
            </a:solidFill>
            <a:ln w="9525" cap="sq">
              <a:solidFill>
                <a:srgbClr val="333333"/>
              </a:solidFill>
              <a:prstDash val="solid"/>
              <a:miter/>
            </a:ln>
          </p:spPr>
        </p:sp>
        <p:sp>
          <p:nvSpPr>
            <p:cNvPr name="TextBox 119" id="119"/>
            <p:cNvSpPr txBox="true"/>
            <p:nvPr/>
          </p:nvSpPr>
          <p:spPr>
            <a:xfrm>
              <a:off x="0" y="-38100"/>
              <a:ext cx="8890000" cy="80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20" id="120"/>
          <p:cNvGrpSpPr/>
          <p:nvPr/>
        </p:nvGrpSpPr>
        <p:grpSpPr>
          <a:xfrm rot="0">
            <a:off x="10096500" y="4191000"/>
            <a:ext cx="6667500" cy="571500"/>
            <a:chOff x="0" y="0"/>
            <a:chExt cx="8890000" cy="762000"/>
          </a:xfrm>
        </p:grpSpPr>
        <p:sp>
          <p:nvSpPr>
            <p:cNvPr name="Freeform 121" id="121"/>
            <p:cNvSpPr/>
            <p:nvPr/>
          </p:nvSpPr>
          <p:spPr>
            <a:xfrm flipH="false" flipV="false" rot="0">
              <a:off x="0" y="0"/>
              <a:ext cx="8890000" cy="762000"/>
            </a:xfrm>
            <a:custGeom>
              <a:avLst/>
              <a:gdLst/>
              <a:ahLst/>
              <a:cxnLst/>
              <a:rect r="r" b="b" t="t" l="l"/>
              <a:pathLst>
                <a:path h="762000" w="8890000">
                  <a:moveTo>
                    <a:pt x="0" y="0"/>
                  </a:moveTo>
                  <a:lnTo>
                    <a:pt x="8890000" y="0"/>
                  </a:lnTo>
                  <a:lnTo>
                    <a:pt x="8890000" y="762000"/>
                  </a:lnTo>
                  <a:lnTo>
                    <a:pt x="0" y="762000"/>
                  </a:lnTo>
                  <a:close/>
                </a:path>
              </a:pathLst>
            </a:custGeom>
            <a:solidFill>
              <a:srgbClr val="1A1A1A"/>
            </a:solidFill>
            <a:ln w="9525" cap="sq">
              <a:solidFill>
                <a:srgbClr val="333333"/>
              </a:solidFill>
              <a:prstDash val="solid"/>
              <a:miter/>
            </a:ln>
          </p:spPr>
        </p:sp>
        <p:sp>
          <p:nvSpPr>
            <p:cNvPr name="TextBox 122" id="122"/>
            <p:cNvSpPr txBox="true"/>
            <p:nvPr/>
          </p:nvSpPr>
          <p:spPr>
            <a:xfrm>
              <a:off x="0" y="-38100"/>
              <a:ext cx="8890000" cy="80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23" id="123"/>
          <p:cNvGrpSpPr/>
          <p:nvPr/>
        </p:nvGrpSpPr>
        <p:grpSpPr>
          <a:xfrm rot="0">
            <a:off x="10096500" y="4857750"/>
            <a:ext cx="6667500" cy="571500"/>
            <a:chOff x="0" y="0"/>
            <a:chExt cx="8890000" cy="762000"/>
          </a:xfrm>
        </p:grpSpPr>
        <p:sp>
          <p:nvSpPr>
            <p:cNvPr name="Freeform 124" id="124"/>
            <p:cNvSpPr/>
            <p:nvPr/>
          </p:nvSpPr>
          <p:spPr>
            <a:xfrm flipH="false" flipV="false" rot="0">
              <a:off x="0" y="0"/>
              <a:ext cx="8890000" cy="762000"/>
            </a:xfrm>
            <a:custGeom>
              <a:avLst/>
              <a:gdLst/>
              <a:ahLst/>
              <a:cxnLst/>
              <a:rect r="r" b="b" t="t" l="l"/>
              <a:pathLst>
                <a:path h="762000" w="8890000">
                  <a:moveTo>
                    <a:pt x="0" y="0"/>
                  </a:moveTo>
                  <a:lnTo>
                    <a:pt x="8890000" y="0"/>
                  </a:lnTo>
                  <a:lnTo>
                    <a:pt x="8890000" y="762000"/>
                  </a:lnTo>
                  <a:lnTo>
                    <a:pt x="0" y="762000"/>
                  </a:lnTo>
                  <a:close/>
                </a:path>
              </a:pathLst>
            </a:custGeom>
            <a:solidFill>
              <a:srgbClr val="1A1A1A"/>
            </a:solidFill>
            <a:ln w="9525" cap="sq">
              <a:solidFill>
                <a:srgbClr val="333333"/>
              </a:solidFill>
              <a:prstDash val="solid"/>
              <a:miter/>
            </a:ln>
          </p:spPr>
        </p:sp>
        <p:sp>
          <p:nvSpPr>
            <p:cNvPr name="TextBox 125" id="125"/>
            <p:cNvSpPr txBox="true"/>
            <p:nvPr/>
          </p:nvSpPr>
          <p:spPr>
            <a:xfrm>
              <a:off x="0" y="-38100"/>
              <a:ext cx="8890000" cy="80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AutoShape 126" id="126"/>
          <p:cNvSpPr/>
          <p:nvPr/>
        </p:nvSpPr>
        <p:spPr>
          <a:xfrm>
            <a:off x="9791700" y="2552700"/>
            <a:ext cx="209550" cy="0"/>
          </a:xfrm>
          <a:prstGeom prst="line">
            <a:avLst/>
          </a:prstGeom>
          <a:ln cap="flat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27" id="127"/>
          <p:cNvSpPr/>
          <p:nvPr/>
        </p:nvSpPr>
        <p:spPr>
          <a:xfrm>
            <a:off x="9791700" y="2552700"/>
            <a:ext cx="0" cy="209550"/>
          </a:xfrm>
          <a:prstGeom prst="line">
            <a:avLst/>
          </a:prstGeom>
          <a:ln cap="flat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28" id="128"/>
          <p:cNvSpPr txBox="true"/>
          <p:nvPr/>
        </p:nvSpPr>
        <p:spPr>
          <a:xfrm rot="0">
            <a:off x="1143000" y="5791200"/>
            <a:ext cx="2857500" cy="173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spc="367" b="true">
                <a:solidFill>
                  <a:srgbClr val="B5121B"/>
                </a:solidFill>
                <a:latin typeface="Inter 2 Bold"/>
                <a:ea typeface="Inter 2 Bold"/>
                <a:cs typeface="Inter 2 Bold"/>
                <a:sym typeface="Inter 2 Bold"/>
              </a:rPr>
              <a:t>CHALLENGE</a:t>
            </a:r>
          </a:p>
        </p:txBody>
      </p:sp>
      <p:sp>
        <p:nvSpPr>
          <p:cNvPr name="TextBox 129" id="129"/>
          <p:cNvSpPr txBox="true"/>
          <p:nvPr/>
        </p:nvSpPr>
        <p:spPr>
          <a:xfrm rot="0">
            <a:off x="1143000" y="6134100"/>
            <a:ext cx="7429500" cy="419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50"/>
              </a:lnSpc>
            </a:pPr>
            <a:r>
              <a:rPr lang="en-US" sz="3000" b="true">
                <a:solidFill>
                  <a:srgbClr val="FFFFFF"/>
                </a:solidFill>
                <a:latin typeface="Oswald Bold"/>
                <a:ea typeface="Oswald Bold"/>
                <a:cs typeface="Oswald Bold"/>
                <a:sym typeface="Oswald Bold"/>
              </a:rPr>
              <a:t>Uneven substrate.</a:t>
            </a:r>
          </a:p>
        </p:txBody>
      </p:sp>
      <p:sp>
        <p:nvSpPr>
          <p:cNvPr name="TextBox 130" id="130"/>
          <p:cNvSpPr txBox="true"/>
          <p:nvPr/>
        </p:nvSpPr>
        <p:spPr>
          <a:xfrm rot="0">
            <a:off x="1143000" y="6667500"/>
            <a:ext cx="7429500" cy="4767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76"/>
              </a:lnSpc>
            </a:pPr>
            <a:r>
              <a:rPr lang="en-US" sz="1275">
                <a:solidFill>
                  <a:srgbClr val="C0C0C0"/>
                </a:solidFill>
                <a:latin typeface="Inter 2"/>
                <a:ea typeface="Inter 2"/>
                <a:cs typeface="Inter 2"/>
                <a:sym typeface="Inter 2"/>
              </a:rPr>
              <a:t>Original ribbed skin creates a discontinuous mounting surface — full-perimeter lining plate must span factory undulations without oil-canning or losing weld access to the corner posts.</a:t>
            </a:r>
          </a:p>
        </p:txBody>
      </p:sp>
      <p:sp>
        <p:nvSpPr>
          <p:cNvPr name="TextBox 131" id="131"/>
          <p:cNvSpPr txBox="true"/>
          <p:nvPr/>
        </p:nvSpPr>
        <p:spPr>
          <a:xfrm rot="0">
            <a:off x="9715500" y="5791200"/>
            <a:ext cx="3810000" cy="173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spc="367" b="true">
                <a:solidFill>
                  <a:srgbClr val="FFFFFF"/>
                </a:solidFill>
                <a:latin typeface="Inter 2 Bold"/>
                <a:ea typeface="Inter 2 Bold"/>
                <a:cs typeface="Inter 2 Bold"/>
                <a:sym typeface="Inter 2 Bold"/>
              </a:rPr>
              <a:t>METAL WORX SOLUTION</a:t>
            </a:r>
          </a:p>
        </p:txBody>
      </p:sp>
      <p:sp>
        <p:nvSpPr>
          <p:cNvPr name="TextBox 132" id="132"/>
          <p:cNvSpPr txBox="true"/>
          <p:nvPr/>
        </p:nvSpPr>
        <p:spPr>
          <a:xfrm rot="0">
            <a:off x="9715500" y="6134100"/>
            <a:ext cx="7429500" cy="419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50"/>
              </a:lnSpc>
            </a:pPr>
            <a:r>
              <a:rPr lang="en-US" sz="3000" b="true">
                <a:solidFill>
                  <a:srgbClr val="FFFFFF"/>
                </a:solidFill>
                <a:latin typeface="Oswald Bold"/>
                <a:ea typeface="Oswald Bold"/>
                <a:cs typeface="Oswald Bold"/>
                <a:sym typeface="Oswald Bold"/>
              </a:rPr>
              <a:t>Furring, plate, seam-weld.</a:t>
            </a:r>
          </a:p>
        </p:txBody>
      </p:sp>
      <p:sp>
        <p:nvSpPr>
          <p:cNvPr name="TextBox 133" id="133"/>
          <p:cNvSpPr txBox="true"/>
          <p:nvPr/>
        </p:nvSpPr>
        <p:spPr>
          <a:xfrm rot="0">
            <a:off x="9715500" y="6667500"/>
            <a:ext cx="7429500" cy="4767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76"/>
              </a:lnSpc>
            </a:pPr>
            <a:r>
              <a:rPr lang="en-US" sz="1275">
                <a:solidFill>
                  <a:srgbClr val="FFFFFF"/>
                </a:solidFill>
                <a:latin typeface="Inter 2"/>
                <a:ea typeface="Inter 2"/>
                <a:cs typeface="Inter 2"/>
                <a:sym typeface="Inter 2"/>
              </a:rPr>
              <a:t>Fabricated furring strips index off the wall supports to build a true plane. 14-ga plate is fitted, stitch-welded, then continuous-seamed and ground flush — a monolithic interior ready for coating.</a:t>
            </a:r>
          </a:p>
        </p:txBody>
      </p:sp>
      <p:sp>
        <p:nvSpPr>
          <p:cNvPr name="TextBox 134" id="134"/>
          <p:cNvSpPr txBox="true"/>
          <p:nvPr/>
        </p:nvSpPr>
        <p:spPr>
          <a:xfrm rot="0">
            <a:off x="9715500" y="8315325"/>
            <a:ext cx="7429500" cy="150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55"/>
              </a:lnSpc>
            </a:pPr>
            <a:r>
              <a:rPr lang="en-US" sz="825" spc="330" b="true">
                <a:solidFill>
                  <a:srgbClr val="FFFFFF"/>
                </a:solidFill>
                <a:latin typeface="Inter 2 Bold"/>
                <a:ea typeface="Inter 2 Bold"/>
                <a:cs typeface="Inter 2 Bold"/>
                <a:sym typeface="Inter 2 Bold"/>
              </a:rPr>
              <a:t>CRAFTSMANSHIP CALLOUT  ·  Continuous seam · zero oil-can · coating-ready</a:t>
            </a:r>
          </a:p>
        </p:txBody>
      </p:sp>
      <p:sp>
        <p:nvSpPr>
          <p:cNvPr name="AutoShape 135" id="135"/>
          <p:cNvSpPr/>
          <p:nvPr/>
        </p:nvSpPr>
        <p:spPr>
          <a:xfrm>
            <a:off x="9715500" y="8191500"/>
            <a:ext cx="7429500" cy="0"/>
          </a:xfrm>
          <a:prstGeom prst="line">
            <a:avLst/>
          </a:prstGeom>
          <a:ln cap="flat" w="95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36" id="136"/>
          <p:cNvSpPr/>
          <p:nvPr/>
        </p:nvSpPr>
        <p:spPr>
          <a:xfrm>
            <a:off x="762000" y="9677400"/>
            <a:ext cx="16764000" cy="0"/>
          </a:xfrm>
          <a:prstGeom prst="line">
            <a:avLst/>
          </a:prstGeom>
          <a:ln cap="flat" w="9525">
            <a:solidFill>
              <a:srgbClr val="DDDDDD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37" id="137"/>
          <p:cNvSpPr txBox="true"/>
          <p:nvPr/>
        </p:nvSpPr>
        <p:spPr>
          <a:xfrm rot="0">
            <a:off x="762000" y="9810750"/>
            <a:ext cx="381000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405" b="true">
                <a:solidFill>
                  <a:srgbClr val="555555"/>
                </a:solidFill>
                <a:latin typeface="Oswald Bold"/>
                <a:ea typeface="Oswald Bold"/>
                <a:cs typeface="Oswald Bold"/>
                <a:sym typeface="Oswald Bold"/>
              </a:rPr>
              <a:t>METAL WORX, INC.</a:t>
            </a:r>
          </a:p>
        </p:txBody>
      </p:sp>
      <p:sp>
        <p:nvSpPr>
          <p:cNvPr name="TextBox 138" id="138"/>
          <p:cNvSpPr txBox="true"/>
          <p:nvPr/>
        </p:nvSpPr>
        <p:spPr>
          <a:xfrm rot="0">
            <a:off x="4762500" y="9829800"/>
            <a:ext cx="7620000" cy="148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60"/>
              </a:lnSpc>
            </a:pPr>
            <a:r>
              <a:rPr lang="en-US" sz="900" spc="359">
                <a:solidFill>
                  <a:srgbClr val="555555"/>
                </a:solidFill>
                <a:latin typeface="Inter 2"/>
                <a:ea typeface="Inter 2"/>
                <a:cs typeface="Inter 2"/>
                <a:sym typeface="Inter 2"/>
              </a:rPr>
              <a:t>PHASE 4 — INTERIOR STEEL LINING</a:t>
            </a:r>
          </a:p>
        </p:txBody>
      </p:sp>
      <p:sp>
        <p:nvSpPr>
          <p:cNvPr name="TextBox 139" id="139"/>
          <p:cNvSpPr txBox="true"/>
          <p:nvPr/>
        </p:nvSpPr>
        <p:spPr>
          <a:xfrm rot="0">
            <a:off x="15811500" y="9829800"/>
            <a:ext cx="1714500" cy="148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260"/>
              </a:lnSpc>
            </a:pPr>
            <a:r>
              <a:rPr lang="en-US" sz="900" spc="359">
                <a:solidFill>
                  <a:srgbClr val="555555"/>
                </a:solidFill>
                <a:latin typeface="Inter 2"/>
                <a:ea typeface="Inter 2"/>
                <a:cs typeface="Inter 2"/>
                <a:sym typeface="Inter 2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" id="3"/>
          <p:cNvSpPr/>
          <p:nvPr/>
        </p:nvSpPr>
        <p:spPr>
          <a:xfrm>
            <a:off x="762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" id="4"/>
          <p:cNvSpPr/>
          <p:nvPr/>
        </p:nvSpPr>
        <p:spPr>
          <a:xfrm>
            <a:off x="1524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" id="5"/>
          <p:cNvSpPr/>
          <p:nvPr/>
        </p:nvSpPr>
        <p:spPr>
          <a:xfrm>
            <a:off x="2286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" id="6"/>
          <p:cNvSpPr/>
          <p:nvPr/>
        </p:nvSpPr>
        <p:spPr>
          <a:xfrm>
            <a:off x="3048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" id="7"/>
          <p:cNvSpPr/>
          <p:nvPr/>
        </p:nvSpPr>
        <p:spPr>
          <a:xfrm>
            <a:off x="3810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" id="8"/>
          <p:cNvSpPr/>
          <p:nvPr/>
        </p:nvSpPr>
        <p:spPr>
          <a:xfrm>
            <a:off x="4572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" id="9"/>
          <p:cNvSpPr/>
          <p:nvPr/>
        </p:nvSpPr>
        <p:spPr>
          <a:xfrm>
            <a:off x="5334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" id="10"/>
          <p:cNvSpPr/>
          <p:nvPr/>
        </p:nvSpPr>
        <p:spPr>
          <a:xfrm>
            <a:off x="6096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1" id="11"/>
          <p:cNvSpPr/>
          <p:nvPr/>
        </p:nvSpPr>
        <p:spPr>
          <a:xfrm>
            <a:off x="6858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2" id="12"/>
          <p:cNvSpPr/>
          <p:nvPr/>
        </p:nvSpPr>
        <p:spPr>
          <a:xfrm>
            <a:off x="7620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3" id="13"/>
          <p:cNvSpPr/>
          <p:nvPr/>
        </p:nvSpPr>
        <p:spPr>
          <a:xfrm>
            <a:off x="8382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4" id="14"/>
          <p:cNvSpPr/>
          <p:nvPr/>
        </p:nvSpPr>
        <p:spPr>
          <a:xfrm>
            <a:off x="9144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5" id="15"/>
          <p:cNvSpPr/>
          <p:nvPr/>
        </p:nvSpPr>
        <p:spPr>
          <a:xfrm>
            <a:off x="9906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6" id="16"/>
          <p:cNvSpPr/>
          <p:nvPr/>
        </p:nvSpPr>
        <p:spPr>
          <a:xfrm>
            <a:off x="10668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7" id="17"/>
          <p:cNvSpPr/>
          <p:nvPr/>
        </p:nvSpPr>
        <p:spPr>
          <a:xfrm>
            <a:off x="11430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8" id="18"/>
          <p:cNvSpPr/>
          <p:nvPr/>
        </p:nvSpPr>
        <p:spPr>
          <a:xfrm>
            <a:off x="12192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9" id="19"/>
          <p:cNvSpPr/>
          <p:nvPr/>
        </p:nvSpPr>
        <p:spPr>
          <a:xfrm>
            <a:off x="12954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0" id="20"/>
          <p:cNvSpPr/>
          <p:nvPr/>
        </p:nvSpPr>
        <p:spPr>
          <a:xfrm>
            <a:off x="13716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1" id="21"/>
          <p:cNvSpPr/>
          <p:nvPr/>
        </p:nvSpPr>
        <p:spPr>
          <a:xfrm>
            <a:off x="14478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2" id="22"/>
          <p:cNvSpPr/>
          <p:nvPr/>
        </p:nvSpPr>
        <p:spPr>
          <a:xfrm>
            <a:off x="15240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3" id="23"/>
          <p:cNvSpPr/>
          <p:nvPr/>
        </p:nvSpPr>
        <p:spPr>
          <a:xfrm>
            <a:off x="16002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4" id="24"/>
          <p:cNvSpPr/>
          <p:nvPr/>
        </p:nvSpPr>
        <p:spPr>
          <a:xfrm>
            <a:off x="16764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5" id="25"/>
          <p:cNvSpPr/>
          <p:nvPr/>
        </p:nvSpPr>
        <p:spPr>
          <a:xfrm>
            <a:off x="17526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6" id="26"/>
          <p:cNvSpPr/>
          <p:nvPr/>
        </p:nvSpPr>
        <p:spPr>
          <a:xfrm>
            <a:off x="18288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7" id="27"/>
          <p:cNvSpPr/>
          <p:nvPr/>
        </p:nvSpPr>
        <p:spPr>
          <a:xfrm>
            <a:off x="0" y="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8" id="28"/>
          <p:cNvSpPr/>
          <p:nvPr/>
        </p:nvSpPr>
        <p:spPr>
          <a:xfrm>
            <a:off x="0" y="76200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9" id="29"/>
          <p:cNvSpPr/>
          <p:nvPr/>
        </p:nvSpPr>
        <p:spPr>
          <a:xfrm>
            <a:off x="0" y="152400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0" id="30"/>
          <p:cNvSpPr/>
          <p:nvPr/>
        </p:nvSpPr>
        <p:spPr>
          <a:xfrm>
            <a:off x="0" y="228600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1" id="31"/>
          <p:cNvSpPr/>
          <p:nvPr/>
        </p:nvSpPr>
        <p:spPr>
          <a:xfrm>
            <a:off x="0" y="304800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2" id="32"/>
          <p:cNvSpPr/>
          <p:nvPr/>
        </p:nvSpPr>
        <p:spPr>
          <a:xfrm>
            <a:off x="0" y="381000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3" id="33"/>
          <p:cNvSpPr/>
          <p:nvPr/>
        </p:nvSpPr>
        <p:spPr>
          <a:xfrm>
            <a:off x="0" y="457200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4" id="34"/>
          <p:cNvSpPr/>
          <p:nvPr/>
        </p:nvSpPr>
        <p:spPr>
          <a:xfrm>
            <a:off x="0" y="533400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5" id="35"/>
          <p:cNvSpPr/>
          <p:nvPr/>
        </p:nvSpPr>
        <p:spPr>
          <a:xfrm>
            <a:off x="0" y="609600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6" id="36"/>
          <p:cNvSpPr/>
          <p:nvPr/>
        </p:nvSpPr>
        <p:spPr>
          <a:xfrm>
            <a:off x="0" y="685800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7" id="37"/>
          <p:cNvSpPr/>
          <p:nvPr/>
        </p:nvSpPr>
        <p:spPr>
          <a:xfrm>
            <a:off x="0" y="762000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8" id="38"/>
          <p:cNvSpPr/>
          <p:nvPr/>
        </p:nvSpPr>
        <p:spPr>
          <a:xfrm>
            <a:off x="0" y="838200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9" id="39"/>
          <p:cNvSpPr/>
          <p:nvPr/>
        </p:nvSpPr>
        <p:spPr>
          <a:xfrm>
            <a:off x="0" y="914400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0" id="40"/>
          <p:cNvSpPr/>
          <p:nvPr/>
        </p:nvSpPr>
        <p:spPr>
          <a:xfrm>
            <a:off x="0" y="990600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41" id="41"/>
          <p:cNvSpPr txBox="true"/>
          <p:nvPr/>
        </p:nvSpPr>
        <p:spPr>
          <a:xfrm rot="0">
            <a:off x="762000" y="733425"/>
            <a:ext cx="8572500" cy="2076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200" spc="420" b="true">
                <a:solidFill>
                  <a:srgbClr val="B5121B"/>
                </a:solidFill>
                <a:latin typeface="Inter 2 Bold"/>
                <a:ea typeface="Inter 2 Bold"/>
                <a:cs typeface="Inter 2 Bold"/>
                <a:sym typeface="Inter 2 Bold"/>
              </a:rPr>
              <a:t>TECHNICAL  ·  FABRICATION DETAILS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762000" y="1152525"/>
            <a:ext cx="14287500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00"/>
              </a:lnSpc>
            </a:pPr>
            <a:r>
              <a:rPr lang="en-US" sz="4500" spc="-44" b="true">
                <a:solidFill>
                  <a:srgbClr val="FFFFFF"/>
                </a:solidFill>
                <a:latin typeface="Oswald Bold"/>
                <a:ea typeface="Oswald Bold"/>
                <a:cs typeface="Oswald Bold"/>
                <a:sym typeface="Oswald Bold"/>
              </a:rPr>
              <a:t>Where the welds do the talking.</a:t>
            </a:r>
          </a:p>
        </p:txBody>
      </p:sp>
      <p:grpSp>
        <p:nvGrpSpPr>
          <p:cNvPr name="Group 43" id="43"/>
          <p:cNvGrpSpPr/>
          <p:nvPr/>
        </p:nvGrpSpPr>
        <p:grpSpPr>
          <a:xfrm rot="0">
            <a:off x="762000" y="2667000"/>
            <a:ext cx="10668000" cy="5905500"/>
            <a:chOff x="0" y="0"/>
            <a:chExt cx="14224000" cy="787400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14224000" cy="7874000"/>
            </a:xfrm>
            <a:custGeom>
              <a:avLst/>
              <a:gdLst/>
              <a:ahLst/>
              <a:cxnLst/>
              <a:rect r="r" b="b" t="t" l="l"/>
              <a:pathLst>
                <a:path h="7874000" w="14224000">
                  <a:moveTo>
                    <a:pt x="0" y="0"/>
                  </a:moveTo>
                  <a:lnTo>
                    <a:pt x="14224000" y="0"/>
                  </a:lnTo>
                  <a:lnTo>
                    <a:pt x="14224000" y="7874000"/>
                  </a:lnTo>
                  <a:lnTo>
                    <a:pt x="0" y="7874000"/>
                  </a:lnTo>
                  <a:close/>
                </a:path>
              </a:pathLst>
            </a:custGeom>
            <a:solidFill>
              <a:srgbClr val="0D0D0D"/>
            </a:solidFill>
            <a:ln cap="sq">
              <a:noFill/>
              <a:prstDash val="solid"/>
              <a:miter/>
            </a:ln>
          </p:spPr>
        </p:sp>
        <p:sp>
          <p:nvSpPr>
            <p:cNvPr name="TextBox 45" id="45"/>
            <p:cNvSpPr txBox="true"/>
            <p:nvPr/>
          </p:nvSpPr>
          <p:spPr>
            <a:xfrm>
              <a:off x="0" y="-38100"/>
              <a:ext cx="14224000" cy="791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AutoShape 46" id="46"/>
          <p:cNvSpPr/>
          <p:nvPr/>
        </p:nvSpPr>
        <p:spPr>
          <a:xfrm>
            <a:off x="762000" y="2667000"/>
            <a:ext cx="0" cy="5905500"/>
          </a:xfrm>
          <a:prstGeom prst="line">
            <a:avLst/>
          </a:prstGeom>
          <a:ln cap="flat" w="9525">
            <a:solidFill>
              <a:srgbClr val="555555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7" id="47"/>
          <p:cNvSpPr/>
          <p:nvPr/>
        </p:nvSpPr>
        <p:spPr>
          <a:xfrm>
            <a:off x="1524000" y="2667000"/>
            <a:ext cx="0" cy="5905500"/>
          </a:xfrm>
          <a:prstGeom prst="line">
            <a:avLst/>
          </a:prstGeom>
          <a:ln cap="flat" w="9525">
            <a:solidFill>
              <a:srgbClr val="555555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8" id="48"/>
          <p:cNvSpPr/>
          <p:nvPr/>
        </p:nvSpPr>
        <p:spPr>
          <a:xfrm>
            <a:off x="2286000" y="2667000"/>
            <a:ext cx="0" cy="5905500"/>
          </a:xfrm>
          <a:prstGeom prst="line">
            <a:avLst/>
          </a:prstGeom>
          <a:ln cap="flat" w="9525">
            <a:solidFill>
              <a:srgbClr val="555555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9" id="49"/>
          <p:cNvSpPr/>
          <p:nvPr/>
        </p:nvSpPr>
        <p:spPr>
          <a:xfrm>
            <a:off x="3048000" y="2667000"/>
            <a:ext cx="0" cy="5905500"/>
          </a:xfrm>
          <a:prstGeom prst="line">
            <a:avLst/>
          </a:prstGeom>
          <a:ln cap="flat" w="9525">
            <a:solidFill>
              <a:srgbClr val="555555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0" id="50"/>
          <p:cNvSpPr/>
          <p:nvPr/>
        </p:nvSpPr>
        <p:spPr>
          <a:xfrm>
            <a:off x="3810000" y="2667000"/>
            <a:ext cx="0" cy="5905500"/>
          </a:xfrm>
          <a:prstGeom prst="line">
            <a:avLst/>
          </a:prstGeom>
          <a:ln cap="flat" w="9525">
            <a:solidFill>
              <a:srgbClr val="555555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1" id="51"/>
          <p:cNvSpPr/>
          <p:nvPr/>
        </p:nvSpPr>
        <p:spPr>
          <a:xfrm>
            <a:off x="4572000" y="2667000"/>
            <a:ext cx="0" cy="5905500"/>
          </a:xfrm>
          <a:prstGeom prst="line">
            <a:avLst/>
          </a:prstGeom>
          <a:ln cap="flat" w="9525">
            <a:solidFill>
              <a:srgbClr val="555555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2" id="52"/>
          <p:cNvSpPr/>
          <p:nvPr/>
        </p:nvSpPr>
        <p:spPr>
          <a:xfrm>
            <a:off x="5334000" y="2667000"/>
            <a:ext cx="0" cy="5905500"/>
          </a:xfrm>
          <a:prstGeom prst="line">
            <a:avLst/>
          </a:prstGeom>
          <a:ln cap="flat" w="9525">
            <a:solidFill>
              <a:srgbClr val="555555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3" id="53"/>
          <p:cNvSpPr/>
          <p:nvPr/>
        </p:nvSpPr>
        <p:spPr>
          <a:xfrm>
            <a:off x="6096000" y="2667000"/>
            <a:ext cx="0" cy="5905500"/>
          </a:xfrm>
          <a:prstGeom prst="line">
            <a:avLst/>
          </a:prstGeom>
          <a:ln cap="flat" w="9525">
            <a:solidFill>
              <a:srgbClr val="555555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4" id="54"/>
          <p:cNvSpPr/>
          <p:nvPr/>
        </p:nvSpPr>
        <p:spPr>
          <a:xfrm>
            <a:off x="6858000" y="2667000"/>
            <a:ext cx="0" cy="5905500"/>
          </a:xfrm>
          <a:prstGeom prst="line">
            <a:avLst/>
          </a:prstGeom>
          <a:ln cap="flat" w="9525">
            <a:solidFill>
              <a:srgbClr val="555555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5" id="55"/>
          <p:cNvSpPr/>
          <p:nvPr/>
        </p:nvSpPr>
        <p:spPr>
          <a:xfrm>
            <a:off x="7620000" y="2667000"/>
            <a:ext cx="0" cy="5905500"/>
          </a:xfrm>
          <a:prstGeom prst="line">
            <a:avLst/>
          </a:prstGeom>
          <a:ln cap="flat" w="9525">
            <a:solidFill>
              <a:srgbClr val="555555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6" id="56"/>
          <p:cNvSpPr/>
          <p:nvPr/>
        </p:nvSpPr>
        <p:spPr>
          <a:xfrm>
            <a:off x="8382000" y="2667000"/>
            <a:ext cx="0" cy="5905500"/>
          </a:xfrm>
          <a:prstGeom prst="line">
            <a:avLst/>
          </a:prstGeom>
          <a:ln cap="flat" w="9525">
            <a:solidFill>
              <a:srgbClr val="555555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7" id="57"/>
          <p:cNvSpPr/>
          <p:nvPr/>
        </p:nvSpPr>
        <p:spPr>
          <a:xfrm>
            <a:off x="9144000" y="2667000"/>
            <a:ext cx="0" cy="5905500"/>
          </a:xfrm>
          <a:prstGeom prst="line">
            <a:avLst/>
          </a:prstGeom>
          <a:ln cap="flat" w="9525">
            <a:solidFill>
              <a:srgbClr val="555555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8" id="58"/>
          <p:cNvSpPr/>
          <p:nvPr/>
        </p:nvSpPr>
        <p:spPr>
          <a:xfrm>
            <a:off x="9906000" y="2667000"/>
            <a:ext cx="0" cy="5905500"/>
          </a:xfrm>
          <a:prstGeom prst="line">
            <a:avLst/>
          </a:prstGeom>
          <a:ln cap="flat" w="9525">
            <a:solidFill>
              <a:srgbClr val="555555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9" id="59"/>
          <p:cNvSpPr/>
          <p:nvPr/>
        </p:nvSpPr>
        <p:spPr>
          <a:xfrm>
            <a:off x="10668000" y="2667000"/>
            <a:ext cx="0" cy="5905500"/>
          </a:xfrm>
          <a:prstGeom prst="line">
            <a:avLst/>
          </a:prstGeom>
          <a:ln cap="flat" w="9525">
            <a:solidFill>
              <a:srgbClr val="555555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0" id="60"/>
          <p:cNvSpPr/>
          <p:nvPr/>
        </p:nvSpPr>
        <p:spPr>
          <a:xfrm>
            <a:off x="11430000" y="2667000"/>
            <a:ext cx="0" cy="5905500"/>
          </a:xfrm>
          <a:prstGeom prst="line">
            <a:avLst/>
          </a:prstGeom>
          <a:ln cap="flat" w="9525">
            <a:solidFill>
              <a:srgbClr val="555555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1" id="61"/>
          <p:cNvSpPr/>
          <p:nvPr/>
        </p:nvSpPr>
        <p:spPr>
          <a:xfrm>
            <a:off x="762000" y="2667000"/>
            <a:ext cx="10668000" cy="0"/>
          </a:xfrm>
          <a:prstGeom prst="line">
            <a:avLst/>
          </a:prstGeom>
          <a:ln cap="flat" w="9525">
            <a:solidFill>
              <a:srgbClr val="555555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2" id="62"/>
          <p:cNvSpPr/>
          <p:nvPr/>
        </p:nvSpPr>
        <p:spPr>
          <a:xfrm>
            <a:off x="762000" y="3429000"/>
            <a:ext cx="10668000" cy="0"/>
          </a:xfrm>
          <a:prstGeom prst="line">
            <a:avLst/>
          </a:prstGeom>
          <a:ln cap="flat" w="9525">
            <a:solidFill>
              <a:srgbClr val="555555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3" id="63"/>
          <p:cNvSpPr/>
          <p:nvPr/>
        </p:nvSpPr>
        <p:spPr>
          <a:xfrm>
            <a:off x="762000" y="4191000"/>
            <a:ext cx="10668000" cy="0"/>
          </a:xfrm>
          <a:prstGeom prst="line">
            <a:avLst/>
          </a:prstGeom>
          <a:ln cap="flat" w="9525">
            <a:solidFill>
              <a:srgbClr val="555555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4" id="64"/>
          <p:cNvSpPr/>
          <p:nvPr/>
        </p:nvSpPr>
        <p:spPr>
          <a:xfrm>
            <a:off x="762000" y="4953000"/>
            <a:ext cx="10668000" cy="0"/>
          </a:xfrm>
          <a:prstGeom prst="line">
            <a:avLst/>
          </a:prstGeom>
          <a:ln cap="flat" w="9525">
            <a:solidFill>
              <a:srgbClr val="555555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5" id="65"/>
          <p:cNvSpPr/>
          <p:nvPr/>
        </p:nvSpPr>
        <p:spPr>
          <a:xfrm>
            <a:off x="762000" y="5715000"/>
            <a:ext cx="10668000" cy="0"/>
          </a:xfrm>
          <a:prstGeom prst="line">
            <a:avLst/>
          </a:prstGeom>
          <a:ln cap="flat" w="9525">
            <a:solidFill>
              <a:srgbClr val="555555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6" id="66"/>
          <p:cNvSpPr/>
          <p:nvPr/>
        </p:nvSpPr>
        <p:spPr>
          <a:xfrm>
            <a:off x="762000" y="6477000"/>
            <a:ext cx="10668000" cy="0"/>
          </a:xfrm>
          <a:prstGeom prst="line">
            <a:avLst/>
          </a:prstGeom>
          <a:ln cap="flat" w="9525">
            <a:solidFill>
              <a:srgbClr val="555555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7" id="67"/>
          <p:cNvSpPr/>
          <p:nvPr/>
        </p:nvSpPr>
        <p:spPr>
          <a:xfrm>
            <a:off x="762000" y="7239000"/>
            <a:ext cx="10668000" cy="0"/>
          </a:xfrm>
          <a:prstGeom prst="line">
            <a:avLst/>
          </a:prstGeom>
          <a:ln cap="flat" w="9525">
            <a:solidFill>
              <a:srgbClr val="555555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8" id="68"/>
          <p:cNvSpPr/>
          <p:nvPr/>
        </p:nvSpPr>
        <p:spPr>
          <a:xfrm>
            <a:off x="762000" y="8001000"/>
            <a:ext cx="10668000" cy="0"/>
          </a:xfrm>
          <a:prstGeom prst="line">
            <a:avLst/>
          </a:prstGeom>
          <a:ln cap="flat" w="9525">
            <a:solidFill>
              <a:srgbClr val="555555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69" id="69"/>
          <p:cNvGrpSpPr/>
          <p:nvPr/>
        </p:nvGrpSpPr>
        <p:grpSpPr>
          <a:xfrm rot="0">
            <a:off x="3429000" y="4381500"/>
            <a:ext cx="5334000" cy="571500"/>
            <a:chOff x="0" y="0"/>
            <a:chExt cx="7112000" cy="762000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7112000" cy="762000"/>
            </a:xfrm>
            <a:custGeom>
              <a:avLst/>
              <a:gdLst/>
              <a:ahLst/>
              <a:cxnLst/>
              <a:rect r="r" b="b" t="t" l="l"/>
              <a:pathLst>
                <a:path h="762000" w="7112000">
                  <a:moveTo>
                    <a:pt x="0" y="0"/>
                  </a:moveTo>
                  <a:lnTo>
                    <a:pt x="7112000" y="0"/>
                  </a:lnTo>
                  <a:lnTo>
                    <a:pt x="7112000" y="762000"/>
                  </a:lnTo>
                  <a:lnTo>
                    <a:pt x="0" y="762000"/>
                  </a:lnTo>
                  <a:close/>
                </a:path>
              </a:pathLst>
            </a:custGeom>
            <a:solidFill>
              <a:srgbClr val="3A3A3A"/>
            </a:solidFill>
            <a:ln w="19050" cap="sq">
              <a:solidFill>
                <a:srgbClr val="555555"/>
              </a:solidFill>
              <a:prstDash val="solid"/>
              <a:miter/>
            </a:ln>
          </p:spPr>
        </p:sp>
        <p:sp>
          <p:nvSpPr>
            <p:cNvPr name="TextBox 71" id="71"/>
            <p:cNvSpPr txBox="true"/>
            <p:nvPr/>
          </p:nvSpPr>
          <p:spPr>
            <a:xfrm>
              <a:off x="0" y="-38100"/>
              <a:ext cx="7112000" cy="80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72" id="72"/>
          <p:cNvGrpSpPr/>
          <p:nvPr/>
        </p:nvGrpSpPr>
        <p:grpSpPr>
          <a:xfrm rot="0">
            <a:off x="5715000" y="4953000"/>
            <a:ext cx="571500" cy="2476500"/>
            <a:chOff x="0" y="0"/>
            <a:chExt cx="762000" cy="3302000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762000" cy="3302000"/>
            </a:xfrm>
            <a:custGeom>
              <a:avLst/>
              <a:gdLst/>
              <a:ahLst/>
              <a:cxnLst/>
              <a:rect r="r" b="b" t="t" l="l"/>
              <a:pathLst>
                <a:path h="3302000" w="762000">
                  <a:moveTo>
                    <a:pt x="0" y="0"/>
                  </a:moveTo>
                  <a:lnTo>
                    <a:pt x="762000" y="0"/>
                  </a:lnTo>
                  <a:lnTo>
                    <a:pt x="762000" y="3302000"/>
                  </a:lnTo>
                  <a:lnTo>
                    <a:pt x="0" y="3302000"/>
                  </a:lnTo>
                  <a:close/>
                </a:path>
              </a:pathLst>
            </a:custGeom>
            <a:solidFill>
              <a:srgbClr val="3A3A3A"/>
            </a:solidFill>
            <a:ln w="19050" cap="sq">
              <a:solidFill>
                <a:srgbClr val="555555"/>
              </a:solidFill>
              <a:prstDash val="solid"/>
              <a:miter/>
            </a:ln>
          </p:spPr>
        </p:sp>
        <p:sp>
          <p:nvSpPr>
            <p:cNvPr name="TextBox 74" id="74"/>
            <p:cNvSpPr txBox="true"/>
            <p:nvPr/>
          </p:nvSpPr>
          <p:spPr>
            <a:xfrm>
              <a:off x="0" y="-38100"/>
              <a:ext cx="762000" cy="334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75" id="75"/>
          <p:cNvGrpSpPr/>
          <p:nvPr/>
        </p:nvGrpSpPr>
        <p:grpSpPr>
          <a:xfrm rot="0">
            <a:off x="5143500" y="4762500"/>
            <a:ext cx="1714500" cy="571500"/>
            <a:chOff x="0" y="0"/>
            <a:chExt cx="2286000" cy="762000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2286000" cy="762000"/>
            </a:xfrm>
            <a:custGeom>
              <a:avLst/>
              <a:gdLst/>
              <a:ahLst/>
              <a:cxnLst/>
              <a:rect r="r" b="b" t="t" l="l"/>
              <a:pathLst>
                <a:path h="762000" w="2286000">
                  <a:moveTo>
                    <a:pt x="0" y="762000"/>
                  </a:moveTo>
                  <a:lnTo>
                    <a:pt x="1143000" y="0"/>
                  </a:lnTo>
                  <a:lnTo>
                    <a:pt x="2286000" y="762000"/>
                  </a:lnTo>
                  <a:close/>
                </a:path>
              </a:pathLst>
            </a:custGeom>
            <a:solidFill>
              <a:srgbClr val="4A4A4A"/>
            </a:solidFill>
            <a:ln cap="sq">
              <a:noFill/>
              <a:prstDash val="solid"/>
              <a:miter/>
            </a:ln>
          </p:spPr>
        </p:sp>
        <p:sp>
          <p:nvSpPr>
            <p:cNvPr name="TextBox 77" id="77"/>
            <p:cNvSpPr txBox="true"/>
            <p:nvPr/>
          </p:nvSpPr>
          <p:spPr>
            <a:xfrm>
              <a:off x="0" y="-38100"/>
              <a:ext cx="2286000" cy="80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78" id="78"/>
          <p:cNvGrpSpPr/>
          <p:nvPr/>
        </p:nvGrpSpPr>
        <p:grpSpPr>
          <a:xfrm rot="0">
            <a:off x="5143500" y="4905375"/>
            <a:ext cx="1714500" cy="38100"/>
            <a:chOff x="0" y="0"/>
            <a:chExt cx="2286000" cy="50800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2286000" cy="50800"/>
            </a:xfrm>
            <a:custGeom>
              <a:avLst/>
              <a:gdLst/>
              <a:ahLst/>
              <a:cxnLst/>
              <a:rect r="r" b="b" t="t" l="l"/>
              <a:pathLst>
                <a:path h="50800" w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FFB347"/>
            </a:solidFill>
            <a:ln cap="sq">
              <a:noFill/>
              <a:prstDash val="solid"/>
              <a:miter/>
            </a:ln>
          </p:spPr>
        </p:sp>
        <p:sp>
          <p:nvSpPr>
            <p:cNvPr name="TextBox 80" id="80"/>
            <p:cNvSpPr txBox="true"/>
            <p:nvPr/>
          </p:nvSpPr>
          <p:spPr>
            <a:xfrm>
              <a:off x="0" y="-38100"/>
              <a:ext cx="2286000" cy="88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AutoShape 81" id="81"/>
          <p:cNvSpPr/>
          <p:nvPr/>
        </p:nvSpPr>
        <p:spPr>
          <a:xfrm flipV="true">
            <a:off x="6096000" y="3810000"/>
            <a:ext cx="3048000" cy="1238250"/>
          </a:xfrm>
          <a:prstGeom prst="line">
            <a:avLst/>
          </a:prstGeom>
          <a:ln cap="flat" w="9525">
            <a:solidFill>
              <a:srgbClr val="B5121B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82" id="82"/>
          <p:cNvGrpSpPr/>
          <p:nvPr/>
        </p:nvGrpSpPr>
        <p:grpSpPr>
          <a:xfrm rot="0">
            <a:off x="6057900" y="5010150"/>
            <a:ext cx="76200" cy="76200"/>
            <a:chOff x="0" y="0"/>
            <a:chExt cx="101600" cy="101600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101600" cy="101600"/>
            </a:xfrm>
            <a:custGeom>
              <a:avLst/>
              <a:gdLst/>
              <a:ahLst/>
              <a:cxnLst/>
              <a:rect r="r" b="b" t="t" l="l"/>
              <a:pathLst>
                <a:path h="101600" w="101600">
                  <a:moveTo>
                    <a:pt x="50800" y="0"/>
                  </a:moveTo>
                  <a:cubicBezTo>
                    <a:pt x="78856" y="0"/>
                    <a:pt x="101600" y="22744"/>
                    <a:pt x="101600" y="50800"/>
                  </a:cubicBezTo>
                  <a:cubicBezTo>
                    <a:pt x="101600" y="78856"/>
                    <a:pt x="78856" y="101600"/>
                    <a:pt x="50800" y="101600"/>
                  </a:cubicBezTo>
                  <a:cubicBezTo>
                    <a:pt x="22744" y="101600"/>
                    <a:pt x="0" y="78856"/>
                    <a:pt x="0" y="50800"/>
                  </a:cubicBez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B5121B"/>
            </a:solidFill>
            <a:ln cap="sq">
              <a:noFill/>
              <a:prstDash val="solid"/>
              <a:miter/>
            </a:ln>
          </p:spPr>
        </p:sp>
        <p:sp>
          <p:nvSpPr>
            <p:cNvPr name="TextBox 84" id="84"/>
            <p:cNvSpPr txBox="true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AutoShape 85" id="85"/>
          <p:cNvSpPr/>
          <p:nvPr/>
        </p:nvSpPr>
        <p:spPr>
          <a:xfrm flipH="true">
            <a:off x="3429000" y="6477000"/>
            <a:ext cx="2476500" cy="1143000"/>
          </a:xfrm>
          <a:prstGeom prst="line">
            <a:avLst/>
          </a:prstGeom>
          <a:ln cap="flat" w="9525">
            <a:solidFill>
              <a:srgbClr val="B5121B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86" id="86"/>
          <p:cNvGrpSpPr/>
          <p:nvPr/>
        </p:nvGrpSpPr>
        <p:grpSpPr>
          <a:xfrm rot="0">
            <a:off x="5867400" y="6438900"/>
            <a:ext cx="76200" cy="76200"/>
            <a:chOff x="0" y="0"/>
            <a:chExt cx="101600" cy="101600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101600" cy="101600"/>
            </a:xfrm>
            <a:custGeom>
              <a:avLst/>
              <a:gdLst/>
              <a:ahLst/>
              <a:cxnLst/>
              <a:rect r="r" b="b" t="t" l="l"/>
              <a:pathLst>
                <a:path h="101600" w="101600">
                  <a:moveTo>
                    <a:pt x="50800" y="0"/>
                  </a:moveTo>
                  <a:cubicBezTo>
                    <a:pt x="78856" y="0"/>
                    <a:pt x="101600" y="22744"/>
                    <a:pt x="101600" y="50800"/>
                  </a:cubicBezTo>
                  <a:cubicBezTo>
                    <a:pt x="101600" y="78856"/>
                    <a:pt x="78856" y="101600"/>
                    <a:pt x="50800" y="101600"/>
                  </a:cubicBezTo>
                  <a:cubicBezTo>
                    <a:pt x="22744" y="101600"/>
                    <a:pt x="0" y="78856"/>
                    <a:pt x="0" y="50800"/>
                  </a:cubicBez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B5121B"/>
            </a:solidFill>
            <a:ln cap="sq">
              <a:noFill/>
              <a:prstDash val="solid"/>
              <a:miter/>
            </a:ln>
          </p:spPr>
        </p:sp>
        <p:sp>
          <p:nvSpPr>
            <p:cNvPr name="TextBox 88" id="88"/>
            <p:cNvSpPr txBox="true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AutoShape 89" id="89"/>
          <p:cNvSpPr/>
          <p:nvPr/>
        </p:nvSpPr>
        <p:spPr>
          <a:xfrm>
            <a:off x="838200" y="2743200"/>
            <a:ext cx="209550" cy="0"/>
          </a:xfrm>
          <a:prstGeom prst="line">
            <a:avLst/>
          </a:prstGeom>
          <a:ln cap="flat" w="19050">
            <a:solidFill>
              <a:srgbClr val="B5121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0" id="90"/>
          <p:cNvSpPr/>
          <p:nvPr/>
        </p:nvSpPr>
        <p:spPr>
          <a:xfrm>
            <a:off x="838200" y="2743200"/>
            <a:ext cx="0" cy="209550"/>
          </a:xfrm>
          <a:prstGeom prst="line">
            <a:avLst/>
          </a:prstGeom>
          <a:ln cap="flat" w="19050">
            <a:solidFill>
              <a:srgbClr val="B5121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91" id="91"/>
          <p:cNvSpPr txBox="true"/>
          <p:nvPr/>
        </p:nvSpPr>
        <p:spPr>
          <a:xfrm rot="0">
            <a:off x="9144000" y="3524250"/>
            <a:ext cx="285750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00"/>
              </a:lnSpc>
            </a:pPr>
            <a:r>
              <a:rPr lang="en-US" sz="1500" b="true">
                <a:solidFill>
                  <a:srgbClr val="B5121B"/>
                </a:solidFill>
                <a:latin typeface="Oswald Bold"/>
                <a:ea typeface="Oswald Bold"/>
                <a:cs typeface="Oswald Bold"/>
                <a:sym typeface="Oswald Bold"/>
              </a:rPr>
              <a:t>A</a:t>
            </a:r>
          </a:p>
        </p:txBody>
      </p:sp>
      <p:sp>
        <p:nvSpPr>
          <p:cNvPr name="TextBox 92" id="92"/>
          <p:cNvSpPr txBox="true"/>
          <p:nvPr/>
        </p:nvSpPr>
        <p:spPr>
          <a:xfrm rot="0">
            <a:off x="9429750" y="3571875"/>
            <a:ext cx="2286000" cy="1495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7"/>
              </a:lnSpc>
            </a:pPr>
            <a:r>
              <a:rPr lang="en-US" sz="975">
                <a:solidFill>
                  <a:srgbClr val="FFFFFF"/>
                </a:solidFill>
                <a:latin typeface="Inter 2"/>
                <a:ea typeface="Inter 2"/>
                <a:cs typeface="Inter 2"/>
                <a:sym typeface="Inter 2"/>
              </a:rPr>
              <a:t>Fillet weld — 1/4" leg, all-around</a:t>
            </a:r>
          </a:p>
        </p:txBody>
      </p:sp>
      <p:sp>
        <p:nvSpPr>
          <p:cNvPr name="TextBox 93" id="93"/>
          <p:cNvSpPr txBox="true"/>
          <p:nvPr/>
        </p:nvSpPr>
        <p:spPr>
          <a:xfrm rot="0">
            <a:off x="3048000" y="7505700"/>
            <a:ext cx="285750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00"/>
              </a:lnSpc>
            </a:pPr>
            <a:r>
              <a:rPr lang="en-US" sz="1500" b="true">
                <a:solidFill>
                  <a:srgbClr val="B5121B"/>
                </a:solidFill>
                <a:latin typeface="Oswald Bold"/>
                <a:ea typeface="Oswald Bold"/>
                <a:cs typeface="Oswald Bold"/>
                <a:sym typeface="Oswald Bold"/>
              </a:rPr>
              <a:t>B</a:t>
            </a:r>
          </a:p>
        </p:txBody>
      </p:sp>
      <p:sp>
        <p:nvSpPr>
          <p:cNvPr name="TextBox 94" id="94"/>
          <p:cNvSpPr txBox="true"/>
          <p:nvPr/>
        </p:nvSpPr>
        <p:spPr>
          <a:xfrm rot="0">
            <a:off x="1047750" y="7553325"/>
            <a:ext cx="2286000" cy="1495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267"/>
              </a:lnSpc>
            </a:pPr>
            <a:r>
              <a:rPr lang="en-US" sz="975">
                <a:solidFill>
                  <a:srgbClr val="FFFFFF"/>
                </a:solidFill>
                <a:latin typeface="Inter 2"/>
                <a:ea typeface="Inter 2"/>
                <a:cs typeface="Inter 2"/>
                <a:sym typeface="Inter 2"/>
              </a:rPr>
              <a:t>Bracket — A36, 1/4" plate, laser-cut</a:t>
            </a:r>
          </a:p>
        </p:txBody>
      </p:sp>
      <p:grpSp>
        <p:nvGrpSpPr>
          <p:cNvPr name="Group 95" id="95"/>
          <p:cNvGrpSpPr/>
          <p:nvPr/>
        </p:nvGrpSpPr>
        <p:grpSpPr>
          <a:xfrm rot="0">
            <a:off x="11811000" y="2667000"/>
            <a:ext cx="5715000" cy="2952750"/>
            <a:chOff x="0" y="0"/>
            <a:chExt cx="7620000" cy="3937000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7620000" cy="3937000"/>
            </a:xfrm>
            <a:custGeom>
              <a:avLst/>
              <a:gdLst/>
              <a:ahLst/>
              <a:cxnLst/>
              <a:rect r="r" b="b" t="t" l="l"/>
              <a:pathLst>
                <a:path h="3937000" w="7620000">
                  <a:moveTo>
                    <a:pt x="0" y="0"/>
                  </a:moveTo>
                  <a:lnTo>
                    <a:pt x="7620000" y="0"/>
                  </a:lnTo>
                  <a:lnTo>
                    <a:pt x="7620000" y="3937000"/>
                  </a:lnTo>
                  <a:lnTo>
                    <a:pt x="0" y="3937000"/>
                  </a:lnTo>
                  <a:close/>
                </a:path>
              </a:pathLst>
            </a:custGeom>
            <a:solidFill>
              <a:srgbClr val="0D0D0D"/>
            </a:solidFill>
            <a:ln cap="sq">
              <a:noFill/>
              <a:prstDash val="solid"/>
              <a:miter/>
            </a:ln>
          </p:spPr>
        </p:sp>
        <p:sp>
          <p:nvSpPr>
            <p:cNvPr name="TextBox 97" id="97"/>
            <p:cNvSpPr txBox="true"/>
            <p:nvPr/>
          </p:nvSpPr>
          <p:spPr>
            <a:xfrm>
              <a:off x="0" y="-38100"/>
              <a:ext cx="7620000" cy="397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AutoShape 98" id="98"/>
          <p:cNvSpPr/>
          <p:nvPr/>
        </p:nvSpPr>
        <p:spPr>
          <a:xfrm>
            <a:off x="11811000" y="2667000"/>
            <a:ext cx="0" cy="2952750"/>
          </a:xfrm>
          <a:prstGeom prst="line">
            <a:avLst/>
          </a:prstGeom>
          <a:ln cap="flat" w="9525">
            <a:solidFill>
              <a:srgbClr val="555555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9" id="99"/>
          <p:cNvSpPr/>
          <p:nvPr/>
        </p:nvSpPr>
        <p:spPr>
          <a:xfrm>
            <a:off x="12573000" y="2667000"/>
            <a:ext cx="0" cy="2952750"/>
          </a:xfrm>
          <a:prstGeom prst="line">
            <a:avLst/>
          </a:prstGeom>
          <a:ln cap="flat" w="9525">
            <a:solidFill>
              <a:srgbClr val="555555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0" id="100"/>
          <p:cNvSpPr/>
          <p:nvPr/>
        </p:nvSpPr>
        <p:spPr>
          <a:xfrm>
            <a:off x="13335000" y="2667000"/>
            <a:ext cx="0" cy="2952750"/>
          </a:xfrm>
          <a:prstGeom prst="line">
            <a:avLst/>
          </a:prstGeom>
          <a:ln cap="flat" w="9525">
            <a:solidFill>
              <a:srgbClr val="555555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1" id="101"/>
          <p:cNvSpPr/>
          <p:nvPr/>
        </p:nvSpPr>
        <p:spPr>
          <a:xfrm>
            <a:off x="14097000" y="2667000"/>
            <a:ext cx="0" cy="2952750"/>
          </a:xfrm>
          <a:prstGeom prst="line">
            <a:avLst/>
          </a:prstGeom>
          <a:ln cap="flat" w="9525">
            <a:solidFill>
              <a:srgbClr val="555555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2" id="102"/>
          <p:cNvSpPr/>
          <p:nvPr/>
        </p:nvSpPr>
        <p:spPr>
          <a:xfrm>
            <a:off x="14859000" y="2667000"/>
            <a:ext cx="0" cy="2952750"/>
          </a:xfrm>
          <a:prstGeom prst="line">
            <a:avLst/>
          </a:prstGeom>
          <a:ln cap="flat" w="9525">
            <a:solidFill>
              <a:srgbClr val="555555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3" id="103"/>
          <p:cNvSpPr/>
          <p:nvPr/>
        </p:nvSpPr>
        <p:spPr>
          <a:xfrm>
            <a:off x="15621000" y="2667000"/>
            <a:ext cx="0" cy="2952750"/>
          </a:xfrm>
          <a:prstGeom prst="line">
            <a:avLst/>
          </a:prstGeom>
          <a:ln cap="flat" w="9525">
            <a:solidFill>
              <a:srgbClr val="555555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4" id="104"/>
          <p:cNvSpPr/>
          <p:nvPr/>
        </p:nvSpPr>
        <p:spPr>
          <a:xfrm>
            <a:off x="16383000" y="2667000"/>
            <a:ext cx="0" cy="2952750"/>
          </a:xfrm>
          <a:prstGeom prst="line">
            <a:avLst/>
          </a:prstGeom>
          <a:ln cap="flat" w="9525">
            <a:solidFill>
              <a:srgbClr val="555555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5" id="105"/>
          <p:cNvSpPr/>
          <p:nvPr/>
        </p:nvSpPr>
        <p:spPr>
          <a:xfrm>
            <a:off x="17145000" y="2667000"/>
            <a:ext cx="0" cy="2952750"/>
          </a:xfrm>
          <a:prstGeom prst="line">
            <a:avLst/>
          </a:prstGeom>
          <a:ln cap="flat" w="9525">
            <a:solidFill>
              <a:srgbClr val="555555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6" id="106"/>
          <p:cNvSpPr/>
          <p:nvPr/>
        </p:nvSpPr>
        <p:spPr>
          <a:xfrm>
            <a:off x="11811000" y="2667000"/>
            <a:ext cx="5715000" cy="0"/>
          </a:xfrm>
          <a:prstGeom prst="line">
            <a:avLst/>
          </a:prstGeom>
          <a:ln cap="flat" w="9525">
            <a:solidFill>
              <a:srgbClr val="555555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7" id="107"/>
          <p:cNvSpPr/>
          <p:nvPr/>
        </p:nvSpPr>
        <p:spPr>
          <a:xfrm>
            <a:off x="11811000" y="3429000"/>
            <a:ext cx="5715000" cy="0"/>
          </a:xfrm>
          <a:prstGeom prst="line">
            <a:avLst/>
          </a:prstGeom>
          <a:ln cap="flat" w="9525">
            <a:solidFill>
              <a:srgbClr val="555555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8" id="108"/>
          <p:cNvSpPr/>
          <p:nvPr/>
        </p:nvSpPr>
        <p:spPr>
          <a:xfrm>
            <a:off x="11811000" y="4191000"/>
            <a:ext cx="5715000" cy="0"/>
          </a:xfrm>
          <a:prstGeom prst="line">
            <a:avLst/>
          </a:prstGeom>
          <a:ln cap="flat" w="9525">
            <a:solidFill>
              <a:srgbClr val="555555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9" id="109"/>
          <p:cNvSpPr/>
          <p:nvPr/>
        </p:nvSpPr>
        <p:spPr>
          <a:xfrm>
            <a:off x="11811000" y="4953000"/>
            <a:ext cx="5715000" cy="0"/>
          </a:xfrm>
          <a:prstGeom prst="line">
            <a:avLst/>
          </a:prstGeom>
          <a:ln cap="flat" w="9525">
            <a:solidFill>
              <a:srgbClr val="555555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10" id="110"/>
          <p:cNvSpPr/>
          <p:nvPr/>
        </p:nvSpPr>
        <p:spPr>
          <a:xfrm>
            <a:off x="11887200" y="2743200"/>
            <a:ext cx="209550" cy="0"/>
          </a:xfrm>
          <a:prstGeom prst="line">
            <a:avLst/>
          </a:prstGeom>
          <a:ln cap="flat" w="19050">
            <a:solidFill>
              <a:srgbClr val="B5121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11" id="111"/>
          <p:cNvSpPr/>
          <p:nvPr/>
        </p:nvSpPr>
        <p:spPr>
          <a:xfrm>
            <a:off x="11887200" y="2743200"/>
            <a:ext cx="0" cy="209550"/>
          </a:xfrm>
          <a:prstGeom prst="line">
            <a:avLst/>
          </a:prstGeom>
          <a:ln cap="flat" w="19050">
            <a:solidFill>
              <a:srgbClr val="B5121B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12" id="112"/>
          <p:cNvGrpSpPr/>
          <p:nvPr/>
        </p:nvGrpSpPr>
        <p:grpSpPr>
          <a:xfrm rot="0">
            <a:off x="11811000" y="5810250"/>
            <a:ext cx="5715000" cy="2952750"/>
            <a:chOff x="0" y="0"/>
            <a:chExt cx="7620000" cy="3937000"/>
          </a:xfrm>
        </p:grpSpPr>
        <p:sp>
          <p:nvSpPr>
            <p:cNvPr name="Freeform 113" id="113"/>
            <p:cNvSpPr/>
            <p:nvPr/>
          </p:nvSpPr>
          <p:spPr>
            <a:xfrm flipH="false" flipV="false" rot="0">
              <a:off x="0" y="0"/>
              <a:ext cx="7620000" cy="3937000"/>
            </a:xfrm>
            <a:custGeom>
              <a:avLst/>
              <a:gdLst/>
              <a:ahLst/>
              <a:cxnLst/>
              <a:rect r="r" b="b" t="t" l="l"/>
              <a:pathLst>
                <a:path h="3937000" w="7620000">
                  <a:moveTo>
                    <a:pt x="0" y="0"/>
                  </a:moveTo>
                  <a:lnTo>
                    <a:pt x="7620000" y="0"/>
                  </a:lnTo>
                  <a:lnTo>
                    <a:pt x="7620000" y="3937000"/>
                  </a:lnTo>
                  <a:lnTo>
                    <a:pt x="0" y="3937000"/>
                  </a:lnTo>
                  <a:close/>
                </a:path>
              </a:pathLst>
            </a:custGeom>
            <a:solidFill>
              <a:srgbClr val="0D0D0D"/>
            </a:solidFill>
            <a:ln cap="sq">
              <a:noFill/>
              <a:prstDash val="solid"/>
              <a:miter/>
            </a:ln>
          </p:spPr>
        </p:sp>
        <p:sp>
          <p:nvSpPr>
            <p:cNvPr name="TextBox 114" id="114"/>
            <p:cNvSpPr txBox="true"/>
            <p:nvPr/>
          </p:nvSpPr>
          <p:spPr>
            <a:xfrm>
              <a:off x="0" y="-38100"/>
              <a:ext cx="7620000" cy="397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AutoShape 115" id="115"/>
          <p:cNvSpPr/>
          <p:nvPr/>
        </p:nvSpPr>
        <p:spPr>
          <a:xfrm>
            <a:off x="11811000" y="5810250"/>
            <a:ext cx="0" cy="2952750"/>
          </a:xfrm>
          <a:prstGeom prst="line">
            <a:avLst/>
          </a:prstGeom>
          <a:ln cap="flat" w="9525">
            <a:solidFill>
              <a:srgbClr val="555555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16" id="116"/>
          <p:cNvSpPr/>
          <p:nvPr/>
        </p:nvSpPr>
        <p:spPr>
          <a:xfrm>
            <a:off x="12573000" y="5810250"/>
            <a:ext cx="0" cy="2952750"/>
          </a:xfrm>
          <a:prstGeom prst="line">
            <a:avLst/>
          </a:prstGeom>
          <a:ln cap="flat" w="9525">
            <a:solidFill>
              <a:srgbClr val="555555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17" id="117"/>
          <p:cNvSpPr/>
          <p:nvPr/>
        </p:nvSpPr>
        <p:spPr>
          <a:xfrm>
            <a:off x="13335000" y="5810250"/>
            <a:ext cx="0" cy="2952750"/>
          </a:xfrm>
          <a:prstGeom prst="line">
            <a:avLst/>
          </a:prstGeom>
          <a:ln cap="flat" w="9525">
            <a:solidFill>
              <a:srgbClr val="555555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18" id="118"/>
          <p:cNvSpPr/>
          <p:nvPr/>
        </p:nvSpPr>
        <p:spPr>
          <a:xfrm>
            <a:off x="14097000" y="5810250"/>
            <a:ext cx="0" cy="2952750"/>
          </a:xfrm>
          <a:prstGeom prst="line">
            <a:avLst/>
          </a:prstGeom>
          <a:ln cap="flat" w="9525">
            <a:solidFill>
              <a:srgbClr val="555555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19" id="119"/>
          <p:cNvSpPr/>
          <p:nvPr/>
        </p:nvSpPr>
        <p:spPr>
          <a:xfrm>
            <a:off x="14859000" y="5810250"/>
            <a:ext cx="0" cy="2952750"/>
          </a:xfrm>
          <a:prstGeom prst="line">
            <a:avLst/>
          </a:prstGeom>
          <a:ln cap="flat" w="9525">
            <a:solidFill>
              <a:srgbClr val="555555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20" id="120"/>
          <p:cNvSpPr/>
          <p:nvPr/>
        </p:nvSpPr>
        <p:spPr>
          <a:xfrm>
            <a:off x="15621000" y="5810250"/>
            <a:ext cx="0" cy="2952750"/>
          </a:xfrm>
          <a:prstGeom prst="line">
            <a:avLst/>
          </a:prstGeom>
          <a:ln cap="flat" w="9525">
            <a:solidFill>
              <a:srgbClr val="555555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21" id="121"/>
          <p:cNvSpPr/>
          <p:nvPr/>
        </p:nvSpPr>
        <p:spPr>
          <a:xfrm>
            <a:off x="16383000" y="5810250"/>
            <a:ext cx="0" cy="2952750"/>
          </a:xfrm>
          <a:prstGeom prst="line">
            <a:avLst/>
          </a:prstGeom>
          <a:ln cap="flat" w="9525">
            <a:solidFill>
              <a:srgbClr val="555555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22" id="122"/>
          <p:cNvSpPr/>
          <p:nvPr/>
        </p:nvSpPr>
        <p:spPr>
          <a:xfrm>
            <a:off x="17145000" y="5810250"/>
            <a:ext cx="0" cy="2952750"/>
          </a:xfrm>
          <a:prstGeom prst="line">
            <a:avLst/>
          </a:prstGeom>
          <a:ln cap="flat" w="9525">
            <a:solidFill>
              <a:srgbClr val="555555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23" id="123"/>
          <p:cNvSpPr/>
          <p:nvPr/>
        </p:nvSpPr>
        <p:spPr>
          <a:xfrm>
            <a:off x="11811000" y="5810250"/>
            <a:ext cx="5715000" cy="0"/>
          </a:xfrm>
          <a:prstGeom prst="line">
            <a:avLst/>
          </a:prstGeom>
          <a:ln cap="flat" w="9525">
            <a:solidFill>
              <a:srgbClr val="555555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24" id="124"/>
          <p:cNvSpPr/>
          <p:nvPr/>
        </p:nvSpPr>
        <p:spPr>
          <a:xfrm>
            <a:off x="11811000" y="6572250"/>
            <a:ext cx="5715000" cy="0"/>
          </a:xfrm>
          <a:prstGeom prst="line">
            <a:avLst/>
          </a:prstGeom>
          <a:ln cap="flat" w="9525">
            <a:solidFill>
              <a:srgbClr val="555555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25" id="125"/>
          <p:cNvSpPr/>
          <p:nvPr/>
        </p:nvSpPr>
        <p:spPr>
          <a:xfrm>
            <a:off x="11811000" y="7334250"/>
            <a:ext cx="5715000" cy="0"/>
          </a:xfrm>
          <a:prstGeom prst="line">
            <a:avLst/>
          </a:prstGeom>
          <a:ln cap="flat" w="9525">
            <a:solidFill>
              <a:srgbClr val="555555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26" id="126"/>
          <p:cNvSpPr/>
          <p:nvPr/>
        </p:nvSpPr>
        <p:spPr>
          <a:xfrm>
            <a:off x="11811000" y="8096250"/>
            <a:ext cx="5715000" cy="0"/>
          </a:xfrm>
          <a:prstGeom prst="line">
            <a:avLst/>
          </a:prstGeom>
          <a:ln cap="flat" w="9525">
            <a:solidFill>
              <a:srgbClr val="555555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27" id="127"/>
          <p:cNvSpPr/>
          <p:nvPr/>
        </p:nvSpPr>
        <p:spPr>
          <a:xfrm>
            <a:off x="11887200" y="5886450"/>
            <a:ext cx="209550" cy="0"/>
          </a:xfrm>
          <a:prstGeom prst="line">
            <a:avLst/>
          </a:prstGeom>
          <a:ln cap="flat" w="19050">
            <a:solidFill>
              <a:srgbClr val="B5121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28" id="128"/>
          <p:cNvSpPr/>
          <p:nvPr/>
        </p:nvSpPr>
        <p:spPr>
          <a:xfrm>
            <a:off x="11887200" y="5886450"/>
            <a:ext cx="0" cy="209550"/>
          </a:xfrm>
          <a:prstGeom prst="line">
            <a:avLst/>
          </a:prstGeom>
          <a:ln cap="flat" w="19050">
            <a:solidFill>
              <a:srgbClr val="B5121B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29" id="129"/>
          <p:cNvGrpSpPr/>
          <p:nvPr/>
        </p:nvGrpSpPr>
        <p:grpSpPr>
          <a:xfrm rot="0">
            <a:off x="12573000" y="3810000"/>
            <a:ext cx="4191000" cy="762000"/>
            <a:chOff x="0" y="0"/>
            <a:chExt cx="5588000" cy="1016000"/>
          </a:xfrm>
        </p:grpSpPr>
        <p:sp>
          <p:nvSpPr>
            <p:cNvPr name="Freeform 130" id="130"/>
            <p:cNvSpPr/>
            <p:nvPr/>
          </p:nvSpPr>
          <p:spPr>
            <a:xfrm flipH="false" flipV="false" rot="0">
              <a:off x="0" y="0"/>
              <a:ext cx="5588000" cy="1016000"/>
            </a:xfrm>
            <a:custGeom>
              <a:avLst/>
              <a:gdLst/>
              <a:ahLst/>
              <a:cxnLst/>
              <a:rect r="r" b="b" t="t" l="l"/>
              <a:pathLst>
                <a:path h="1016000" w="5588000">
                  <a:moveTo>
                    <a:pt x="0" y="0"/>
                  </a:moveTo>
                  <a:lnTo>
                    <a:pt x="5588000" y="0"/>
                  </a:lnTo>
                  <a:lnTo>
                    <a:pt x="5588000" y="1016000"/>
                  </a:lnTo>
                  <a:lnTo>
                    <a:pt x="0" y="1016000"/>
                  </a:lnTo>
                  <a:close/>
                </a:path>
              </a:pathLst>
            </a:custGeom>
            <a:solidFill>
              <a:srgbClr val="3A3A3A"/>
            </a:solidFill>
            <a:ln cap="sq">
              <a:noFill/>
              <a:prstDash val="solid"/>
              <a:miter/>
            </a:ln>
          </p:spPr>
        </p:sp>
        <p:sp>
          <p:nvSpPr>
            <p:cNvPr name="TextBox 131" id="131"/>
            <p:cNvSpPr txBox="true"/>
            <p:nvPr/>
          </p:nvSpPr>
          <p:spPr>
            <a:xfrm>
              <a:off x="0" y="-38100"/>
              <a:ext cx="5588000" cy="105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2" id="132"/>
          <p:cNvGrpSpPr/>
          <p:nvPr/>
        </p:nvGrpSpPr>
        <p:grpSpPr>
          <a:xfrm rot="0">
            <a:off x="13906500" y="4572000"/>
            <a:ext cx="1524000" cy="381000"/>
            <a:chOff x="0" y="0"/>
            <a:chExt cx="2032000" cy="508000"/>
          </a:xfrm>
        </p:grpSpPr>
        <p:sp>
          <p:nvSpPr>
            <p:cNvPr name="Freeform 133" id="133"/>
            <p:cNvSpPr/>
            <p:nvPr/>
          </p:nvSpPr>
          <p:spPr>
            <a:xfrm flipH="false" flipV="false" rot="0">
              <a:off x="0" y="0"/>
              <a:ext cx="2032000" cy="508000"/>
            </a:xfrm>
            <a:custGeom>
              <a:avLst/>
              <a:gdLst/>
              <a:ahLst/>
              <a:cxnLst/>
              <a:rect r="r" b="b" t="t" l="l"/>
              <a:pathLst>
                <a:path h="508000" w="2032000">
                  <a:moveTo>
                    <a:pt x="0" y="0"/>
                  </a:moveTo>
                  <a:lnTo>
                    <a:pt x="2032000" y="0"/>
                  </a:lnTo>
                  <a:lnTo>
                    <a:pt x="2032000" y="508000"/>
                  </a:lnTo>
                  <a:lnTo>
                    <a:pt x="0" y="508000"/>
                  </a:lnTo>
                  <a:close/>
                </a:path>
              </a:pathLst>
            </a:custGeom>
            <a:solidFill>
              <a:srgbClr val="4A4A4A"/>
            </a:solidFill>
            <a:ln cap="sq">
              <a:noFill/>
              <a:prstDash val="solid"/>
              <a:miter/>
            </a:ln>
          </p:spPr>
        </p:sp>
        <p:sp>
          <p:nvSpPr>
            <p:cNvPr name="TextBox 134" id="134"/>
            <p:cNvSpPr txBox="true"/>
            <p:nvPr/>
          </p:nvSpPr>
          <p:spPr>
            <a:xfrm>
              <a:off x="0" y="-38100"/>
              <a:ext cx="2032000" cy="54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AutoShape 135" id="135"/>
          <p:cNvSpPr/>
          <p:nvPr/>
        </p:nvSpPr>
        <p:spPr>
          <a:xfrm>
            <a:off x="12954000" y="6572250"/>
            <a:ext cx="0" cy="1619250"/>
          </a:xfrm>
          <a:prstGeom prst="line">
            <a:avLst/>
          </a:prstGeom>
          <a:ln cap="flat" w="57150">
            <a:solidFill>
              <a:srgbClr val="55555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36" id="136"/>
          <p:cNvSpPr/>
          <p:nvPr/>
        </p:nvSpPr>
        <p:spPr>
          <a:xfrm>
            <a:off x="13716000" y="6572250"/>
            <a:ext cx="0" cy="1619250"/>
          </a:xfrm>
          <a:prstGeom prst="line">
            <a:avLst/>
          </a:prstGeom>
          <a:ln cap="flat" w="57150">
            <a:solidFill>
              <a:srgbClr val="55555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37" id="137"/>
          <p:cNvSpPr/>
          <p:nvPr/>
        </p:nvSpPr>
        <p:spPr>
          <a:xfrm>
            <a:off x="14478000" y="6572250"/>
            <a:ext cx="0" cy="1619250"/>
          </a:xfrm>
          <a:prstGeom prst="line">
            <a:avLst/>
          </a:prstGeom>
          <a:ln cap="flat" w="57150">
            <a:solidFill>
              <a:srgbClr val="55555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38" id="138"/>
          <p:cNvSpPr/>
          <p:nvPr/>
        </p:nvSpPr>
        <p:spPr>
          <a:xfrm>
            <a:off x="15240000" y="6572250"/>
            <a:ext cx="0" cy="1619250"/>
          </a:xfrm>
          <a:prstGeom prst="line">
            <a:avLst/>
          </a:prstGeom>
          <a:ln cap="flat" w="57150">
            <a:solidFill>
              <a:srgbClr val="55555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39" id="139"/>
          <p:cNvSpPr/>
          <p:nvPr/>
        </p:nvSpPr>
        <p:spPr>
          <a:xfrm>
            <a:off x="16002000" y="6572250"/>
            <a:ext cx="0" cy="1619250"/>
          </a:xfrm>
          <a:prstGeom prst="line">
            <a:avLst/>
          </a:prstGeom>
          <a:ln cap="flat" w="57150">
            <a:solidFill>
              <a:srgbClr val="55555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40" id="140"/>
          <p:cNvSpPr/>
          <p:nvPr/>
        </p:nvSpPr>
        <p:spPr>
          <a:xfrm>
            <a:off x="12763500" y="7143750"/>
            <a:ext cx="3810000" cy="0"/>
          </a:xfrm>
          <a:prstGeom prst="line">
            <a:avLst/>
          </a:prstGeom>
          <a:ln cap="flat" w="38100">
            <a:solidFill>
              <a:srgbClr val="B5121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41" id="141"/>
          <p:cNvSpPr txBox="true"/>
          <p:nvPr/>
        </p:nvSpPr>
        <p:spPr>
          <a:xfrm rot="0">
            <a:off x="762000" y="8686800"/>
            <a:ext cx="10668000" cy="1657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64"/>
              </a:lnSpc>
            </a:pPr>
            <a:r>
              <a:rPr lang="en-US" sz="975" spc="243">
                <a:solidFill>
                  <a:srgbClr val="C0C0C0"/>
                </a:solidFill>
                <a:latin typeface="Inter 2"/>
                <a:ea typeface="Inter 2"/>
                <a:cs typeface="Inter 2"/>
                <a:sym typeface="Inter 2"/>
              </a:rPr>
              <a:t>Welded bracket assembly — floor rail to vertical stiffener, gusseted, 1/4" fillet all-around.</a:t>
            </a:r>
          </a:p>
        </p:txBody>
      </p:sp>
      <p:sp>
        <p:nvSpPr>
          <p:cNvPr name="TextBox 142" id="142"/>
          <p:cNvSpPr txBox="true"/>
          <p:nvPr/>
        </p:nvSpPr>
        <p:spPr>
          <a:xfrm rot="0">
            <a:off x="11811000" y="5676900"/>
            <a:ext cx="5715000" cy="1657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64"/>
              </a:lnSpc>
            </a:pPr>
            <a:r>
              <a:rPr lang="en-US" sz="975" spc="243">
                <a:solidFill>
                  <a:srgbClr val="C0C0C0"/>
                </a:solidFill>
                <a:latin typeface="Inter 2"/>
                <a:ea typeface="Inter 2"/>
                <a:cs typeface="Inter 2"/>
                <a:sym typeface="Inter 2"/>
              </a:rPr>
              <a:t>Floor system bracket · A36 plate</a:t>
            </a:r>
          </a:p>
        </p:txBody>
      </p:sp>
      <p:sp>
        <p:nvSpPr>
          <p:cNvPr name="TextBox 143" id="143"/>
          <p:cNvSpPr txBox="true"/>
          <p:nvPr/>
        </p:nvSpPr>
        <p:spPr>
          <a:xfrm rot="0">
            <a:off x="11811000" y="8820150"/>
            <a:ext cx="5715000" cy="1657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64"/>
              </a:lnSpc>
            </a:pPr>
            <a:r>
              <a:rPr lang="en-US" sz="975" spc="243">
                <a:solidFill>
                  <a:srgbClr val="C0C0C0"/>
                </a:solidFill>
                <a:latin typeface="Inter 2"/>
                <a:ea typeface="Inter 2"/>
                <a:cs typeface="Inter 2"/>
                <a:sym typeface="Inter 2"/>
              </a:rPr>
              <a:t>Wall reinforcement · paired stiffener + header</a:t>
            </a:r>
          </a:p>
        </p:txBody>
      </p:sp>
      <p:sp>
        <p:nvSpPr>
          <p:cNvPr name="AutoShape 144" id="144"/>
          <p:cNvSpPr/>
          <p:nvPr/>
        </p:nvSpPr>
        <p:spPr>
          <a:xfrm>
            <a:off x="762000" y="9677400"/>
            <a:ext cx="16764000" cy="0"/>
          </a:xfrm>
          <a:prstGeom prst="line">
            <a:avLst/>
          </a:prstGeom>
          <a:ln cap="flat" w="9525">
            <a:solidFill>
              <a:srgbClr val="55555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45" id="145"/>
          <p:cNvSpPr txBox="true"/>
          <p:nvPr/>
        </p:nvSpPr>
        <p:spPr>
          <a:xfrm rot="0">
            <a:off x="762000" y="9810750"/>
            <a:ext cx="381000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405" b="true">
                <a:solidFill>
                  <a:srgbClr val="C0C0C0"/>
                </a:solidFill>
                <a:latin typeface="Oswald Bold"/>
                <a:ea typeface="Oswald Bold"/>
                <a:cs typeface="Oswald Bold"/>
                <a:sym typeface="Oswald Bold"/>
              </a:rPr>
              <a:t>METAL WORX, INC.</a:t>
            </a:r>
          </a:p>
        </p:txBody>
      </p:sp>
      <p:sp>
        <p:nvSpPr>
          <p:cNvPr name="TextBox 146" id="146"/>
          <p:cNvSpPr txBox="true"/>
          <p:nvPr/>
        </p:nvSpPr>
        <p:spPr>
          <a:xfrm rot="0">
            <a:off x="4762500" y="9829800"/>
            <a:ext cx="7620000" cy="148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60"/>
              </a:lnSpc>
            </a:pPr>
            <a:r>
              <a:rPr lang="en-US" sz="900" spc="359">
                <a:solidFill>
                  <a:srgbClr val="C0C0C0"/>
                </a:solidFill>
                <a:latin typeface="Inter 2"/>
                <a:ea typeface="Inter 2"/>
                <a:cs typeface="Inter 2"/>
                <a:sym typeface="Inter 2"/>
              </a:rPr>
              <a:t>FABRICATION DETAILS</a:t>
            </a:r>
          </a:p>
        </p:txBody>
      </p:sp>
      <p:sp>
        <p:nvSpPr>
          <p:cNvPr name="TextBox 147" id="147"/>
          <p:cNvSpPr txBox="true"/>
          <p:nvPr/>
        </p:nvSpPr>
        <p:spPr>
          <a:xfrm rot="0">
            <a:off x="15811500" y="9829800"/>
            <a:ext cx="1714500" cy="148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260"/>
              </a:lnSpc>
            </a:pPr>
            <a:r>
              <a:rPr lang="en-US" sz="900" spc="359">
                <a:solidFill>
                  <a:srgbClr val="C0C0C0"/>
                </a:solidFill>
                <a:latin typeface="Inter 2"/>
                <a:ea typeface="Inter 2"/>
                <a:cs typeface="Inter 2"/>
                <a:sym typeface="Inter 2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" id="3"/>
          <p:cNvSpPr/>
          <p:nvPr/>
        </p:nvSpPr>
        <p:spPr>
          <a:xfrm>
            <a:off x="762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" id="4"/>
          <p:cNvSpPr/>
          <p:nvPr/>
        </p:nvSpPr>
        <p:spPr>
          <a:xfrm>
            <a:off x="1524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" id="5"/>
          <p:cNvSpPr/>
          <p:nvPr/>
        </p:nvSpPr>
        <p:spPr>
          <a:xfrm>
            <a:off x="2286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" id="6"/>
          <p:cNvSpPr/>
          <p:nvPr/>
        </p:nvSpPr>
        <p:spPr>
          <a:xfrm>
            <a:off x="3048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" id="7"/>
          <p:cNvSpPr/>
          <p:nvPr/>
        </p:nvSpPr>
        <p:spPr>
          <a:xfrm>
            <a:off x="3810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" id="8"/>
          <p:cNvSpPr/>
          <p:nvPr/>
        </p:nvSpPr>
        <p:spPr>
          <a:xfrm>
            <a:off x="4572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" id="9"/>
          <p:cNvSpPr/>
          <p:nvPr/>
        </p:nvSpPr>
        <p:spPr>
          <a:xfrm>
            <a:off x="5334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" id="10"/>
          <p:cNvSpPr/>
          <p:nvPr/>
        </p:nvSpPr>
        <p:spPr>
          <a:xfrm>
            <a:off x="6096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1" id="11"/>
          <p:cNvSpPr/>
          <p:nvPr/>
        </p:nvSpPr>
        <p:spPr>
          <a:xfrm>
            <a:off x="6858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2" id="12"/>
          <p:cNvSpPr/>
          <p:nvPr/>
        </p:nvSpPr>
        <p:spPr>
          <a:xfrm>
            <a:off x="7620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3" id="13"/>
          <p:cNvSpPr/>
          <p:nvPr/>
        </p:nvSpPr>
        <p:spPr>
          <a:xfrm>
            <a:off x="8382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4" id="14"/>
          <p:cNvSpPr/>
          <p:nvPr/>
        </p:nvSpPr>
        <p:spPr>
          <a:xfrm>
            <a:off x="9144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5" id="15"/>
          <p:cNvSpPr/>
          <p:nvPr/>
        </p:nvSpPr>
        <p:spPr>
          <a:xfrm>
            <a:off x="9906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6" id="16"/>
          <p:cNvSpPr/>
          <p:nvPr/>
        </p:nvSpPr>
        <p:spPr>
          <a:xfrm>
            <a:off x="10668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7" id="17"/>
          <p:cNvSpPr/>
          <p:nvPr/>
        </p:nvSpPr>
        <p:spPr>
          <a:xfrm>
            <a:off x="11430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8" id="18"/>
          <p:cNvSpPr/>
          <p:nvPr/>
        </p:nvSpPr>
        <p:spPr>
          <a:xfrm>
            <a:off x="12192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9" id="19"/>
          <p:cNvSpPr/>
          <p:nvPr/>
        </p:nvSpPr>
        <p:spPr>
          <a:xfrm>
            <a:off x="12954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0" id="20"/>
          <p:cNvSpPr/>
          <p:nvPr/>
        </p:nvSpPr>
        <p:spPr>
          <a:xfrm>
            <a:off x="13716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1" id="21"/>
          <p:cNvSpPr/>
          <p:nvPr/>
        </p:nvSpPr>
        <p:spPr>
          <a:xfrm>
            <a:off x="14478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2" id="22"/>
          <p:cNvSpPr/>
          <p:nvPr/>
        </p:nvSpPr>
        <p:spPr>
          <a:xfrm>
            <a:off x="15240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3" id="23"/>
          <p:cNvSpPr/>
          <p:nvPr/>
        </p:nvSpPr>
        <p:spPr>
          <a:xfrm>
            <a:off x="16002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4" id="24"/>
          <p:cNvSpPr/>
          <p:nvPr/>
        </p:nvSpPr>
        <p:spPr>
          <a:xfrm>
            <a:off x="16764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5" id="25"/>
          <p:cNvSpPr/>
          <p:nvPr/>
        </p:nvSpPr>
        <p:spPr>
          <a:xfrm>
            <a:off x="17526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6" id="26"/>
          <p:cNvSpPr/>
          <p:nvPr/>
        </p:nvSpPr>
        <p:spPr>
          <a:xfrm>
            <a:off x="18288000" y="0"/>
            <a:ext cx="0" cy="1028700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7" id="27"/>
          <p:cNvSpPr/>
          <p:nvPr/>
        </p:nvSpPr>
        <p:spPr>
          <a:xfrm>
            <a:off x="0" y="0"/>
            <a:ext cx="18288000" cy="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8" id="28"/>
          <p:cNvSpPr/>
          <p:nvPr/>
        </p:nvSpPr>
        <p:spPr>
          <a:xfrm>
            <a:off x="0" y="762000"/>
            <a:ext cx="18288000" cy="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9" id="29"/>
          <p:cNvSpPr/>
          <p:nvPr/>
        </p:nvSpPr>
        <p:spPr>
          <a:xfrm>
            <a:off x="0" y="1524000"/>
            <a:ext cx="18288000" cy="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0" id="30"/>
          <p:cNvSpPr/>
          <p:nvPr/>
        </p:nvSpPr>
        <p:spPr>
          <a:xfrm>
            <a:off x="0" y="2286000"/>
            <a:ext cx="18288000" cy="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1" id="31"/>
          <p:cNvSpPr/>
          <p:nvPr/>
        </p:nvSpPr>
        <p:spPr>
          <a:xfrm>
            <a:off x="0" y="3048000"/>
            <a:ext cx="18288000" cy="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2" id="32"/>
          <p:cNvSpPr/>
          <p:nvPr/>
        </p:nvSpPr>
        <p:spPr>
          <a:xfrm>
            <a:off x="0" y="3810000"/>
            <a:ext cx="18288000" cy="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3" id="33"/>
          <p:cNvSpPr/>
          <p:nvPr/>
        </p:nvSpPr>
        <p:spPr>
          <a:xfrm>
            <a:off x="0" y="4572000"/>
            <a:ext cx="18288000" cy="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4" id="34"/>
          <p:cNvSpPr/>
          <p:nvPr/>
        </p:nvSpPr>
        <p:spPr>
          <a:xfrm>
            <a:off x="0" y="5334000"/>
            <a:ext cx="18288000" cy="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5" id="35"/>
          <p:cNvSpPr/>
          <p:nvPr/>
        </p:nvSpPr>
        <p:spPr>
          <a:xfrm>
            <a:off x="0" y="6096000"/>
            <a:ext cx="18288000" cy="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6" id="36"/>
          <p:cNvSpPr/>
          <p:nvPr/>
        </p:nvSpPr>
        <p:spPr>
          <a:xfrm>
            <a:off x="0" y="6858000"/>
            <a:ext cx="18288000" cy="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7" id="37"/>
          <p:cNvSpPr/>
          <p:nvPr/>
        </p:nvSpPr>
        <p:spPr>
          <a:xfrm>
            <a:off x="0" y="7620000"/>
            <a:ext cx="18288000" cy="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8" id="38"/>
          <p:cNvSpPr/>
          <p:nvPr/>
        </p:nvSpPr>
        <p:spPr>
          <a:xfrm>
            <a:off x="0" y="8382000"/>
            <a:ext cx="18288000" cy="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9" id="39"/>
          <p:cNvSpPr/>
          <p:nvPr/>
        </p:nvSpPr>
        <p:spPr>
          <a:xfrm>
            <a:off x="0" y="9144000"/>
            <a:ext cx="18288000" cy="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0" id="40"/>
          <p:cNvSpPr/>
          <p:nvPr/>
        </p:nvSpPr>
        <p:spPr>
          <a:xfrm>
            <a:off x="0" y="9906000"/>
            <a:ext cx="18288000" cy="0"/>
          </a:xfrm>
          <a:prstGeom prst="line">
            <a:avLst/>
          </a:prstGeom>
          <a:ln cap="flat" w="9525">
            <a:solidFill>
              <a:srgbClr val="EEEEEE">
                <a:alpha val="5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41" id="41"/>
          <p:cNvSpPr txBox="true"/>
          <p:nvPr/>
        </p:nvSpPr>
        <p:spPr>
          <a:xfrm rot="0">
            <a:off x="762000" y="542925"/>
            <a:ext cx="8572500" cy="2076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200" spc="420" b="true">
                <a:solidFill>
                  <a:srgbClr val="B5121B"/>
                </a:solidFill>
                <a:latin typeface="Inter 2 Bold"/>
                <a:ea typeface="Inter 2 Bold"/>
                <a:cs typeface="Inter 2 Bold"/>
                <a:sym typeface="Inter 2 Bold"/>
              </a:rPr>
              <a:t>SECTION 05  ·  MILESTONE SUMMARY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762000" y="800100"/>
            <a:ext cx="15240000" cy="762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1A1A1A"/>
                </a:solidFill>
                <a:latin typeface="Oswald Bold"/>
                <a:ea typeface="Oswald Bold"/>
                <a:cs typeface="Oswald Bold"/>
                <a:sym typeface="Oswald Bold"/>
              </a:rPr>
              <a:t>Every stage · checked and closed.</a:t>
            </a:r>
          </a:p>
        </p:txBody>
      </p:sp>
      <p:grpSp>
        <p:nvGrpSpPr>
          <p:cNvPr name="Group 43" id="43"/>
          <p:cNvGrpSpPr/>
          <p:nvPr/>
        </p:nvGrpSpPr>
        <p:grpSpPr>
          <a:xfrm rot="0">
            <a:off x="762000" y="2286000"/>
            <a:ext cx="4048125" cy="3048000"/>
            <a:chOff x="0" y="0"/>
            <a:chExt cx="5397500" cy="4064000"/>
          </a:xfrm>
        </p:grpSpPr>
        <p:grpSp>
          <p:nvGrpSpPr>
            <p:cNvPr name="Group 44" id="44"/>
            <p:cNvGrpSpPr/>
            <p:nvPr/>
          </p:nvGrpSpPr>
          <p:grpSpPr>
            <a:xfrm rot="0">
              <a:off x="0" y="0"/>
              <a:ext cx="5397500" cy="4064000"/>
              <a:chOff x="0" y="0"/>
              <a:chExt cx="5397500" cy="4064000"/>
            </a:xfrm>
          </p:grpSpPr>
          <p:sp>
            <p:nvSpPr>
              <p:cNvPr name="Freeform 45" id="45"/>
              <p:cNvSpPr/>
              <p:nvPr/>
            </p:nvSpPr>
            <p:spPr>
              <a:xfrm flipH="false" flipV="false" rot="0">
                <a:off x="0" y="0"/>
                <a:ext cx="5397500" cy="4064000"/>
              </a:xfrm>
              <a:custGeom>
                <a:avLst/>
                <a:gdLst/>
                <a:ahLst/>
                <a:cxnLst/>
                <a:rect r="r" b="b" t="t" l="l"/>
                <a:pathLst>
                  <a:path h="4064000" w="5397500">
                    <a:moveTo>
                      <a:pt x="0" y="0"/>
                    </a:moveTo>
                    <a:lnTo>
                      <a:pt x="5397500" y="0"/>
                    </a:lnTo>
                    <a:lnTo>
                      <a:pt x="5397500" y="4064000"/>
                    </a:lnTo>
                    <a:lnTo>
                      <a:pt x="0" y="40640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DDDDD"/>
                </a:solidFill>
                <a:prstDash val="solid"/>
                <a:miter/>
              </a:ln>
            </p:spPr>
          </p:sp>
          <p:sp>
            <p:nvSpPr>
              <p:cNvPr name="TextBox 46" id="46"/>
              <p:cNvSpPr txBox="true"/>
              <p:nvPr/>
            </p:nvSpPr>
            <p:spPr>
              <a:xfrm>
                <a:off x="0" y="-38100"/>
                <a:ext cx="5397500" cy="4102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grpSp>
          <p:nvGrpSpPr>
            <p:cNvPr name="Group 47" id="47"/>
            <p:cNvGrpSpPr/>
            <p:nvPr/>
          </p:nvGrpSpPr>
          <p:grpSpPr>
            <a:xfrm rot="0">
              <a:off x="0" y="0"/>
              <a:ext cx="76200" cy="4064000"/>
              <a:chOff x="0" y="0"/>
              <a:chExt cx="76200" cy="4064000"/>
            </a:xfrm>
          </p:grpSpPr>
          <p:sp>
            <p:nvSpPr>
              <p:cNvPr name="Freeform 48" id="48"/>
              <p:cNvSpPr/>
              <p:nvPr/>
            </p:nvSpPr>
            <p:spPr>
              <a:xfrm flipH="false" flipV="false" rot="0">
                <a:off x="0" y="0"/>
                <a:ext cx="76200" cy="4064000"/>
              </a:xfrm>
              <a:custGeom>
                <a:avLst/>
                <a:gdLst/>
                <a:ahLst/>
                <a:cxnLst/>
                <a:rect r="r" b="b" t="t" l="l"/>
                <a:pathLst>
                  <a:path h="4064000" w="76200">
                    <a:moveTo>
                      <a:pt x="0" y="0"/>
                    </a:moveTo>
                    <a:lnTo>
                      <a:pt x="76200" y="0"/>
                    </a:lnTo>
                    <a:lnTo>
                      <a:pt x="76200" y="4064000"/>
                    </a:lnTo>
                    <a:lnTo>
                      <a:pt x="0" y="4064000"/>
                    </a:lnTo>
                    <a:close/>
                  </a:path>
                </a:pathLst>
              </a:custGeom>
              <a:solidFill>
                <a:srgbClr val="B5121B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49" id="49"/>
              <p:cNvSpPr txBox="true"/>
              <p:nvPr/>
            </p:nvSpPr>
            <p:spPr>
              <a:xfrm>
                <a:off x="0" y="-38100"/>
                <a:ext cx="76200" cy="4102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grpSp>
          <p:nvGrpSpPr>
            <p:cNvPr name="Group 50" id="50"/>
            <p:cNvGrpSpPr/>
            <p:nvPr/>
          </p:nvGrpSpPr>
          <p:grpSpPr>
            <a:xfrm rot="0">
              <a:off x="4508500" y="355600"/>
              <a:ext cx="533400" cy="673710"/>
              <a:chOff x="0" y="0"/>
              <a:chExt cx="533400" cy="673710"/>
            </a:xfrm>
          </p:grpSpPr>
          <p:sp>
            <p:nvSpPr>
              <p:cNvPr name="Freeform 51" id="51"/>
              <p:cNvSpPr/>
              <p:nvPr/>
            </p:nvSpPr>
            <p:spPr>
              <a:xfrm flipH="false" flipV="false" rot="0">
                <a:off x="0" y="0"/>
                <a:ext cx="533400" cy="673710"/>
              </a:xfrm>
              <a:custGeom>
                <a:avLst/>
                <a:gdLst/>
                <a:ahLst/>
                <a:cxnLst/>
                <a:rect r="r" b="b" t="t" l="l"/>
                <a:pathLst>
                  <a:path h="673710" w="533400">
                    <a:moveTo>
                      <a:pt x="266700" y="0"/>
                    </a:moveTo>
                    <a:cubicBezTo>
                      <a:pt x="413994" y="0"/>
                      <a:pt x="533400" y="150815"/>
                      <a:pt x="533400" y="336855"/>
                    </a:cubicBezTo>
                    <a:cubicBezTo>
                      <a:pt x="533400" y="522895"/>
                      <a:pt x="413994" y="673710"/>
                      <a:pt x="266700" y="673710"/>
                    </a:cubicBezTo>
                    <a:cubicBezTo>
                      <a:pt x="119406" y="673710"/>
                      <a:pt x="0" y="522895"/>
                      <a:pt x="0" y="336855"/>
                    </a:cubicBezTo>
                    <a:cubicBezTo>
                      <a:pt x="0" y="150815"/>
                      <a:pt x="119406" y="0"/>
                      <a:pt x="266700" y="0"/>
                    </a:cubicBezTo>
                    <a:close/>
                  </a:path>
                </a:pathLst>
              </a:custGeom>
              <a:solidFill>
                <a:srgbClr val="B5121B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52" id="52"/>
              <p:cNvSpPr txBox="true"/>
              <p:nvPr/>
            </p:nvSpPr>
            <p:spPr>
              <a:xfrm>
                <a:off x="0" y="-38100"/>
                <a:ext cx="533400" cy="71181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520"/>
                  </a:lnSpc>
                </a:pPr>
                <a:r>
                  <a:rPr lang="en-US" sz="1800" b="true">
                    <a:solidFill>
                      <a:srgbClr val="FFFFFF"/>
                    </a:solidFill>
                    <a:latin typeface="Oswald Bold"/>
                    <a:ea typeface="Oswald Bold"/>
                    <a:cs typeface="Oswald Bold"/>
                    <a:sym typeface="Oswald Bold"/>
                  </a:rPr>
                  <a:t>✓</a:t>
                </a:r>
              </a:p>
            </p:txBody>
          </p:sp>
        </p:grpSp>
        <p:grpSp>
          <p:nvGrpSpPr>
            <p:cNvPr name="Group 53" id="53"/>
            <p:cNvGrpSpPr/>
            <p:nvPr/>
          </p:nvGrpSpPr>
          <p:grpSpPr>
            <a:xfrm rot="0">
              <a:off x="355600" y="1143000"/>
              <a:ext cx="4686300" cy="1778000"/>
              <a:chOff x="0" y="0"/>
              <a:chExt cx="4686300" cy="1778000"/>
            </a:xfrm>
          </p:grpSpPr>
          <p:sp>
            <p:nvSpPr>
              <p:cNvPr name="Freeform 54" id="54"/>
              <p:cNvSpPr/>
              <p:nvPr/>
            </p:nvSpPr>
            <p:spPr>
              <a:xfrm flipH="false" flipV="false" rot="0">
                <a:off x="0" y="0"/>
                <a:ext cx="4686300" cy="1778000"/>
              </a:xfrm>
              <a:custGeom>
                <a:avLst/>
                <a:gdLst/>
                <a:ahLst/>
                <a:cxnLst/>
                <a:rect r="r" b="b" t="t" l="l"/>
                <a:pathLst>
                  <a:path h="1778000" w="4686300">
                    <a:moveTo>
                      <a:pt x="0" y="0"/>
                    </a:moveTo>
                    <a:lnTo>
                      <a:pt x="4686300" y="0"/>
                    </a:lnTo>
                    <a:lnTo>
                      <a:pt x="4686300" y="1778000"/>
                    </a:lnTo>
                    <a:lnTo>
                      <a:pt x="0" y="1778000"/>
                    </a:lnTo>
                    <a:close/>
                  </a:path>
                </a:pathLst>
              </a:custGeom>
              <a:solidFill>
                <a:srgbClr val="1A1A1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55" id="55"/>
              <p:cNvSpPr txBox="true"/>
              <p:nvPr/>
            </p:nvSpPr>
            <p:spPr>
              <a:xfrm>
                <a:off x="0" y="-38100"/>
                <a:ext cx="4686300" cy="1816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AutoShape 56" id="56"/>
            <p:cNvSpPr/>
            <p:nvPr/>
          </p:nvSpPr>
          <p:spPr>
            <a:xfrm>
              <a:off x="762000" y="1397000"/>
              <a:ext cx="0" cy="1270000"/>
            </a:xfrm>
            <a:prstGeom prst="line">
              <a:avLst/>
            </a:prstGeom>
            <a:ln cap="flat" w="25400">
              <a:solidFill>
                <a:srgbClr val="55555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57" id="57"/>
            <p:cNvSpPr/>
            <p:nvPr/>
          </p:nvSpPr>
          <p:spPr>
            <a:xfrm>
              <a:off x="1730375" y="1397000"/>
              <a:ext cx="0" cy="1270000"/>
            </a:xfrm>
            <a:prstGeom prst="line">
              <a:avLst/>
            </a:prstGeom>
            <a:ln cap="flat" w="25400">
              <a:solidFill>
                <a:srgbClr val="55555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58" id="58"/>
            <p:cNvSpPr/>
            <p:nvPr/>
          </p:nvSpPr>
          <p:spPr>
            <a:xfrm>
              <a:off x="2698750" y="1397000"/>
              <a:ext cx="0" cy="1270000"/>
            </a:xfrm>
            <a:prstGeom prst="line">
              <a:avLst/>
            </a:prstGeom>
            <a:ln cap="flat" w="25400">
              <a:solidFill>
                <a:srgbClr val="55555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59" id="59"/>
            <p:cNvSpPr/>
            <p:nvPr/>
          </p:nvSpPr>
          <p:spPr>
            <a:xfrm>
              <a:off x="3667125" y="1397000"/>
              <a:ext cx="0" cy="1270000"/>
            </a:xfrm>
            <a:prstGeom prst="line">
              <a:avLst/>
            </a:prstGeom>
            <a:ln cap="flat" w="25400">
              <a:solidFill>
                <a:srgbClr val="55555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60" id="60"/>
            <p:cNvSpPr/>
            <p:nvPr/>
          </p:nvSpPr>
          <p:spPr>
            <a:xfrm>
              <a:off x="4635500" y="1397000"/>
              <a:ext cx="0" cy="1270000"/>
            </a:xfrm>
            <a:prstGeom prst="line">
              <a:avLst/>
            </a:prstGeom>
            <a:ln cap="flat" w="25400">
              <a:solidFill>
                <a:srgbClr val="555555"/>
              </a:solidFill>
              <a:prstDash val="solid"/>
              <a:headEnd type="none" len="sm" w="sm"/>
              <a:tailEnd type="none" len="sm" w="sm"/>
            </a:ln>
          </p:spPr>
        </p:sp>
      </p:grpSp>
      <p:grpSp>
        <p:nvGrpSpPr>
          <p:cNvPr name="Group 61" id="61"/>
          <p:cNvGrpSpPr/>
          <p:nvPr/>
        </p:nvGrpSpPr>
        <p:grpSpPr>
          <a:xfrm rot="0">
            <a:off x="5000625" y="2286000"/>
            <a:ext cx="4048125" cy="3048000"/>
            <a:chOff x="0" y="0"/>
            <a:chExt cx="5397500" cy="4064000"/>
          </a:xfrm>
        </p:grpSpPr>
        <p:grpSp>
          <p:nvGrpSpPr>
            <p:cNvPr name="Group 62" id="62"/>
            <p:cNvGrpSpPr/>
            <p:nvPr/>
          </p:nvGrpSpPr>
          <p:grpSpPr>
            <a:xfrm rot="0">
              <a:off x="0" y="0"/>
              <a:ext cx="5397500" cy="4064000"/>
              <a:chOff x="0" y="0"/>
              <a:chExt cx="5397500" cy="4064000"/>
            </a:xfrm>
          </p:grpSpPr>
          <p:sp>
            <p:nvSpPr>
              <p:cNvPr name="Freeform 63" id="63"/>
              <p:cNvSpPr/>
              <p:nvPr/>
            </p:nvSpPr>
            <p:spPr>
              <a:xfrm flipH="false" flipV="false" rot="0">
                <a:off x="0" y="0"/>
                <a:ext cx="5397500" cy="4064000"/>
              </a:xfrm>
              <a:custGeom>
                <a:avLst/>
                <a:gdLst/>
                <a:ahLst/>
                <a:cxnLst/>
                <a:rect r="r" b="b" t="t" l="l"/>
                <a:pathLst>
                  <a:path h="4064000" w="5397500">
                    <a:moveTo>
                      <a:pt x="0" y="0"/>
                    </a:moveTo>
                    <a:lnTo>
                      <a:pt x="5397500" y="0"/>
                    </a:lnTo>
                    <a:lnTo>
                      <a:pt x="5397500" y="4064000"/>
                    </a:lnTo>
                    <a:lnTo>
                      <a:pt x="0" y="40640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DDDDD"/>
                </a:solidFill>
                <a:prstDash val="solid"/>
                <a:miter/>
              </a:ln>
            </p:spPr>
          </p:sp>
          <p:sp>
            <p:nvSpPr>
              <p:cNvPr name="TextBox 64" id="64"/>
              <p:cNvSpPr txBox="true"/>
              <p:nvPr/>
            </p:nvSpPr>
            <p:spPr>
              <a:xfrm>
                <a:off x="0" y="-38100"/>
                <a:ext cx="5397500" cy="4102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grpSp>
          <p:nvGrpSpPr>
            <p:cNvPr name="Group 65" id="65"/>
            <p:cNvGrpSpPr/>
            <p:nvPr/>
          </p:nvGrpSpPr>
          <p:grpSpPr>
            <a:xfrm rot="0">
              <a:off x="0" y="0"/>
              <a:ext cx="76200" cy="4064000"/>
              <a:chOff x="0" y="0"/>
              <a:chExt cx="76200" cy="4064000"/>
            </a:xfrm>
          </p:grpSpPr>
          <p:sp>
            <p:nvSpPr>
              <p:cNvPr name="Freeform 66" id="66"/>
              <p:cNvSpPr/>
              <p:nvPr/>
            </p:nvSpPr>
            <p:spPr>
              <a:xfrm flipH="false" flipV="false" rot="0">
                <a:off x="0" y="0"/>
                <a:ext cx="76200" cy="4064000"/>
              </a:xfrm>
              <a:custGeom>
                <a:avLst/>
                <a:gdLst/>
                <a:ahLst/>
                <a:cxnLst/>
                <a:rect r="r" b="b" t="t" l="l"/>
                <a:pathLst>
                  <a:path h="4064000" w="76200">
                    <a:moveTo>
                      <a:pt x="0" y="0"/>
                    </a:moveTo>
                    <a:lnTo>
                      <a:pt x="76200" y="0"/>
                    </a:lnTo>
                    <a:lnTo>
                      <a:pt x="76200" y="4064000"/>
                    </a:lnTo>
                    <a:lnTo>
                      <a:pt x="0" y="4064000"/>
                    </a:lnTo>
                    <a:close/>
                  </a:path>
                </a:pathLst>
              </a:custGeom>
              <a:solidFill>
                <a:srgbClr val="B5121B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67" id="67"/>
              <p:cNvSpPr txBox="true"/>
              <p:nvPr/>
            </p:nvSpPr>
            <p:spPr>
              <a:xfrm>
                <a:off x="0" y="-38100"/>
                <a:ext cx="76200" cy="4102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grpSp>
          <p:nvGrpSpPr>
            <p:cNvPr name="Group 68" id="68"/>
            <p:cNvGrpSpPr/>
            <p:nvPr/>
          </p:nvGrpSpPr>
          <p:grpSpPr>
            <a:xfrm rot="0">
              <a:off x="4508500" y="355600"/>
              <a:ext cx="533400" cy="673710"/>
              <a:chOff x="0" y="0"/>
              <a:chExt cx="533400" cy="673710"/>
            </a:xfrm>
          </p:grpSpPr>
          <p:sp>
            <p:nvSpPr>
              <p:cNvPr name="Freeform 69" id="69"/>
              <p:cNvSpPr/>
              <p:nvPr/>
            </p:nvSpPr>
            <p:spPr>
              <a:xfrm flipH="false" flipV="false" rot="0">
                <a:off x="0" y="0"/>
                <a:ext cx="533400" cy="673710"/>
              </a:xfrm>
              <a:custGeom>
                <a:avLst/>
                <a:gdLst/>
                <a:ahLst/>
                <a:cxnLst/>
                <a:rect r="r" b="b" t="t" l="l"/>
                <a:pathLst>
                  <a:path h="673710" w="533400">
                    <a:moveTo>
                      <a:pt x="266700" y="0"/>
                    </a:moveTo>
                    <a:cubicBezTo>
                      <a:pt x="413994" y="0"/>
                      <a:pt x="533400" y="150815"/>
                      <a:pt x="533400" y="336855"/>
                    </a:cubicBezTo>
                    <a:cubicBezTo>
                      <a:pt x="533400" y="522895"/>
                      <a:pt x="413994" y="673710"/>
                      <a:pt x="266700" y="673710"/>
                    </a:cubicBezTo>
                    <a:cubicBezTo>
                      <a:pt x="119406" y="673710"/>
                      <a:pt x="0" y="522895"/>
                      <a:pt x="0" y="336855"/>
                    </a:cubicBezTo>
                    <a:cubicBezTo>
                      <a:pt x="0" y="150815"/>
                      <a:pt x="119406" y="0"/>
                      <a:pt x="266700" y="0"/>
                    </a:cubicBezTo>
                    <a:close/>
                  </a:path>
                </a:pathLst>
              </a:custGeom>
              <a:solidFill>
                <a:srgbClr val="B5121B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70" id="70"/>
              <p:cNvSpPr txBox="true"/>
              <p:nvPr/>
            </p:nvSpPr>
            <p:spPr>
              <a:xfrm>
                <a:off x="0" y="-38100"/>
                <a:ext cx="533400" cy="71181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520"/>
                  </a:lnSpc>
                </a:pPr>
                <a:r>
                  <a:rPr lang="en-US" sz="1800" b="true">
                    <a:solidFill>
                      <a:srgbClr val="FFFFFF"/>
                    </a:solidFill>
                    <a:latin typeface="Oswald Bold"/>
                    <a:ea typeface="Oswald Bold"/>
                    <a:cs typeface="Oswald Bold"/>
                    <a:sym typeface="Oswald Bold"/>
                  </a:rPr>
                  <a:t>✓</a:t>
                </a:r>
              </a:p>
            </p:txBody>
          </p:sp>
        </p:grpSp>
        <p:grpSp>
          <p:nvGrpSpPr>
            <p:cNvPr name="Group 71" id="71"/>
            <p:cNvGrpSpPr/>
            <p:nvPr/>
          </p:nvGrpSpPr>
          <p:grpSpPr>
            <a:xfrm rot="0">
              <a:off x="355600" y="1143000"/>
              <a:ext cx="4686300" cy="1778000"/>
              <a:chOff x="0" y="0"/>
              <a:chExt cx="4686300" cy="1778000"/>
            </a:xfrm>
          </p:grpSpPr>
          <p:sp>
            <p:nvSpPr>
              <p:cNvPr name="Freeform 72" id="72"/>
              <p:cNvSpPr/>
              <p:nvPr/>
            </p:nvSpPr>
            <p:spPr>
              <a:xfrm flipH="false" flipV="false" rot="0">
                <a:off x="0" y="0"/>
                <a:ext cx="4686300" cy="1778000"/>
              </a:xfrm>
              <a:custGeom>
                <a:avLst/>
                <a:gdLst/>
                <a:ahLst/>
                <a:cxnLst/>
                <a:rect r="r" b="b" t="t" l="l"/>
                <a:pathLst>
                  <a:path h="1778000" w="4686300">
                    <a:moveTo>
                      <a:pt x="0" y="0"/>
                    </a:moveTo>
                    <a:lnTo>
                      <a:pt x="4686300" y="0"/>
                    </a:lnTo>
                    <a:lnTo>
                      <a:pt x="4686300" y="1778000"/>
                    </a:lnTo>
                    <a:lnTo>
                      <a:pt x="0" y="1778000"/>
                    </a:lnTo>
                    <a:close/>
                  </a:path>
                </a:pathLst>
              </a:custGeom>
              <a:solidFill>
                <a:srgbClr val="1A1A1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73" id="73"/>
              <p:cNvSpPr txBox="true"/>
              <p:nvPr/>
            </p:nvSpPr>
            <p:spPr>
              <a:xfrm>
                <a:off x="0" y="-38100"/>
                <a:ext cx="4686300" cy="1816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AutoShape 74" id="74"/>
            <p:cNvSpPr/>
            <p:nvPr/>
          </p:nvSpPr>
          <p:spPr>
            <a:xfrm>
              <a:off x="762000" y="1397000"/>
              <a:ext cx="0" cy="1270000"/>
            </a:xfrm>
            <a:prstGeom prst="line">
              <a:avLst/>
            </a:prstGeom>
            <a:ln cap="flat" w="25400">
              <a:solidFill>
                <a:srgbClr val="55555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75" id="75"/>
            <p:cNvSpPr/>
            <p:nvPr/>
          </p:nvSpPr>
          <p:spPr>
            <a:xfrm>
              <a:off x="1730375" y="1397000"/>
              <a:ext cx="0" cy="1270000"/>
            </a:xfrm>
            <a:prstGeom prst="line">
              <a:avLst/>
            </a:prstGeom>
            <a:ln cap="flat" w="25400">
              <a:solidFill>
                <a:srgbClr val="55555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76" id="76"/>
            <p:cNvSpPr/>
            <p:nvPr/>
          </p:nvSpPr>
          <p:spPr>
            <a:xfrm>
              <a:off x="2698750" y="1397000"/>
              <a:ext cx="0" cy="1270000"/>
            </a:xfrm>
            <a:prstGeom prst="line">
              <a:avLst/>
            </a:prstGeom>
            <a:ln cap="flat" w="25400">
              <a:solidFill>
                <a:srgbClr val="55555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77" id="77"/>
            <p:cNvSpPr/>
            <p:nvPr/>
          </p:nvSpPr>
          <p:spPr>
            <a:xfrm>
              <a:off x="3667125" y="1397000"/>
              <a:ext cx="0" cy="1270000"/>
            </a:xfrm>
            <a:prstGeom prst="line">
              <a:avLst/>
            </a:prstGeom>
            <a:ln cap="flat" w="25400">
              <a:solidFill>
                <a:srgbClr val="55555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78" id="78"/>
            <p:cNvSpPr/>
            <p:nvPr/>
          </p:nvSpPr>
          <p:spPr>
            <a:xfrm>
              <a:off x="4635500" y="1397000"/>
              <a:ext cx="0" cy="1270000"/>
            </a:xfrm>
            <a:prstGeom prst="line">
              <a:avLst/>
            </a:prstGeom>
            <a:ln cap="flat" w="25400">
              <a:solidFill>
                <a:srgbClr val="555555"/>
              </a:solidFill>
              <a:prstDash val="solid"/>
              <a:headEnd type="none" len="sm" w="sm"/>
              <a:tailEnd type="none" len="sm" w="sm"/>
            </a:ln>
          </p:spPr>
        </p:sp>
      </p:grpSp>
      <p:grpSp>
        <p:nvGrpSpPr>
          <p:cNvPr name="Group 79" id="79"/>
          <p:cNvGrpSpPr/>
          <p:nvPr/>
        </p:nvGrpSpPr>
        <p:grpSpPr>
          <a:xfrm rot="0">
            <a:off x="9239250" y="2286000"/>
            <a:ext cx="4048125" cy="3048000"/>
            <a:chOff x="0" y="0"/>
            <a:chExt cx="5397500" cy="4064000"/>
          </a:xfrm>
        </p:grpSpPr>
        <p:grpSp>
          <p:nvGrpSpPr>
            <p:cNvPr name="Group 80" id="80"/>
            <p:cNvGrpSpPr/>
            <p:nvPr/>
          </p:nvGrpSpPr>
          <p:grpSpPr>
            <a:xfrm rot="0">
              <a:off x="0" y="0"/>
              <a:ext cx="5397500" cy="4064000"/>
              <a:chOff x="0" y="0"/>
              <a:chExt cx="5397500" cy="4064000"/>
            </a:xfrm>
          </p:grpSpPr>
          <p:sp>
            <p:nvSpPr>
              <p:cNvPr name="Freeform 81" id="81"/>
              <p:cNvSpPr/>
              <p:nvPr/>
            </p:nvSpPr>
            <p:spPr>
              <a:xfrm flipH="false" flipV="false" rot="0">
                <a:off x="0" y="0"/>
                <a:ext cx="5397500" cy="4064000"/>
              </a:xfrm>
              <a:custGeom>
                <a:avLst/>
                <a:gdLst/>
                <a:ahLst/>
                <a:cxnLst/>
                <a:rect r="r" b="b" t="t" l="l"/>
                <a:pathLst>
                  <a:path h="4064000" w="5397500">
                    <a:moveTo>
                      <a:pt x="0" y="0"/>
                    </a:moveTo>
                    <a:lnTo>
                      <a:pt x="5397500" y="0"/>
                    </a:lnTo>
                    <a:lnTo>
                      <a:pt x="5397500" y="4064000"/>
                    </a:lnTo>
                    <a:lnTo>
                      <a:pt x="0" y="40640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DDDDD"/>
                </a:solidFill>
                <a:prstDash val="solid"/>
                <a:miter/>
              </a:ln>
            </p:spPr>
          </p:sp>
          <p:sp>
            <p:nvSpPr>
              <p:cNvPr name="TextBox 82" id="82"/>
              <p:cNvSpPr txBox="true"/>
              <p:nvPr/>
            </p:nvSpPr>
            <p:spPr>
              <a:xfrm>
                <a:off x="0" y="-38100"/>
                <a:ext cx="5397500" cy="4102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grpSp>
          <p:nvGrpSpPr>
            <p:cNvPr name="Group 83" id="83"/>
            <p:cNvGrpSpPr/>
            <p:nvPr/>
          </p:nvGrpSpPr>
          <p:grpSpPr>
            <a:xfrm rot="0">
              <a:off x="0" y="0"/>
              <a:ext cx="76200" cy="4064000"/>
              <a:chOff x="0" y="0"/>
              <a:chExt cx="76200" cy="4064000"/>
            </a:xfrm>
          </p:grpSpPr>
          <p:sp>
            <p:nvSpPr>
              <p:cNvPr name="Freeform 84" id="84"/>
              <p:cNvSpPr/>
              <p:nvPr/>
            </p:nvSpPr>
            <p:spPr>
              <a:xfrm flipH="false" flipV="false" rot="0">
                <a:off x="0" y="0"/>
                <a:ext cx="76200" cy="4064000"/>
              </a:xfrm>
              <a:custGeom>
                <a:avLst/>
                <a:gdLst/>
                <a:ahLst/>
                <a:cxnLst/>
                <a:rect r="r" b="b" t="t" l="l"/>
                <a:pathLst>
                  <a:path h="4064000" w="76200">
                    <a:moveTo>
                      <a:pt x="0" y="0"/>
                    </a:moveTo>
                    <a:lnTo>
                      <a:pt x="76200" y="0"/>
                    </a:lnTo>
                    <a:lnTo>
                      <a:pt x="76200" y="4064000"/>
                    </a:lnTo>
                    <a:lnTo>
                      <a:pt x="0" y="4064000"/>
                    </a:lnTo>
                    <a:close/>
                  </a:path>
                </a:pathLst>
              </a:custGeom>
              <a:solidFill>
                <a:srgbClr val="B5121B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5" id="85"/>
              <p:cNvSpPr txBox="true"/>
              <p:nvPr/>
            </p:nvSpPr>
            <p:spPr>
              <a:xfrm>
                <a:off x="0" y="-38100"/>
                <a:ext cx="76200" cy="4102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grpSp>
          <p:nvGrpSpPr>
            <p:cNvPr name="Group 86" id="86"/>
            <p:cNvGrpSpPr/>
            <p:nvPr/>
          </p:nvGrpSpPr>
          <p:grpSpPr>
            <a:xfrm rot="0">
              <a:off x="4508500" y="355600"/>
              <a:ext cx="533400" cy="673710"/>
              <a:chOff x="0" y="0"/>
              <a:chExt cx="533400" cy="673710"/>
            </a:xfrm>
          </p:grpSpPr>
          <p:sp>
            <p:nvSpPr>
              <p:cNvPr name="Freeform 87" id="87"/>
              <p:cNvSpPr/>
              <p:nvPr/>
            </p:nvSpPr>
            <p:spPr>
              <a:xfrm flipH="false" flipV="false" rot="0">
                <a:off x="0" y="0"/>
                <a:ext cx="533400" cy="673710"/>
              </a:xfrm>
              <a:custGeom>
                <a:avLst/>
                <a:gdLst/>
                <a:ahLst/>
                <a:cxnLst/>
                <a:rect r="r" b="b" t="t" l="l"/>
                <a:pathLst>
                  <a:path h="673710" w="533400">
                    <a:moveTo>
                      <a:pt x="266700" y="0"/>
                    </a:moveTo>
                    <a:cubicBezTo>
                      <a:pt x="413994" y="0"/>
                      <a:pt x="533400" y="150815"/>
                      <a:pt x="533400" y="336855"/>
                    </a:cubicBezTo>
                    <a:cubicBezTo>
                      <a:pt x="533400" y="522895"/>
                      <a:pt x="413994" y="673710"/>
                      <a:pt x="266700" y="673710"/>
                    </a:cubicBezTo>
                    <a:cubicBezTo>
                      <a:pt x="119406" y="673710"/>
                      <a:pt x="0" y="522895"/>
                      <a:pt x="0" y="336855"/>
                    </a:cubicBezTo>
                    <a:cubicBezTo>
                      <a:pt x="0" y="150815"/>
                      <a:pt x="119406" y="0"/>
                      <a:pt x="266700" y="0"/>
                    </a:cubicBezTo>
                    <a:close/>
                  </a:path>
                </a:pathLst>
              </a:custGeom>
              <a:solidFill>
                <a:srgbClr val="B5121B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8" id="88"/>
              <p:cNvSpPr txBox="true"/>
              <p:nvPr/>
            </p:nvSpPr>
            <p:spPr>
              <a:xfrm>
                <a:off x="0" y="-38100"/>
                <a:ext cx="533400" cy="71181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520"/>
                  </a:lnSpc>
                </a:pPr>
                <a:r>
                  <a:rPr lang="en-US" sz="1800" b="true">
                    <a:solidFill>
                      <a:srgbClr val="FFFFFF"/>
                    </a:solidFill>
                    <a:latin typeface="Oswald Bold"/>
                    <a:ea typeface="Oswald Bold"/>
                    <a:cs typeface="Oswald Bold"/>
                    <a:sym typeface="Oswald Bold"/>
                  </a:rPr>
                  <a:t>✓</a:t>
                </a:r>
              </a:p>
            </p:txBody>
          </p:sp>
        </p:grpSp>
        <p:grpSp>
          <p:nvGrpSpPr>
            <p:cNvPr name="Group 89" id="89"/>
            <p:cNvGrpSpPr/>
            <p:nvPr/>
          </p:nvGrpSpPr>
          <p:grpSpPr>
            <a:xfrm rot="0">
              <a:off x="355600" y="1143000"/>
              <a:ext cx="4686300" cy="1778000"/>
              <a:chOff x="0" y="0"/>
              <a:chExt cx="4686300" cy="1778000"/>
            </a:xfrm>
          </p:grpSpPr>
          <p:sp>
            <p:nvSpPr>
              <p:cNvPr name="Freeform 90" id="90"/>
              <p:cNvSpPr/>
              <p:nvPr/>
            </p:nvSpPr>
            <p:spPr>
              <a:xfrm flipH="false" flipV="false" rot="0">
                <a:off x="0" y="0"/>
                <a:ext cx="4686300" cy="1778000"/>
              </a:xfrm>
              <a:custGeom>
                <a:avLst/>
                <a:gdLst/>
                <a:ahLst/>
                <a:cxnLst/>
                <a:rect r="r" b="b" t="t" l="l"/>
                <a:pathLst>
                  <a:path h="1778000" w="4686300">
                    <a:moveTo>
                      <a:pt x="0" y="0"/>
                    </a:moveTo>
                    <a:lnTo>
                      <a:pt x="4686300" y="0"/>
                    </a:lnTo>
                    <a:lnTo>
                      <a:pt x="4686300" y="1778000"/>
                    </a:lnTo>
                    <a:lnTo>
                      <a:pt x="0" y="1778000"/>
                    </a:lnTo>
                    <a:close/>
                  </a:path>
                </a:pathLst>
              </a:custGeom>
              <a:solidFill>
                <a:srgbClr val="1A1A1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91" id="91"/>
              <p:cNvSpPr txBox="true"/>
              <p:nvPr/>
            </p:nvSpPr>
            <p:spPr>
              <a:xfrm>
                <a:off x="0" y="-38100"/>
                <a:ext cx="4686300" cy="1816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AutoShape 92" id="92"/>
            <p:cNvSpPr/>
            <p:nvPr/>
          </p:nvSpPr>
          <p:spPr>
            <a:xfrm>
              <a:off x="762000" y="1397000"/>
              <a:ext cx="0" cy="1270000"/>
            </a:xfrm>
            <a:prstGeom prst="line">
              <a:avLst/>
            </a:prstGeom>
            <a:ln cap="flat" w="25400">
              <a:solidFill>
                <a:srgbClr val="55555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93" id="93"/>
            <p:cNvSpPr/>
            <p:nvPr/>
          </p:nvSpPr>
          <p:spPr>
            <a:xfrm>
              <a:off x="1730375" y="1397000"/>
              <a:ext cx="0" cy="1270000"/>
            </a:xfrm>
            <a:prstGeom prst="line">
              <a:avLst/>
            </a:prstGeom>
            <a:ln cap="flat" w="25400">
              <a:solidFill>
                <a:srgbClr val="55555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94" id="94"/>
            <p:cNvSpPr/>
            <p:nvPr/>
          </p:nvSpPr>
          <p:spPr>
            <a:xfrm>
              <a:off x="2698750" y="1397000"/>
              <a:ext cx="0" cy="1270000"/>
            </a:xfrm>
            <a:prstGeom prst="line">
              <a:avLst/>
            </a:prstGeom>
            <a:ln cap="flat" w="25400">
              <a:solidFill>
                <a:srgbClr val="55555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95" id="95"/>
            <p:cNvSpPr/>
            <p:nvPr/>
          </p:nvSpPr>
          <p:spPr>
            <a:xfrm>
              <a:off x="3667125" y="1397000"/>
              <a:ext cx="0" cy="1270000"/>
            </a:xfrm>
            <a:prstGeom prst="line">
              <a:avLst/>
            </a:prstGeom>
            <a:ln cap="flat" w="25400">
              <a:solidFill>
                <a:srgbClr val="55555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96" id="96"/>
            <p:cNvSpPr/>
            <p:nvPr/>
          </p:nvSpPr>
          <p:spPr>
            <a:xfrm>
              <a:off x="4635500" y="1397000"/>
              <a:ext cx="0" cy="1270000"/>
            </a:xfrm>
            <a:prstGeom prst="line">
              <a:avLst/>
            </a:prstGeom>
            <a:ln cap="flat" w="25400">
              <a:solidFill>
                <a:srgbClr val="555555"/>
              </a:solidFill>
              <a:prstDash val="solid"/>
              <a:headEnd type="none" len="sm" w="sm"/>
              <a:tailEnd type="none" len="sm" w="sm"/>
            </a:ln>
          </p:spPr>
        </p:sp>
      </p:grpSp>
      <p:grpSp>
        <p:nvGrpSpPr>
          <p:cNvPr name="Group 97" id="97"/>
          <p:cNvGrpSpPr/>
          <p:nvPr/>
        </p:nvGrpSpPr>
        <p:grpSpPr>
          <a:xfrm rot="0">
            <a:off x="13477875" y="2286000"/>
            <a:ext cx="4048125" cy="3048000"/>
            <a:chOff x="0" y="0"/>
            <a:chExt cx="5397500" cy="4064000"/>
          </a:xfrm>
        </p:grpSpPr>
        <p:grpSp>
          <p:nvGrpSpPr>
            <p:cNvPr name="Group 98" id="98"/>
            <p:cNvGrpSpPr/>
            <p:nvPr/>
          </p:nvGrpSpPr>
          <p:grpSpPr>
            <a:xfrm rot="0">
              <a:off x="0" y="0"/>
              <a:ext cx="5397500" cy="4064000"/>
              <a:chOff x="0" y="0"/>
              <a:chExt cx="5397500" cy="4064000"/>
            </a:xfrm>
          </p:grpSpPr>
          <p:sp>
            <p:nvSpPr>
              <p:cNvPr name="Freeform 99" id="99"/>
              <p:cNvSpPr/>
              <p:nvPr/>
            </p:nvSpPr>
            <p:spPr>
              <a:xfrm flipH="false" flipV="false" rot="0">
                <a:off x="0" y="0"/>
                <a:ext cx="5397500" cy="4064000"/>
              </a:xfrm>
              <a:custGeom>
                <a:avLst/>
                <a:gdLst/>
                <a:ahLst/>
                <a:cxnLst/>
                <a:rect r="r" b="b" t="t" l="l"/>
                <a:pathLst>
                  <a:path h="4064000" w="5397500">
                    <a:moveTo>
                      <a:pt x="0" y="0"/>
                    </a:moveTo>
                    <a:lnTo>
                      <a:pt x="5397500" y="0"/>
                    </a:lnTo>
                    <a:lnTo>
                      <a:pt x="5397500" y="4064000"/>
                    </a:lnTo>
                    <a:lnTo>
                      <a:pt x="0" y="40640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DDDDD"/>
                </a:solidFill>
                <a:prstDash val="solid"/>
                <a:miter/>
              </a:ln>
            </p:spPr>
          </p:sp>
          <p:sp>
            <p:nvSpPr>
              <p:cNvPr name="TextBox 100" id="100"/>
              <p:cNvSpPr txBox="true"/>
              <p:nvPr/>
            </p:nvSpPr>
            <p:spPr>
              <a:xfrm>
                <a:off x="0" y="-38100"/>
                <a:ext cx="5397500" cy="4102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grpSp>
          <p:nvGrpSpPr>
            <p:cNvPr name="Group 101" id="101"/>
            <p:cNvGrpSpPr/>
            <p:nvPr/>
          </p:nvGrpSpPr>
          <p:grpSpPr>
            <a:xfrm rot="0">
              <a:off x="0" y="0"/>
              <a:ext cx="76200" cy="4064000"/>
              <a:chOff x="0" y="0"/>
              <a:chExt cx="76200" cy="4064000"/>
            </a:xfrm>
          </p:grpSpPr>
          <p:sp>
            <p:nvSpPr>
              <p:cNvPr name="Freeform 102" id="102"/>
              <p:cNvSpPr/>
              <p:nvPr/>
            </p:nvSpPr>
            <p:spPr>
              <a:xfrm flipH="false" flipV="false" rot="0">
                <a:off x="0" y="0"/>
                <a:ext cx="76200" cy="4064000"/>
              </a:xfrm>
              <a:custGeom>
                <a:avLst/>
                <a:gdLst/>
                <a:ahLst/>
                <a:cxnLst/>
                <a:rect r="r" b="b" t="t" l="l"/>
                <a:pathLst>
                  <a:path h="4064000" w="76200">
                    <a:moveTo>
                      <a:pt x="0" y="0"/>
                    </a:moveTo>
                    <a:lnTo>
                      <a:pt x="76200" y="0"/>
                    </a:lnTo>
                    <a:lnTo>
                      <a:pt x="76200" y="4064000"/>
                    </a:lnTo>
                    <a:lnTo>
                      <a:pt x="0" y="4064000"/>
                    </a:lnTo>
                    <a:close/>
                  </a:path>
                </a:pathLst>
              </a:custGeom>
              <a:solidFill>
                <a:srgbClr val="B5121B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03" id="103"/>
              <p:cNvSpPr txBox="true"/>
              <p:nvPr/>
            </p:nvSpPr>
            <p:spPr>
              <a:xfrm>
                <a:off x="0" y="-38100"/>
                <a:ext cx="76200" cy="4102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grpSp>
          <p:nvGrpSpPr>
            <p:cNvPr name="Group 104" id="104"/>
            <p:cNvGrpSpPr/>
            <p:nvPr/>
          </p:nvGrpSpPr>
          <p:grpSpPr>
            <a:xfrm rot="0">
              <a:off x="4508500" y="355600"/>
              <a:ext cx="533400" cy="673710"/>
              <a:chOff x="0" y="0"/>
              <a:chExt cx="533400" cy="673710"/>
            </a:xfrm>
          </p:grpSpPr>
          <p:sp>
            <p:nvSpPr>
              <p:cNvPr name="Freeform 105" id="105"/>
              <p:cNvSpPr/>
              <p:nvPr/>
            </p:nvSpPr>
            <p:spPr>
              <a:xfrm flipH="false" flipV="false" rot="0">
                <a:off x="0" y="0"/>
                <a:ext cx="533400" cy="673710"/>
              </a:xfrm>
              <a:custGeom>
                <a:avLst/>
                <a:gdLst/>
                <a:ahLst/>
                <a:cxnLst/>
                <a:rect r="r" b="b" t="t" l="l"/>
                <a:pathLst>
                  <a:path h="673710" w="533400">
                    <a:moveTo>
                      <a:pt x="266700" y="0"/>
                    </a:moveTo>
                    <a:cubicBezTo>
                      <a:pt x="413994" y="0"/>
                      <a:pt x="533400" y="150815"/>
                      <a:pt x="533400" y="336855"/>
                    </a:cubicBezTo>
                    <a:cubicBezTo>
                      <a:pt x="533400" y="522895"/>
                      <a:pt x="413994" y="673710"/>
                      <a:pt x="266700" y="673710"/>
                    </a:cubicBezTo>
                    <a:cubicBezTo>
                      <a:pt x="119406" y="673710"/>
                      <a:pt x="0" y="522895"/>
                      <a:pt x="0" y="336855"/>
                    </a:cubicBezTo>
                    <a:cubicBezTo>
                      <a:pt x="0" y="150815"/>
                      <a:pt x="119406" y="0"/>
                      <a:pt x="266700" y="0"/>
                    </a:cubicBezTo>
                    <a:close/>
                  </a:path>
                </a:pathLst>
              </a:custGeom>
              <a:solidFill>
                <a:srgbClr val="B5121B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06" id="106"/>
              <p:cNvSpPr txBox="true"/>
              <p:nvPr/>
            </p:nvSpPr>
            <p:spPr>
              <a:xfrm>
                <a:off x="0" y="-38100"/>
                <a:ext cx="533400" cy="71181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520"/>
                  </a:lnSpc>
                </a:pPr>
                <a:r>
                  <a:rPr lang="en-US" sz="1800" b="true">
                    <a:solidFill>
                      <a:srgbClr val="FFFFFF"/>
                    </a:solidFill>
                    <a:latin typeface="Oswald Bold"/>
                    <a:ea typeface="Oswald Bold"/>
                    <a:cs typeface="Oswald Bold"/>
                    <a:sym typeface="Oswald Bold"/>
                  </a:rPr>
                  <a:t>✓</a:t>
                </a:r>
              </a:p>
            </p:txBody>
          </p:sp>
        </p:grpSp>
        <p:grpSp>
          <p:nvGrpSpPr>
            <p:cNvPr name="Group 107" id="107"/>
            <p:cNvGrpSpPr/>
            <p:nvPr/>
          </p:nvGrpSpPr>
          <p:grpSpPr>
            <a:xfrm rot="0">
              <a:off x="355600" y="1143000"/>
              <a:ext cx="4686300" cy="1778000"/>
              <a:chOff x="0" y="0"/>
              <a:chExt cx="4686300" cy="1778000"/>
            </a:xfrm>
          </p:grpSpPr>
          <p:sp>
            <p:nvSpPr>
              <p:cNvPr name="Freeform 108" id="108"/>
              <p:cNvSpPr/>
              <p:nvPr/>
            </p:nvSpPr>
            <p:spPr>
              <a:xfrm flipH="false" flipV="false" rot="0">
                <a:off x="0" y="0"/>
                <a:ext cx="4686300" cy="1778000"/>
              </a:xfrm>
              <a:custGeom>
                <a:avLst/>
                <a:gdLst/>
                <a:ahLst/>
                <a:cxnLst/>
                <a:rect r="r" b="b" t="t" l="l"/>
                <a:pathLst>
                  <a:path h="1778000" w="4686300">
                    <a:moveTo>
                      <a:pt x="0" y="0"/>
                    </a:moveTo>
                    <a:lnTo>
                      <a:pt x="4686300" y="0"/>
                    </a:lnTo>
                    <a:lnTo>
                      <a:pt x="4686300" y="1778000"/>
                    </a:lnTo>
                    <a:lnTo>
                      <a:pt x="0" y="1778000"/>
                    </a:lnTo>
                    <a:close/>
                  </a:path>
                </a:pathLst>
              </a:custGeom>
              <a:solidFill>
                <a:srgbClr val="1A1A1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09" id="109"/>
              <p:cNvSpPr txBox="true"/>
              <p:nvPr/>
            </p:nvSpPr>
            <p:spPr>
              <a:xfrm>
                <a:off x="0" y="-38100"/>
                <a:ext cx="4686300" cy="1816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AutoShape 110" id="110"/>
            <p:cNvSpPr/>
            <p:nvPr/>
          </p:nvSpPr>
          <p:spPr>
            <a:xfrm>
              <a:off x="762000" y="1397000"/>
              <a:ext cx="0" cy="1270000"/>
            </a:xfrm>
            <a:prstGeom prst="line">
              <a:avLst/>
            </a:prstGeom>
            <a:ln cap="flat" w="25400">
              <a:solidFill>
                <a:srgbClr val="55555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11" id="111"/>
            <p:cNvSpPr/>
            <p:nvPr/>
          </p:nvSpPr>
          <p:spPr>
            <a:xfrm>
              <a:off x="1730375" y="1397000"/>
              <a:ext cx="0" cy="1270000"/>
            </a:xfrm>
            <a:prstGeom prst="line">
              <a:avLst/>
            </a:prstGeom>
            <a:ln cap="flat" w="25400">
              <a:solidFill>
                <a:srgbClr val="55555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12" id="112"/>
            <p:cNvSpPr/>
            <p:nvPr/>
          </p:nvSpPr>
          <p:spPr>
            <a:xfrm>
              <a:off x="2698750" y="1397000"/>
              <a:ext cx="0" cy="1270000"/>
            </a:xfrm>
            <a:prstGeom prst="line">
              <a:avLst/>
            </a:prstGeom>
            <a:ln cap="flat" w="25400">
              <a:solidFill>
                <a:srgbClr val="55555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13" id="113"/>
            <p:cNvSpPr/>
            <p:nvPr/>
          </p:nvSpPr>
          <p:spPr>
            <a:xfrm>
              <a:off x="3667125" y="1397000"/>
              <a:ext cx="0" cy="1270000"/>
            </a:xfrm>
            <a:prstGeom prst="line">
              <a:avLst/>
            </a:prstGeom>
            <a:ln cap="flat" w="25400">
              <a:solidFill>
                <a:srgbClr val="55555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14" id="114"/>
            <p:cNvSpPr/>
            <p:nvPr/>
          </p:nvSpPr>
          <p:spPr>
            <a:xfrm>
              <a:off x="4635500" y="1397000"/>
              <a:ext cx="0" cy="1270000"/>
            </a:xfrm>
            <a:prstGeom prst="line">
              <a:avLst/>
            </a:prstGeom>
            <a:ln cap="flat" w="25400">
              <a:solidFill>
                <a:srgbClr val="555555"/>
              </a:solidFill>
              <a:prstDash val="solid"/>
              <a:headEnd type="none" len="sm" w="sm"/>
              <a:tailEnd type="none" len="sm" w="sm"/>
            </a:ln>
          </p:spPr>
        </p:sp>
      </p:grpSp>
      <p:grpSp>
        <p:nvGrpSpPr>
          <p:cNvPr name="Group 115" id="115"/>
          <p:cNvGrpSpPr/>
          <p:nvPr/>
        </p:nvGrpSpPr>
        <p:grpSpPr>
          <a:xfrm rot="0">
            <a:off x="762000" y="5524500"/>
            <a:ext cx="4048125" cy="3048000"/>
            <a:chOff x="0" y="0"/>
            <a:chExt cx="5397500" cy="4064000"/>
          </a:xfrm>
        </p:grpSpPr>
        <p:grpSp>
          <p:nvGrpSpPr>
            <p:cNvPr name="Group 116" id="116"/>
            <p:cNvGrpSpPr/>
            <p:nvPr/>
          </p:nvGrpSpPr>
          <p:grpSpPr>
            <a:xfrm rot="0">
              <a:off x="0" y="0"/>
              <a:ext cx="5397500" cy="4064000"/>
              <a:chOff x="0" y="0"/>
              <a:chExt cx="5397500" cy="4064000"/>
            </a:xfrm>
          </p:grpSpPr>
          <p:sp>
            <p:nvSpPr>
              <p:cNvPr name="Freeform 117" id="117"/>
              <p:cNvSpPr/>
              <p:nvPr/>
            </p:nvSpPr>
            <p:spPr>
              <a:xfrm flipH="false" flipV="false" rot="0">
                <a:off x="0" y="0"/>
                <a:ext cx="5397500" cy="4064000"/>
              </a:xfrm>
              <a:custGeom>
                <a:avLst/>
                <a:gdLst/>
                <a:ahLst/>
                <a:cxnLst/>
                <a:rect r="r" b="b" t="t" l="l"/>
                <a:pathLst>
                  <a:path h="4064000" w="5397500">
                    <a:moveTo>
                      <a:pt x="0" y="0"/>
                    </a:moveTo>
                    <a:lnTo>
                      <a:pt x="5397500" y="0"/>
                    </a:lnTo>
                    <a:lnTo>
                      <a:pt x="5397500" y="4064000"/>
                    </a:lnTo>
                    <a:lnTo>
                      <a:pt x="0" y="40640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DDDDD"/>
                </a:solidFill>
                <a:prstDash val="solid"/>
                <a:miter/>
              </a:ln>
            </p:spPr>
          </p:sp>
          <p:sp>
            <p:nvSpPr>
              <p:cNvPr name="TextBox 118" id="118"/>
              <p:cNvSpPr txBox="true"/>
              <p:nvPr/>
            </p:nvSpPr>
            <p:spPr>
              <a:xfrm>
                <a:off x="0" y="-38100"/>
                <a:ext cx="5397500" cy="4102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grpSp>
          <p:nvGrpSpPr>
            <p:cNvPr name="Group 119" id="119"/>
            <p:cNvGrpSpPr/>
            <p:nvPr/>
          </p:nvGrpSpPr>
          <p:grpSpPr>
            <a:xfrm rot="0">
              <a:off x="0" y="0"/>
              <a:ext cx="76200" cy="4064000"/>
              <a:chOff x="0" y="0"/>
              <a:chExt cx="76200" cy="4064000"/>
            </a:xfrm>
          </p:grpSpPr>
          <p:sp>
            <p:nvSpPr>
              <p:cNvPr name="Freeform 120" id="120"/>
              <p:cNvSpPr/>
              <p:nvPr/>
            </p:nvSpPr>
            <p:spPr>
              <a:xfrm flipH="false" flipV="false" rot="0">
                <a:off x="0" y="0"/>
                <a:ext cx="76200" cy="4064000"/>
              </a:xfrm>
              <a:custGeom>
                <a:avLst/>
                <a:gdLst/>
                <a:ahLst/>
                <a:cxnLst/>
                <a:rect r="r" b="b" t="t" l="l"/>
                <a:pathLst>
                  <a:path h="4064000" w="76200">
                    <a:moveTo>
                      <a:pt x="0" y="0"/>
                    </a:moveTo>
                    <a:lnTo>
                      <a:pt x="76200" y="0"/>
                    </a:lnTo>
                    <a:lnTo>
                      <a:pt x="76200" y="4064000"/>
                    </a:lnTo>
                    <a:lnTo>
                      <a:pt x="0" y="4064000"/>
                    </a:lnTo>
                    <a:close/>
                  </a:path>
                </a:pathLst>
              </a:custGeom>
              <a:solidFill>
                <a:srgbClr val="B5121B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21" id="121"/>
              <p:cNvSpPr txBox="true"/>
              <p:nvPr/>
            </p:nvSpPr>
            <p:spPr>
              <a:xfrm>
                <a:off x="0" y="-38100"/>
                <a:ext cx="76200" cy="4102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grpSp>
          <p:nvGrpSpPr>
            <p:cNvPr name="Group 122" id="122"/>
            <p:cNvGrpSpPr/>
            <p:nvPr/>
          </p:nvGrpSpPr>
          <p:grpSpPr>
            <a:xfrm rot="0">
              <a:off x="4508500" y="355600"/>
              <a:ext cx="533400" cy="673710"/>
              <a:chOff x="0" y="0"/>
              <a:chExt cx="533400" cy="673710"/>
            </a:xfrm>
          </p:grpSpPr>
          <p:sp>
            <p:nvSpPr>
              <p:cNvPr name="Freeform 123" id="123"/>
              <p:cNvSpPr/>
              <p:nvPr/>
            </p:nvSpPr>
            <p:spPr>
              <a:xfrm flipH="false" flipV="false" rot="0">
                <a:off x="0" y="0"/>
                <a:ext cx="533400" cy="673710"/>
              </a:xfrm>
              <a:custGeom>
                <a:avLst/>
                <a:gdLst/>
                <a:ahLst/>
                <a:cxnLst/>
                <a:rect r="r" b="b" t="t" l="l"/>
                <a:pathLst>
                  <a:path h="673710" w="533400">
                    <a:moveTo>
                      <a:pt x="266700" y="0"/>
                    </a:moveTo>
                    <a:cubicBezTo>
                      <a:pt x="413994" y="0"/>
                      <a:pt x="533400" y="150815"/>
                      <a:pt x="533400" y="336855"/>
                    </a:cubicBezTo>
                    <a:cubicBezTo>
                      <a:pt x="533400" y="522895"/>
                      <a:pt x="413994" y="673710"/>
                      <a:pt x="266700" y="673710"/>
                    </a:cubicBezTo>
                    <a:cubicBezTo>
                      <a:pt x="119406" y="673710"/>
                      <a:pt x="0" y="522895"/>
                      <a:pt x="0" y="336855"/>
                    </a:cubicBezTo>
                    <a:cubicBezTo>
                      <a:pt x="0" y="150815"/>
                      <a:pt x="119406" y="0"/>
                      <a:pt x="266700" y="0"/>
                    </a:cubicBezTo>
                    <a:close/>
                  </a:path>
                </a:pathLst>
              </a:custGeom>
              <a:solidFill>
                <a:srgbClr val="B5121B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24" id="124"/>
              <p:cNvSpPr txBox="true"/>
              <p:nvPr/>
            </p:nvSpPr>
            <p:spPr>
              <a:xfrm>
                <a:off x="0" y="-38100"/>
                <a:ext cx="533400" cy="71181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520"/>
                  </a:lnSpc>
                </a:pPr>
                <a:r>
                  <a:rPr lang="en-US" sz="1800" b="true">
                    <a:solidFill>
                      <a:srgbClr val="FFFFFF"/>
                    </a:solidFill>
                    <a:latin typeface="Oswald Bold"/>
                    <a:ea typeface="Oswald Bold"/>
                    <a:cs typeface="Oswald Bold"/>
                    <a:sym typeface="Oswald Bold"/>
                  </a:rPr>
                  <a:t>✓</a:t>
                </a:r>
              </a:p>
            </p:txBody>
          </p:sp>
        </p:grpSp>
        <p:grpSp>
          <p:nvGrpSpPr>
            <p:cNvPr name="Group 125" id="125"/>
            <p:cNvGrpSpPr/>
            <p:nvPr/>
          </p:nvGrpSpPr>
          <p:grpSpPr>
            <a:xfrm rot="0">
              <a:off x="355600" y="1143000"/>
              <a:ext cx="4686300" cy="1778000"/>
              <a:chOff x="0" y="0"/>
              <a:chExt cx="4686300" cy="1778000"/>
            </a:xfrm>
          </p:grpSpPr>
          <p:sp>
            <p:nvSpPr>
              <p:cNvPr name="Freeform 126" id="126"/>
              <p:cNvSpPr/>
              <p:nvPr/>
            </p:nvSpPr>
            <p:spPr>
              <a:xfrm flipH="false" flipV="false" rot="0">
                <a:off x="0" y="0"/>
                <a:ext cx="4686300" cy="1778000"/>
              </a:xfrm>
              <a:custGeom>
                <a:avLst/>
                <a:gdLst/>
                <a:ahLst/>
                <a:cxnLst/>
                <a:rect r="r" b="b" t="t" l="l"/>
                <a:pathLst>
                  <a:path h="1778000" w="4686300">
                    <a:moveTo>
                      <a:pt x="0" y="0"/>
                    </a:moveTo>
                    <a:lnTo>
                      <a:pt x="4686300" y="0"/>
                    </a:lnTo>
                    <a:lnTo>
                      <a:pt x="4686300" y="1778000"/>
                    </a:lnTo>
                    <a:lnTo>
                      <a:pt x="0" y="1778000"/>
                    </a:lnTo>
                    <a:close/>
                  </a:path>
                </a:pathLst>
              </a:custGeom>
              <a:solidFill>
                <a:srgbClr val="1A1A1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27" id="127"/>
              <p:cNvSpPr txBox="true"/>
              <p:nvPr/>
            </p:nvSpPr>
            <p:spPr>
              <a:xfrm>
                <a:off x="0" y="-38100"/>
                <a:ext cx="4686300" cy="1816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AutoShape 128" id="128"/>
            <p:cNvSpPr/>
            <p:nvPr/>
          </p:nvSpPr>
          <p:spPr>
            <a:xfrm>
              <a:off x="762000" y="1397000"/>
              <a:ext cx="0" cy="1270000"/>
            </a:xfrm>
            <a:prstGeom prst="line">
              <a:avLst/>
            </a:prstGeom>
            <a:ln cap="flat" w="25400">
              <a:solidFill>
                <a:srgbClr val="55555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29" id="129"/>
            <p:cNvSpPr/>
            <p:nvPr/>
          </p:nvSpPr>
          <p:spPr>
            <a:xfrm>
              <a:off x="1730375" y="1397000"/>
              <a:ext cx="0" cy="1270000"/>
            </a:xfrm>
            <a:prstGeom prst="line">
              <a:avLst/>
            </a:prstGeom>
            <a:ln cap="flat" w="25400">
              <a:solidFill>
                <a:srgbClr val="55555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30" id="130"/>
            <p:cNvSpPr/>
            <p:nvPr/>
          </p:nvSpPr>
          <p:spPr>
            <a:xfrm>
              <a:off x="2698750" y="1397000"/>
              <a:ext cx="0" cy="1270000"/>
            </a:xfrm>
            <a:prstGeom prst="line">
              <a:avLst/>
            </a:prstGeom>
            <a:ln cap="flat" w="25400">
              <a:solidFill>
                <a:srgbClr val="55555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31" id="131"/>
            <p:cNvSpPr/>
            <p:nvPr/>
          </p:nvSpPr>
          <p:spPr>
            <a:xfrm>
              <a:off x="3667125" y="1397000"/>
              <a:ext cx="0" cy="1270000"/>
            </a:xfrm>
            <a:prstGeom prst="line">
              <a:avLst/>
            </a:prstGeom>
            <a:ln cap="flat" w="25400">
              <a:solidFill>
                <a:srgbClr val="55555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32" id="132"/>
            <p:cNvSpPr/>
            <p:nvPr/>
          </p:nvSpPr>
          <p:spPr>
            <a:xfrm>
              <a:off x="4635500" y="1397000"/>
              <a:ext cx="0" cy="1270000"/>
            </a:xfrm>
            <a:prstGeom prst="line">
              <a:avLst/>
            </a:prstGeom>
            <a:ln cap="flat" w="25400">
              <a:solidFill>
                <a:srgbClr val="555555"/>
              </a:solidFill>
              <a:prstDash val="solid"/>
              <a:headEnd type="none" len="sm" w="sm"/>
              <a:tailEnd type="none" len="sm" w="sm"/>
            </a:ln>
          </p:spPr>
        </p:sp>
      </p:grpSp>
      <p:grpSp>
        <p:nvGrpSpPr>
          <p:cNvPr name="Group 133" id="133"/>
          <p:cNvGrpSpPr/>
          <p:nvPr/>
        </p:nvGrpSpPr>
        <p:grpSpPr>
          <a:xfrm rot="0">
            <a:off x="5000625" y="5524500"/>
            <a:ext cx="4048125" cy="3048000"/>
            <a:chOff x="0" y="0"/>
            <a:chExt cx="5397500" cy="4064000"/>
          </a:xfrm>
        </p:grpSpPr>
        <p:grpSp>
          <p:nvGrpSpPr>
            <p:cNvPr name="Group 134" id="134"/>
            <p:cNvGrpSpPr/>
            <p:nvPr/>
          </p:nvGrpSpPr>
          <p:grpSpPr>
            <a:xfrm rot="0">
              <a:off x="0" y="0"/>
              <a:ext cx="5397500" cy="4064000"/>
              <a:chOff x="0" y="0"/>
              <a:chExt cx="5397500" cy="4064000"/>
            </a:xfrm>
          </p:grpSpPr>
          <p:sp>
            <p:nvSpPr>
              <p:cNvPr name="Freeform 135" id="135"/>
              <p:cNvSpPr/>
              <p:nvPr/>
            </p:nvSpPr>
            <p:spPr>
              <a:xfrm flipH="false" flipV="false" rot="0">
                <a:off x="0" y="0"/>
                <a:ext cx="5397500" cy="4064000"/>
              </a:xfrm>
              <a:custGeom>
                <a:avLst/>
                <a:gdLst/>
                <a:ahLst/>
                <a:cxnLst/>
                <a:rect r="r" b="b" t="t" l="l"/>
                <a:pathLst>
                  <a:path h="4064000" w="5397500">
                    <a:moveTo>
                      <a:pt x="0" y="0"/>
                    </a:moveTo>
                    <a:lnTo>
                      <a:pt x="5397500" y="0"/>
                    </a:lnTo>
                    <a:lnTo>
                      <a:pt x="5397500" y="4064000"/>
                    </a:lnTo>
                    <a:lnTo>
                      <a:pt x="0" y="40640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DDDDD"/>
                </a:solidFill>
                <a:prstDash val="solid"/>
                <a:miter/>
              </a:ln>
            </p:spPr>
          </p:sp>
          <p:sp>
            <p:nvSpPr>
              <p:cNvPr name="TextBox 136" id="136"/>
              <p:cNvSpPr txBox="true"/>
              <p:nvPr/>
            </p:nvSpPr>
            <p:spPr>
              <a:xfrm>
                <a:off x="0" y="-38100"/>
                <a:ext cx="5397500" cy="4102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grpSp>
          <p:nvGrpSpPr>
            <p:cNvPr name="Group 137" id="137"/>
            <p:cNvGrpSpPr/>
            <p:nvPr/>
          </p:nvGrpSpPr>
          <p:grpSpPr>
            <a:xfrm rot="0">
              <a:off x="0" y="0"/>
              <a:ext cx="76200" cy="4064000"/>
              <a:chOff x="0" y="0"/>
              <a:chExt cx="76200" cy="4064000"/>
            </a:xfrm>
          </p:grpSpPr>
          <p:sp>
            <p:nvSpPr>
              <p:cNvPr name="Freeform 138" id="138"/>
              <p:cNvSpPr/>
              <p:nvPr/>
            </p:nvSpPr>
            <p:spPr>
              <a:xfrm flipH="false" flipV="false" rot="0">
                <a:off x="0" y="0"/>
                <a:ext cx="76200" cy="4064000"/>
              </a:xfrm>
              <a:custGeom>
                <a:avLst/>
                <a:gdLst/>
                <a:ahLst/>
                <a:cxnLst/>
                <a:rect r="r" b="b" t="t" l="l"/>
                <a:pathLst>
                  <a:path h="4064000" w="76200">
                    <a:moveTo>
                      <a:pt x="0" y="0"/>
                    </a:moveTo>
                    <a:lnTo>
                      <a:pt x="76200" y="0"/>
                    </a:lnTo>
                    <a:lnTo>
                      <a:pt x="76200" y="4064000"/>
                    </a:lnTo>
                    <a:lnTo>
                      <a:pt x="0" y="4064000"/>
                    </a:lnTo>
                    <a:close/>
                  </a:path>
                </a:pathLst>
              </a:custGeom>
              <a:solidFill>
                <a:srgbClr val="B5121B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39" id="139"/>
              <p:cNvSpPr txBox="true"/>
              <p:nvPr/>
            </p:nvSpPr>
            <p:spPr>
              <a:xfrm>
                <a:off x="0" y="-38100"/>
                <a:ext cx="76200" cy="4102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grpSp>
          <p:nvGrpSpPr>
            <p:cNvPr name="Group 140" id="140"/>
            <p:cNvGrpSpPr/>
            <p:nvPr/>
          </p:nvGrpSpPr>
          <p:grpSpPr>
            <a:xfrm rot="0">
              <a:off x="4508500" y="355600"/>
              <a:ext cx="533400" cy="673710"/>
              <a:chOff x="0" y="0"/>
              <a:chExt cx="533400" cy="673710"/>
            </a:xfrm>
          </p:grpSpPr>
          <p:sp>
            <p:nvSpPr>
              <p:cNvPr name="Freeform 141" id="141"/>
              <p:cNvSpPr/>
              <p:nvPr/>
            </p:nvSpPr>
            <p:spPr>
              <a:xfrm flipH="false" flipV="false" rot="0">
                <a:off x="0" y="0"/>
                <a:ext cx="533400" cy="673710"/>
              </a:xfrm>
              <a:custGeom>
                <a:avLst/>
                <a:gdLst/>
                <a:ahLst/>
                <a:cxnLst/>
                <a:rect r="r" b="b" t="t" l="l"/>
                <a:pathLst>
                  <a:path h="673710" w="533400">
                    <a:moveTo>
                      <a:pt x="266700" y="0"/>
                    </a:moveTo>
                    <a:cubicBezTo>
                      <a:pt x="413994" y="0"/>
                      <a:pt x="533400" y="150815"/>
                      <a:pt x="533400" y="336855"/>
                    </a:cubicBezTo>
                    <a:cubicBezTo>
                      <a:pt x="533400" y="522895"/>
                      <a:pt x="413994" y="673710"/>
                      <a:pt x="266700" y="673710"/>
                    </a:cubicBezTo>
                    <a:cubicBezTo>
                      <a:pt x="119406" y="673710"/>
                      <a:pt x="0" y="522895"/>
                      <a:pt x="0" y="336855"/>
                    </a:cubicBezTo>
                    <a:cubicBezTo>
                      <a:pt x="0" y="150815"/>
                      <a:pt x="119406" y="0"/>
                      <a:pt x="266700" y="0"/>
                    </a:cubicBezTo>
                    <a:close/>
                  </a:path>
                </a:pathLst>
              </a:custGeom>
              <a:solidFill>
                <a:srgbClr val="B5121B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2" id="142"/>
              <p:cNvSpPr txBox="true"/>
              <p:nvPr/>
            </p:nvSpPr>
            <p:spPr>
              <a:xfrm>
                <a:off x="0" y="-38100"/>
                <a:ext cx="533400" cy="71181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520"/>
                  </a:lnSpc>
                </a:pPr>
                <a:r>
                  <a:rPr lang="en-US" sz="1800" b="true">
                    <a:solidFill>
                      <a:srgbClr val="FFFFFF"/>
                    </a:solidFill>
                    <a:latin typeface="Oswald Bold"/>
                    <a:ea typeface="Oswald Bold"/>
                    <a:cs typeface="Oswald Bold"/>
                    <a:sym typeface="Oswald Bold"/>
                  </a:rPr>
                  <a:t>✓</a:t>
                </a:r>
              </a:p>
            </p:txBody>
          </p:sp>
        </p:grpSp>
        <p:grpSp>
          <p:nvGrpSpPr>
            <p:cNvPr name="Group 143" id="143"/>
            <p:cNvGrpSpPr/>
            <p:nvPr/>
          </p:nvGrpSpPr>
          <p:grpSpPr>
            <a:xfrm rot="0">
              <a:off x="355600" y="1143000"/>
              <a:ext cx="4686300" cy="1778000"/>
              <a:chOff x="0" y="0"/>
              <a:chExt cx="4686300" cy="1778000"/>
            </a:xfrm>
          </p:grpSpPr>
          <p:sp>
            <p:nvSpPr>
              <p:cNvPr name="Freeform 144" id="144"/>
              <p:cNvSpPr/>
              <p:nvPr/>
            </p:nvSpPr>
            <p:spPr>
              <a:xfrm flipH="false" flipV="false" rot="0">
                <a:off x="0" y="0"/>
                <a:ext cx="4686300" cy="1778000"/>
              </a:xfrm>
              <a:custGeom>
                <a:avLst/>
                <a:gdLst/>
                <a:ahLst/>
                <a:cxnLst/>
                <a:rect r="r" b="b" t="t" l="l"/>
                <a:pathLst>
                  <a:path h="1778000" w="4686300">
                    <a:moveTo>
                      <a:pt x="0" y="0"/>
                    </a:moveTo>
                    <a:lnTo>
                      <a:pt x="4686300" y="0"/>
                    </a:lnTo>
                    <a:lnTo>
                      <a:pt x="4686300" y="1778000"/>
                    </a:lnTo>
                    <a:lnTo>
                      <a:pt x="0" y="1778000"/>
                    </a:lnTo>
                    <a:close/>
                  </a:path>
                </a:pathLst>
              </a:custGeom>
              <a:solidFill>
                <a:srgbClr val="1A1A1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5" id="145"/>
              <p:cNvSpPr txBox="true"/>
              <p:nvPr/>
            </p:nvSpPr>
            <p:spPr>
              <a:xfrm>
                <a:off x="0" y="-38100"/>
                <a:ext cx="4686300" cy="1816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AutoShape 146" id="146"/>
            <p:cNvSpPr/>
            <p:nvPr/>
          </p:nvSpPr>
          <p:spPr>
            <a:xfrm>
              <a:off x="762000" y="1397000"/>
              <a:ext cx="0" cy="1270000"/>
            </a:xfrm>
            <a:prstGeom prst="line">
              <a:avLst/>
            </a:prstGeom>
            <a:ln cap="flat" w="25400">
              <a:solidFill>
                <a:srgbClr val="55555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47" id="147"/>
            <p:cNvSpPr/>
            <p:nvPr/>
          </p:nvSpPr>
          <p:spPr>
            <a:xfrm>
              <a:off x="1730375" y="1397000"/>
              <a:ext cx="0" cy="1270000"/>
            </a:xfrm>
            <a:prstGeom prst="line">
              <a:avLst/>
            </a:prstGeom>
            <a:ln cap="flat" w="25400">
              <a:solidFill>
                <a:srgbClr val="55555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48" id="148"/>
            <p:cNvSpPr/>
            <p:nvPr/>
          </p:nvSpPr>
          <p:spPr>
            <a:xfrm>
              <a:off x="2698750" y="1397000"/>
              <a:ext cx="0" cy="1270000"/>
            </a:xfrm>
            <a:prstGeom prst="line">
              <a:avLst/>
            </a:prstGeom>
            <a:ln cap="flat" w="25400">
              <a:solidFill>
                <a:srgbClr val="55555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49" id="149"/>
            <p:cNvSpPr/>
            <p:nvPr/>
          </p:nvSpPr>
          <p:spPr>
            <a:xfrm>
              <a:off x="3667125" y="1397000"/>
              <a:ext cx="0" cy="1270000"/>
            </a:xfrm>
            <a:prstGeom prst="line">
              <a:avLst/>
            </a:prstGeom>
            <a:ln cap="flat" w="25400">
              <a:solidFill>
                <a:srgbClr val="55555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50" id="150"/>
            <p:cNvSpPr/>
            <p:nvPr/>
          </p:nvSpPr>
          <p:spPr>
            <a:xfrm>
              <a:off x="4635500" y="1397000"/>
              <a:ext cx="0" cy="1270000"/>
            </a:xfrm>
            <a:prstGeom prst="line">
              <a:avLst/>
            </a:prstGeom>
            <a:ln cap="flat" w="25400">
              <a:solidFill>
                <a:srgbClr val="555555"/>
              </a:solidFill>
              <a:prstDash val="solid"/>
              <a:headEnd type="none" len="sm" w="sm"/>
              <a:tailEnd type="none" len="sm" w="sm"/>
            </a:ln>
          </p:spPr>
        </p:sp>
      </p:grpSp>
      <p:grpSp>
        <p:nvGrpSpPr>
          <p:cNvPr name="Group 151" id="151"/>
          <p:cNvGrpSpPr/>
          <p:nvPr/>
        </p:nvGrpSpPr>
        <p:grpSpPr>
          <a:xfrm rot="0">
            <a:off x="9239250" y="5524500"/>
            <a:ext cx="4048125" cy="3048000"/>
            <a:chOff x="0" y="0"/>
            <a:chExt cx="5397500" cy="4064000"/>
          </a:xfrm>
        </p:grpSpPr>
        <p:grpSp>
          <p:nvGrpSpPr>
            <p:cNvPr name="Group 152" id="152"/>
            <p:cNvGrpSpPr/>
            <p:nvPr/>
          </p:nvGrpSpPr>
          <p:grpSpPr>
            <a:xfrm rot="0">
              <a:off x="0" y="0"/>
              <a:ext cx="5397500" cy="4064000"/>
              <a:chOff x="0" y="0"/>
              <a:chExt cx="5397500" cy="4064000"/>
            </a:xfrm>
          </p:grpSpPr>
          <p:sp>
            <p:nvSpPr>
              <p:cNvPr name="Freeform 153" id="153"/>
              <p:cNvSpPr/>
              <p:nvPr/>
            </p:nvSpPr>
            <p:spPr>
              <a:xfrm flipH="false" flipV="false" rot="0">
                <a:off x="0" y="0"/>
                <a:ext cx="5397500" cy="4064000"/>
              </a:xfrm>
              <a:custGeom>
                <a:avLst/>
                <a:gdLst/>
                <a:ahLst/>
                <a:cxnLst/>
                <a:rect r="r" b="b" t="t" l="l"/>
                <a:pathLst>
                  <a:path h="4064000" w="5397500">
                    <a:moveTo>
                      <a:pt x="0" y="0"/>
                    </a:moveTo>
                    <a:lnTo>
                      <a:pt x="5397500" y="0"/>
                    </a:lnTo>
                    <a:lnTo>
                      <a:pt x="5397500" y="4064000"/>
                    </a:lnTo>
                    <a:lnTo>
                      <a:pt x="0" y="40640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DDDDD"/>
                </a:solidFill>
                <a:prstDash val="solid"/>
                <a:miter/>
              </a:ln>
            </p:spPr>
          </p:sp>
          <p:sp>
            <p:nvSpPr>
              <p:cNvPr name="TextBox 154" id="154"/>
              <p:cNvSpPr txBox="true"/>
              <p:nvPr/>
            </p:nvSpPr>
            <p:spPr>
              <a:xfrm>
                <a:off x="0" y="-38100"/>
                <a:ext cx="5397500" cy="4102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grpSp>
          <p:nvGrpSpPr>
            <p:cNvPr name="Group 155" id="155"/>
            <p:cNvGrpSpPr/>
            <p:nvPr/>
          </p:nvGrpSpPr>
          <p:grpSpPr>
            <a:xfrm rot="0">
              <a:off x="0" y="0"/>
              <a:ext cx="76200" cy="4064000"/>
              <a:chOff x="0" y="0"/>
              <a:chExt cx="76200" cy="4064000"/>
            </a:xfrm>
          </p:grpSpPr>
          <p:sp>
            <p:nvSpPr>
              <p:cNvPr name="Freeform 156" id="156"/>
              <p:cNvSpPr/>
              <p:nvPr/>
            </p:nvSpPr>
            <p:spPr>
              <a:xfrm flipH="false" flipV="false" rot="0">
                <a:off x="0" y="0"/>
                <a:ext cx="76200" cy="4064000"/>
              </a:xfrm>
              <a:custGeom>
                <a:avLst/>
                <a:gdLst/>
                <a:ahLst/>
                <a:cxnLst/>
                <a:rect r="r" b="b" t="t" l="l"/>
                <a:pathLst>
                  <a:path h="4064000" w="76200">
                    <a:moveTo>
                      <a:pt x="0" y="0"/>
                    </a:moveTo>
                    <a:lnTo>
                      <a:pt x="76200" y="0"/>
                    </a:lnTo>
                    <a:lnTo>
                      <a:pt x="76200" y="4064000"/>
                    </a:lnTo>
                    <a:lnTo>
                      <a:pt x="0" y="4064000"/>
                    </a:lnTo>
                    <a:close/>
                  </a:path>
                </a:pathLst>
              </a:custGeom>
              <a:solidFill>
                <a:srgbClr val="B5121B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57" id="157"/>
              <p:cNvSpPr txBox="true"/>
              <p:nvPr/>
            </p:nvSpPr>
            <p:spPr>
              <a:xfrm>
                <a:off x="0" y="-38100"/>
                <a:ext cx="76200" cy="4102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grpSp>
          <p:nvGrpSpPr>
            <p:cNvPr name="Group 158" id="158"/>
            <p:cNvGrpSpPr/>
            <p:nvPr/>
          </p:nvGrpSpPr>
          <p:grpSpPr>
            <a:xfrm rot="0">
              <a:off x="4508500" y="355600"/>
              <a:ext cx="533400" cy="673710"/>
              <a:chOff x="0" y="0"/>
              <a:chExt cx="533400" cy="673710"/>
            </a:xfrm>
          </p:grpSpPr>
          <p:sp>
            <p:nvSpPr>
              <p:cNvPr name="Freeform 159" id="159"/>
              <p:cNvSpPr/>
              <p:nvPr/>
            </p:nvSpPr>
            <p:spPr>
              <a:xfrm flipH="false" flipV="false" rot="0">
                <a:off x="0" y="0"/>
                <a:ext cx="533400" cy="673710"/>
              </a:xfrm>
              <a:custGeom>
                <a:avLst/>
                <a:gdLst/>
                <a:ahLst/>
                <a:cxnLst/>
                <a:rect r="r" b="b" t="t" l="l"/>
                <a:pathLst>
                  <a:path h="673710" w="533400">
                    <a:moveTo>
                      <a:pt x="266700" y="0"/>
                    </a:moveTo>
                    <a:cubicBezTo>
                      <a:pt x="413994" y="0"/>
                      <a:pt x="533400" y="150815"/>
                      <a:pt x="533400" y="336855"/>
                    </a:cubicBezTo>
                    <a:cubicBezTo>
                      <a:pt x="533400" y="522895"/>
                      <a:pt x="413994" y="673710"/>
                      <a:pt x="266700" y="673710"/>
                    </a:cubicBezTo>
                    <a:cubicBezTo>
                      <a:pt x="119406" y="673710"/>
                      <a:pt x="0" y="522895"/>
                      <a:pt x="0" y="336855"/>
                    </a:cubicBezTo>
                    <a:cubicBezTo>
                      <a:pt x="0" y="150815"/>
                      <a:pt x="119406" y="0"/>
                      <a:pt x="266700" y="0"/>
                    </a:cubicBezTo>
                    <a:close/>
                  </a:path>
                </a:pathLst>
              </a:custGeom>
              <a:solidFill>
                <a:srgbClr val="B5121B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60" id="160"/>
              <p:cNvSpPr txBox="true"/>
              <p:nvPr/>
            </p:nvSpPr>
            <p:spPr>
              <a:xfrm>
                <a:off x="0" y="-38100"/>
                <a:ext cx="533400" cy="71181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520"/>
                  </a:lnSpc>
                </a:pPr>
                <a:r>
                  <a:rPr lang="en-US" sz="1800" b="true">
                    <a:solidFill>
                      <a:srgbClr val="FFFFFF"/>
                    </a:solidFill>
                    <a:latin typeface="Oswald Bold"/>
                    <a:ea typeface="Oswald Bold"/>
                    <a:cs typeface="Oswald Bold"/>
                    <a:sym typeface="Oswald Bold"/>
                  </a:rPr>
                  <a:t>✓</a:t>
                </a:r>
              </a:p>
            </p:txBody>
          </p:sp>
        </p:grpSp>
        <p:grpSp>
          <p:nvGrpSpPr>
            <p:cNvPr name="Group 161" id="161"/>
            <p:cNvGrpSpPr/>
            <p:nvPr/>
          </p:nvGrpSpPr>
          <p:grpSpPr>
            <a:xfrm rot="0">
              <a:off x="355600" y="1143000"/>
              <a:ext cx="4686300" cy="1778000"/>
              <a:chOff x="0" y="0"/>
              <a:chExt cx="4686300" cy="1778000"/>
            </a:xfrm>
          </p:grpSpPr>
          <p:sp>
            <p:nvSpPr>
              <p:cNvPr name="Freeform 162" id="162"/>
              <p:cNvSpPr/>
              <p:nvPr/>
            </p:nvSpPr>
            <p:spPr>
              <a:xfrm flipH="false" flipV="false" rot="0">
                <a:off x="0" y="0"/>
                <a:ext cx="4686300" cy="1778000"/>
              </a:xfrm>
              <a:custGeom>
                <a:avLst/>
                <a:gdLst/>
                <a:ahLst/>
                <a:cxnLst/>
                <a:rect r="r" b="b" t="t" l="l"/>
                <a:pathLst>
                  <a:path h="1778000" w="4686300">
                    <a:moveTo>
                      <a:pt x="0" y="0"/>
                    </a:moveTo>
                    <a:lnTo>
                      <a:pt x="4686300" y="0"/>
                    </a:lnTo>
                    <a:lnTo>
                      <a:pt x="4686300" y="1778000"/>
                    </a:lnTo>
                    <a:lnTo>
                      <a:pt x="0" y="1778000"/>
                    </a:lnTo>
                    <a:close/>
                  </a:path>
                </a:pathLst>
              </a:custGeom>
              <a:solidFill>
                <a:srgbClr val="1A1A1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63" id="163"/>
              <p:cNvSpPr txBox="true"/>
              <p:nvPr/>
            </p:nvSpPr>
            <p:spPr>
              <a:xfrm>
                <a:off x="0" y="-38100"/>
                <a:ext cx="4686300" cy="1816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AutoShape 164" id="164"/>
            <p:cNvSpPr/>
            <p:nvPr/>
          </p:nvSpPr>
          <p:spPr>
            <a:xfrm>
              <a:off x="762000" y="1397000"/>
              <a:ext cx="0" cy="1270000"/>
            </a:xfrm>
            <a:prstGeom prst="line">
              <a:avLst/>
            </a:prstGeom>
            <a:ln cap="flat" w="25400">
              <a:solidFill>
                <a:srgbClr val="55555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65" id="165"/>
            <p:cNvSpPr/>
            <p:nvPr/>
          </p:nvSpPr>
          <p:spPr>
            <a:xfrm>
              <a:off x="1730375" y="1397000"/>
              <a:ext cx="0" cy="1270000"/>
            </a:xfrm>
            <a:prstGeom prst="line">
              <a:avLst/>
            </a:prstGeom>
            <a:ln cap="flat" w="25400">
              <a:solidFill>
                <a:srgbClr val="55555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66" id="166"/>
            <p:cNvSpPr/>
            <p:nvPr/>
          </p:nvSpPr>
          <p:spPr>
            <a:xfrm>
              <a:off x="2698750" y="1397000"/>
              <a:ext cx="0" cy="1270000"/>
            </a:xfrm>
            <a:prstGeom prst="line">
              <a:avLst/>
            </a:prstGeom>
            <a:ln cap="flat" w="25400">
              <a:solidFill>
                <a:srgbClr val="55555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67" id="167"/>
            <p:cNvSpPr/>
            <p:nvPr/>
          </p:nvSpPr>
          <p:spPr>
            <a:xfrm>
              <a:off x="3667125" y="1397000"/>
              <a:ext cx="0" cy="1270000"/>
            </a:xfrm>
            <a:prstGeom prst="line">
              <a:avLst/>
            </a:prstGeom>
            <a:ln cap="flat" w="25400">
              <a:solidFill>
                <a:srgbClr val="55555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68" id="168"/>
            <p:cNvSpPr/>
            <p:nvPr/>
          </p:nvSpPr>
          <p:spPr>
            <a:xfrm>
              <a:off x="4635500" y="1397000"/>
              <a:ext cx="0" cy="1270000"/>
            </a:xfrm>
            <a:prstGeom prst="line">
              <a:avLst/>
            </a:prstGeom>
            <a:ln cap="flat" w="25400">
              <a:solidFill>
                <a:srgbClr val="555555"/>
              </a:solidFill>
              <a:prstDash val="solid"/>
              <a:headEnd type="none" len="sm" w="sm"/>
              <a:tailEnd type="none" len="sm" w="sm"/>
            </a:ln>
          </p:spPr>
        </p:sp>
      </p:grpSp>
      <p:grpSp>
        <p:nvGrpSpPr>
          <p:cNvPr name="Group 169" id="169"/>
          <p:cNvGrpSpPr/>
          <p:nvPr/>
        </p:nvGrpSpPr>
        <p:grpSpPr>
          <a:xfrm rot="0">
            <a:off x="13477875" y="5524500"/>
            <a:ext cx="4048125" cy="3048000"/>
            <a:chOff x="0" y="0"/>
            <a:chExt cx="5397500" cy="4064000"/>
          </a:xfrm>
        </p:grpSpPr>
        <p:grpSp>
          <p:nvGrpSpPr>
            <p:cNvPr name="Group 170" id="170"/>
            <p:cNvGrpSpPr/>
            <p:nvPr/>
          </p:nvGrpSpPr>
          <p:grpSpPr>
            <a:xfrm rot="0">
              <a:off x="0" y="0"/>
              <a:ext cx="5397500" cy="4064000"/>
              <a:chOff x="0" y="0"/>
              <a:chExt cx="5397500" cy="4064000"/>
            </a:xfrm>
          </p:grpSpPr>
          <p:sp>
            <p:nvSpPr>
              <p:cNvPr name="Freeform 171" id="171"/>
              <p:cNvSpPr/>
              <p:nvPr/>
            </p:nvSpPr>
            <p:spPr>
              <a:xfrm flipH="false" flipV="false" rot="0">
                <a:off x="0" y="0"/>
                <a:ext cx="5397500" cy="4064000"/>
              </a:xfrm>
              <a:custGeom>
                <a:avLst/>
                <a:gdLst/>
                <a:ahLst/>
                <a:cxnLst/>
                <a:rect r="r" b="b" t="t" l="l"/>
                <a:pathLst>
                  <a:path h="4064000" w="5397500">
                    <a:moveTo>
                      <a:pt x="0" y="0"/>
                    </a:moveTo>
                    <a:lnTo>
                      <a:pt x="5397500" y="0"/>
                    </a:lnTo>
                    <a:lnTo>
                      <a:pt x="5397500" y="4064000"/>
                    </a:lnTo>
                    <a:lnTo>
                      <a:pt x="0" y="40640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DDDDD"/>
                </a:solidFill>
                <a:prstDash val="solid"/>
                <a:miter/>
              </a:ln>
            </p:spPr>
          </p:sp>
          <p:sp>
            <p:nvSpPr>
              <p:cNvPr name="TextBox 172" id="172"/>
              <p:cNvSpPr txBox="true"/>
              <p:nvPr/>
            </p:nvSpPr>
            <p:spPr>
              <a:xfrm>
                <a:off x="0" y="-38100"/>
                <a:ext cx="5397500" cy="4102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grpSp>
          <p:nvGrpSpPr>
            <p:cNvPr name="Group 173" id="173"/>
            <p:cNvGrpSpPr/>
            <p:nvPr/>
          </p:nvGrpSpPr>
          <p:grpSpPr>
            <a:xfrm rot="0">
              <a:off x="0" y="0"/>
              <a:ext cx="76200" cy="4064000"/>
              <a:chOff x="0" y="0"/>
              <a:chExt cx="76200" cy="4064000"/>
            </a:xfrm>
          </p:grpSpPr>
          <p:sp>
            <p:nvSpPr>
              <p:cNvPr name="Freeform 174" id="174"/>
              <p:cNvSpPr/>
              <p:nvPr/>
            </p:nvSpPr>
            <p:spPr>
              <a:xfrm flipH="false" flipV="false" rot="0">
                <a:off x="0" y="0"/>
                <a:ext cx="76200" cy="4064000"/>
              </a:xfrm>
              <a:custGeom>
                <a:avLst/>
                <a:gdLst/>
                <a:ahLst/>
                <a:cxnLst/>
                <a:rect r="r" b="b" t="t" l="l"/>
                <a:pathLst>
                  <a:path h="4064000" w="76200">
                    <a:moveTo>
                      <a:pt x="0" y="0"/>
                    </a:moveTo>
                    <a:lnTo>
                      <a:pt x="76200" y="0"/>
                    </a:lnTo>
                    <a:lnTo>
                      <a:pt x="76200" y="4064000"/>
                    </a:lnTo>
                    <a:lnTo>
                      <a:pt x="0" y="4064000"/>
                    </a:lnTo>
                    <a:close/>
                  </a:path>
                </a:pathLst>
              </a:custGeom>
              <a:solidFill>
                <a:srgbClr val="B5121B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5" id="175"/>
              <p:cNvSpPr txBox="true"/>
              <p:nvPr/>
            </p:nvSpPr>
            <p:spPr>
              <a:xfrm>
                <a:off x="0" y="-38100"/>
                <a:ext cx="76200" cy="4102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grpSp>
          <p:nvGrpSpPr>
            <p:cNvPr name="Group 176" id="176"/>
            <p:cNvGrpSpPr/>
            <p:nvPr/>
          </p:nvGrpSpPr>
          <p:grpSpPr>
            <a:xfrm rot="0">
              <a:off x="4508500" y="355600"/>
              <a:ext cx="533400" cy="673710"/>
              <a:chOff x="0" y="0"/>
              <a:chExt cx="533400" cy="673710"/>
            </a:xfrm>
          </p:grpSpPr>
          <p:sp>
            <p:nvSpPr>
              <p:cNvPr name="Freeform 177" id="177"/>
              <p:cNvSpPr/>
              <p:nvPr/>
            </p:nvSpPr>
            <p:spPr>
              <a:xfrm flipH="false" flipV="false" rot="0">
                <a:off x="0" y="0"/>
                <a:ext cx="533400" cy="673710"/>
              </a:xfrm>
              <a:custGeom>
                <a:avLst/>
                <a:gdLst/>
                <a:ahLst/>
                <a:cxnLst/>
                <a:rect r="r" b="b" t="t" l="l"/>
                <a:pathLst>
                  <a:path h="673710" w="533400">
                    <a:moveTo>
                      <a:pt x="266700" y="0"/>
                    </a:moveTo>
                    <a:cubicBezTo>
                      <a:pt x="413994" y="0"/>
                      <a:pt x="533400" y="150815"/>
                      <a:pt x="533400" y="336855"/>
                    </a:cubicBezTo>
                    <a:cubicBezTo>
                      <a:pt x="533400" y="522895"/>
                      <a:pt x="413994" y="673710"/>
                      <a:pt x="266700" y="673710"/>
                    </a:cubicBezTo>
                    <a:cubicBezTo>
                      <a:pt x="119406" y="673710"/>
                      <a:pt x="0" y="522895"/>
                      <a:pt x="0" y="336855"/>
                    </a:cubicBezTo>
                    <a:cubicBezTo>
                      <a:pt x="0" y="150815"/>
                      <a:pt x="119406" y="0"/>
                      <a:pt x="266700" y="0"/>
                    </a:cubicBezTo>
                    <a:close/>
                  </a:path>
                </a:pathLst>
              </a:custGeom>
              <a:solidFill>
                <a:srgbClr val="B5121B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8" id="178"/>
              <p:cNvSpPr txBox="true"/>
              <p:nvPr/>
            </p:nvSpPr>
            <p:spPr>
              <a:xfrm>
                <a:off x="0" y="-38100"/>
                <a:ext cx="533400" cy="71181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520"/>
                  </a:lnSpc>
                </a:pPr>
                <a:r>
                  <a:rPr lang="en-US" sz="1800" b="true">
                    <a:solidFill>
                      <a:srgbClr val="FFFFFF"/>
                    </a:solidFill>
                    <a:latin typeface="Oswald Bold"/>
                    <a:ea typeface="Oswald Bold"/>
                    <a:cs typeface="Oswald Bold"/>
                    <a:sym typeface="Oswald Bold"/>
                  </a:rPr>
                  <a:t>✓</a:t>
                </a:r>
              </a:p>
            </p:txBody>
          </p:sp>
        </p:grpSp>
        <p:grpSp>
          <p:nvGrpSpPr>
            <p:cNvPr name="Group 179" id="179"/>
            <p:cNvGrpSpPr/>
            <p:nvPr/>
          </p:nvGrpSpPr>
          <p:grpSpPr>
            <a:xfrm rot="0">
              <a:off x="355600" y="1143000"/>
              <a:ext cx="4686300" cy="1778000"/>
              <a:chOff x="0" y="0"/>
              <a:chExt cx="4686300" cy="1778000"/>
            </a:xfrm>
          </p:grpSpPr>
          <p:sp>
            <p:nvSpPr>
              <p:cNvPr name="Freeform 180" id="180"/>
              <p:cNvSpPr/>
              <p:nvPr/>
            </p:nvSpPr>
            <p:spPr>
              <a:xfrm flipH="false" flipV="false" rot="0">
                <a:off x="0" y="0"/>
                <a:ext cx="4686300" cy="1778000"/>
              </a:xfrm>
              <a:custGeom>
                <a:avLst/>
                <a:gdLst/>
                <a:ahLst/>
                <a:cxnLst/>
                <a:rect r="r" b="b" t="t" l="l"/>
                <a:pathLst>
                  <a:path h="1778000" w="4686300">
                    <a:moveTo>
                      <a:pt x="0" y="0"/>
                    </a:moveTo>
                    <a:lnTo>
                      <a:pt x="4686300" y="0"/>
                    </a:lnTo>
                    <a:lnTo>
                      <a:pt x="4686300" y="1778000"/>
                    </a:lnTo>
                    <a:lnTo>
                      <a:pt x="0" y="1778000"/>
                    </a:lnTo>
                    <a:close/>
                  </a:path>
                </a:pathLst>
              </a:custGeom>
              <a:solidFill>
                <a:srgbClr val="1A1A1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81" id="181"/>
              <p:cNvSpPr txBox="true"/>
              <p:nvPr/>
            </p:nvSpPr>
            <p:spPr>
              <a:xfrm>
                <a:off x="0" y="-38100"/>
                <a:ext cx="4686300" cy="1816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AutoShape 182" id="182"/>
            <p:cNvSpPr/>
            <p:nvPr/>
          </p:nvSpPr>
          <p:spPr>
            <a:xfrm>
              <a:off x="762000" y="1397000"/>
              <a:ext cx="0" cy="1270000"/>
            </a:xfrm>
            <a:prstGeom prst="line">
              <a:avLst/>
            </a:prstGeom>
            <a:ln cap="flat" w="25400">
              <a:solidFill>
                <a:srgbClr val="55555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83" id="183"/>
            <p:cNvSpPr/>
            <p:nvPr/>
          </p:nvSpPr>
          <p:spPr>
            <a:xfrm>
              <a:off x="1730375" y="1397000"/>
              <a:ext cx="0" cy="1270000"/>
            </a:xfrm>
            <a:prstGeom prst="line">
              <a:avLst/>
            </a:prstGeom>
            <a:ln cap="flat" w="25400">
              <a:solidFill>
                <a:srgbClr val="55555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84" id="184"/>
            <p:cNvSpPr/>
            <p:nvPr/>
          </p:nvSpPr>
          <p:spPr>
            <a:xfrm>
              <a:off x="2698750" y="1397000"/>
              <a:ext cx="0" cy="1270000"/>
            </a:xfrm>
            <a:prstGeom prst="line">
              <a:avLst/>
            </a:prstGeom>
            <a:ln cap="flat" w="25400">
              <a:solidFill>
                <a:srgbClr val="55555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85" id="185"/>
            <p:cNvSpPr/>
            <p:nvPr/>
          </p:nvSpPr>
          <p:spPr>
            <a:xfrm>
              <a:off x="3667125" y="1397000"/>
              <a:ext cx="0" cy="1270000"/>
            </a:xfrm>
            <a:prstGeom prst="line">
              <a:avLst/>
            </a:prstGeom>
            <a:ln cap="flat" w="25400">
              <a:solidFill>
                <a:srgbClr val="55555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86" id="186"/>
            <p:cNvSpPr/>
            <p:nvPr/>
          </p:nvSpPr>
          <p:spPr>
            <a:xfrm>
              <a:off x="4635500" y="1397000"/>
              <a:ext cx="0" cy="1270000"/>
            </a:xfrm>
            <a:prstGeom prst="line">
              <a:avLst/>
            </a:prstGeom>
            <a:ln cap="flat" w="25400">
              <a:solidFill>
                <a:srgbClr val="555555"/>
              </a:solidFill>
              <a:prstDash val="solid"/>
              <a:headEnd type="none" len="sm" w="sm"/>
              <a:tailEnd type="none" len="sm" w="sm"/>
            </a:ln>
          </p:spPr>
        </p:sp>
      </p:grpSp>
      <p:sp>
        <p:nvSpPr>
          <p:cNvPr name="TextBox 187" id="187"/>
          <p:cNvSpPr txBox="true"/>
          <p:nvPr/>
        </p:nvSpPr>
        <p:spPr>
          <a:xfrm rot="0">
            <a:off x="990600" y="2505075"/>
            <a:ext cx="952500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B5121B"/>
                </a:solidFill>
                <a:latin typeface="Oswald Bold"/>
                <a:ea typeface="Oswald Bold"/>
                <a:cs typeface="Oswald Bold"/>
                <a:sym typeface="Oswald Bold"/>
              </a:rPr>
              <a:t>01</a:t>
            </a:r>
          </a:p>
        </p:txBody>
      </p:sp>
      <p:sp>
        <p:nvSpPr>
          <p:cNvPr name="TextBox 188" id="188"/>
          <p:cNvSpPr txBox="true"/>
          <p:nvPr/>
        </p:nvSpPr>
        <p:spPr>
          <a:xfrm rot="0">
            <a:off x="1028700" y="4676775"/>
            <a:ext cx="3514725" cy="2390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7"/>
              </a:lnSpc>
            </a:pPr>
            <a:r>
              <a:rPr lang="en-US" sz="1650" b="true">
                <a:solidFill>
                  <a:srgbClr val="1A1A1A"/>
                </a:solidFill>
                <a:latin typeface="Oswald Bold"/>
                <a:ea typeface="Oswald Bold"/>
                <a:cs typeface="Oswald Bold"/>
                <a:sym typeface="Oswald Bold"/>
              </a:rPr>
              <a:t>Arrival and inspection</a:t>
            </a:r>
          </a:p>
        </p:txBody>
      </p:sp>
      <p:sp>
        <p:nvSpPr>
          <p:cNvPr name="TextBox 189" id="189"/>
          <p:cNvSpPr txBox="true"/>
          <p:nvPr/>
        </p:nvSpPr>
        <p:spPr>
          <a:xfrm rot="0">
            <a:off x="5229225" y="2505075"/>
            <a:ext cx="952500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B5121B"/>
                </a:solidFill>
                <a:latin typeface="Oswald Bold"/>
                <a:ea typeface="Oswald Bold"/>
                <a:cs typeface="Oswald Bold"/>
                <a:sym typeface="Oswald Bold"/>
              </a:rPr>
              <a:t>02</a:t>
            </a:r>
          </a:p>
        </p:txBody>
      </p:sp>
      <p:sp>
        <p:nvSpPr>
          <p:cNvPr name="TextBox 190" id="190"/>
          <p:cNvSpPr txBox="true"/>
          <p:nvPr/>
        </p:nvSpPr>
        <p:spPr>
          <a:xfrm rot="0">
            <a:off x="5267325" y="4676775"/>
            <a:ext cx="3514725" cy="2390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7"/>
              </a:lnSpc>
            </a:pPr>
            <a:r>
              <a:rPr lang="en-US" sz="1650" b="true">
                <a:solidFill>
                  <a:srgbClr val="1A1A1A"/>
                </a:solidFill>
                <a:latin typeface="Oswald Bold"/>
                <a:ea typeface="Oswald Bold"/>
                <a:cs typeface="Oswald Bold"/>
                <a:sym typeface="Oswald Bold"/>
              </a:rPr>
              <a:t>Structural foundation fabricated</a:t>
            </a:r>
          </a:p>
        </p:txBody>
      </p:sp>
      <p:sp>
        <p:nvSpPr>
          <p:cNvPr name="TextBox 191" id="191"/>
          <p:cNvSpPr txBox="true"/>
          <p:nvPr/>
        </p:nvSpPr>
        <p:spPr>
          <a:xfrm rot="0">
            <a:off x="9467850" y="2505075"/>
            <a:ext cx="952500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B5121B"/>
                </a:solidFill>
                <a:latin typeface="Oswald Bold"/>
                <a:ea typeface="Oswald Bold"/>
                <a:cs typeface="Oswald Bold"/>
                <a:sym typeface="Oswald Bold"/>
              </a:rPr>
              <a:t>03</a:t>
            </a:r>
          </a:p>
        </p:txBody>
      </p:sp>
      <p:sp>
        <p:nvSpPr>
          <p:cNvPr name="TextBox 192" id="192"/>
          <p:cNvSpPr txBox="true"/>
          <p:nvPr/>
        </p:nvSpPr>
        <p:spPr>
          <a:xfrm rot="0">
            <a:off x="9505950" y="4676775"/>
            <a:ext cx="3514725" cy="2390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7"/>
              </a:lnSpc>
            </a:pPr>
            <a:r>
              <a:rPr lang="en-US" sz="1650" b="true">
                <a:solidFill>
                  <a:srgbClr val="1A1A1A"/>
                </a:solidFill>
                <a:latin typeface="Oswald Bold"/>
                <a:ea typeface="Oswald Bold"/>
                <a:cs typeface="Oswald Bold"/>
                <a:sym typeface="Oswald Bold"/>
              </a:rPr>
              <a:t>Wall supports installed</a:t>
            </a:r>
          </a:p>
        </p:txBody>
      </p:sp>
      <p:sp>
        <p:nvSpPr>
          <p:cNvPr name="TextBox 193" id="193"/>
          <p:cNvSpPr txBox="true"/>
          <p:nvPr/>
        </p:nvSpPr>
        <p:spPr>
          <a:xfrm rot="0">
            <a:off x="13706475" y="2505075"/>
            <a:ext cx="952500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B5121B"/>
                </a:solidFill>
                <a:latin typeface="Oswald Bold"/>
                <a:ea typeface="Oswald Bold"/>
                <a:cs typeface="Oswald Bold"/>
                <a:sym typeface="Oswald Bold"/>
              </a:rPr>
              <a:t>04</a:t>
            </a:r>
          </a:p>
        </p:txBody>
      </p:sp>
      <p:sp>
        <p:nvSpPr>
          <p:cNvPr name="TextBox 194" id="194"/>
          <p:cNvSpPr txBox="true"/>
          <p:nvPr/>
        </p:nvSpPr>
        <p:spPr>
          <a:xfrm rot="0">
            <a:off x="13744575" y="4676775"/>
            <a:ext cx="3514725" cy="2390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7"/>
              </a:lnSpc>
            </a:pPr>
            <a:r>
              <a:rPr lang="en-US" sz="1650" b="true">
                <a:solidFill>
                  <a:srgbClr val="1A1A1A"/>
                </a:solidFill>
                <a:latin typeface="Oswald Bold"/>
                <a:ea typeface="Oswald Bold"/>
                <a:cs typeface="Oswald Bold"/>
                <a:sym typeface="Oswald Bold"/>
              </a:rPr>
              <a:t>Overhead reinforcement finished</a:t>
            </a:r>
          </a:p>
        </p:txBody>
      </p:sp>
      <p:sp>
        <p:nvSpPr>
          <p:cNvPr name="TextBox 195" id="195"/>
          <p:cNvSpPr txBox="true"/>
          <p:nvPr/>
        </p:nvSpPr>
        <p:spPr>
          <a:xfrm rot="0">
            <a:off x="990600" y="5743575"/>
            <a:ext cx="952500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B5121B"/>
                </a:solidFill>
                <a:latin typeface="Oswald Bold"/>
                <a:ea typeface="Oswald Bold"/>
                <a:cs typeface="Oswald Bold"/>
                <a:sym typeface="Oswald Bold"/>
              </a:rPr>
              <a:t>05</a:t>
            </a:r>
          </a:p>
        </p:txBody>
      </p:sp>
      <p:sp>
        <p:nvSpPr>
          <p:cNvPr name="TextBox 196" id="196"/>
          <p:cNvSpPr txBox="true"/>
          <p:nvPr/>
        </p:nvSpPr>
        <p:spPr>
          <a:xfrm rot="0">
            <a:off x="1028700" y="7915275"/>
            <a:ext cx="3514725" cy="2390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7"/>
              </a:lnSpc>
            </a:pPr>
            <a:r>
              <a:rPr lang="en-US" sz="1650" b="true">
                <a:solidFill>
                  <a:srgbClr val="1A1A1A"/>
                </a:solidFill>
                <a:latin typeface="Oswald Bold"/>
                <a:ea typeface="Oswald Bold"/>
                <a:cs typeface="Oswald Bold"/>
                <a:sym typeface="Oswald Bold"/>
              </a:rPr>
              <a:t>Interior lining completed</a:t>
            </a:r>
          </a:p>
        </p:txBody>
      </p:sp>
      <p:sp>
        <p:nvSpPr>
          <p:cNvPr name="TextBox 197" id="197"/>
          <p:cNvSpPr txBox="true"/>
          <p:nvPr/>
        </p:nvSpPr>
        <p:spPr>
          <a:xfrm rot="0">
            <a:off x="5229225" y="5743575"/>
            <a:ext cx="952500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B5121B"/>
                </a:solidFill>
                <a:latin typeface="Oswald Bold"/>
                <a:ea typeface="Oswald Bold"/>
                <a:cs typeface="Oswald Bold"/>
                <a:sym typeface="Oswald Bold"/>
              </a:rPr>
              <a:t>06</a:t>
            </a:r>
          </a:p>
        </p:txBody>
      </p:sp>
      <p:sp>
        <p:nvSpPr>
          <p:cNvPr name="TextBox 198" id="198"/>
          <p:cNvSpPr txBox="true"/>
          <p:nvPr/>
        </p:nvSpPr>
        <p:spPr>
          <a:xfrm rot="0">
            <a:off x="5267325" y="7915275"/>
            <a:ext cx="3514725" cy="2390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7"/>
              </a:lnSpc>
            </a:pPr>
            <a:r>
              <a:rPr lang="en-US" sz="1650" b="true">
                <a:solidFill>
                  <a:srgbClr val="1A1A1A"/>
                </a:solidFill>
                <a:latin typeface="Oswald Bold"/>
                <a:ea typeface="Oswald Bold"/>
                <a:cs typeface="Oswald Bold"/>
                <a:sym typeface="Oswald Bold"/>
              </a:rPr>
              <a:t>Test fitting and alignment</a:t>
            </a:r>
          </a:p>
        </p:txBody>
      </p:sp>
      <p:sp>
        <p:nvSpPr>
          <p:cNvPr name="TextBox 199" id="199"/>
          <p:cNvSpPr txBox="true"/>
          <p:nvPr/>
        </p:nvSpPr>
        <p:spPr>
          <a:xfrm rot="0">
            <a:off x="9467850" y="5743575"/>
            <a:ext cx="952500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B5121B"/>
                </a:solidFill>
                <a:latin typeface="Oswald Bold"/>
                <a:ea typeface="Oswald Bold"/>
                <a:cs typeface="Oswald Bold"/>
                <a:sym typeface="Oswald Bold"/>
              </a:rPr>
              <a:t>07</a:t>
            </a:r>
          </a:p>
        </p:txBody>
      </p:sp>
      <p:sp>
        <p:nvSpPr>
          <p:cNvPr name="TextBox 200" id="200"/>
          <p:cNvSpPr txBox="true"/>
          <p:nvPr/>
        </p:nvSpPr>
        <p:spPr>
          <a:xfrm rot="0">
            <a:off x="9505950" y="7915275"/>
            <a:ext cx="3514725" cy="2390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7"/>
              </a:lnSpc>
            </a:pPr>
            <a:r>
              <a:rPr lang="en-US" sz="1650" b="true">
                <a:solidFill>
                  <a:srgbClr val="1A1A1A"/>
                </a:solidFill>
                <a:latin typeface="Oswald Bold"/>
                <a:ea typeface="Oswald Bold"/>
                <a:cs typeface="Oswald Bold"/>
                <a:sym typeface="Oswald Bold"/>
              </a:rPr>
              <a:t>Installation finalized</a:t>
            </a:r>
          </a:p>
        </p:txBody>
      </p:sp>
      <p:sp>
        <p:nvSpPr>
          <p:cNvPr name="TextBox 201" id="201"/>
          <p:cNvSpPr txBox="true"/>
          <p:nvPr/>
        </p:nvSpPr>
        <p:spPr>
          <a:xfrm rot="0">
            <a:off x="13706475" y="5743575"/>
            <a:ext cx="952500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B5121B"/>
                </a:solidFill>
                <a:latin typeface="Oswald Bold"/>
                <a:ea typeface="Oswald Bold"/>
                <a:cs typeface="Oswald Bold"/>
                <a:sym typeface="Oswald Bold"/>
              </a:rPr>
              <a:t>08</a:t>
            </a:r>
          </a:p>
        </p:txBody>
      </p:sp>
      <p:sp>
        <p:nvSpPr>
          <p:cNvPr name="TextBox 202" id="202"/>
          <p:cNvSpPr txBox="true"/>
          <p:nvPr/>
        </p:nvSpPr>
        <p:spPr>
          <a:xfrm rot="0">
            <a:off x="13744575" y="7915275"/>
            <a:ext cx="3514725" cy="2390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7"/>
              </a:lnSpc>
            </a:pPr>
            <a:r>
              <a:rPr lang="en-US" sz="1650" b="true">
                <a:solidFill>
                  <a:srgbClr val="1A1A1A"/>
                </a:solidFill>
                <a:latin typeface="Oswald Bold"/>
                <a:ea typeface="Oswald Bold"/>
                <a:cs typeface="Oswald Bold"/>
                <a:sym typeface="Oswald Bold"/>
              </a:rPr>
              <a:t>Project completed</a:t>
            </a:r>
          </a:p>
        </p:txBody>
      </p:sp>
      <p:sp>
        <p:nvSpPr>
          <p:cNvPr name="AutoShape 203" id="203"/>
          <p:cNvSpPr/>
          <p:nvPr/>
        </p:nvSpPr>
        <p:spPr>
          <a:xfrm>
            <a:off x="762000" y="9677400"/>
            <a:ext cx="16764000" cy="0"/>
          </a:xfrm>
          <a:prstGeom prst="line">
            <a:avLst/>
          </a:prstGeom>
          <a:ln cap="flat" w="9525">
            <a:solidFill>
              <a:srgbClr val="DDDDDD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04" id="204"/>
          <p:cNvSpPr txBox="true"/>
          <p:nvPr/>
        </p:nvSpPr>
        <p:spPr>
          <a:xfrm rot="0">
            <a:off x="762000" y="9810750"/>
            <a:ext cx="381000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405" b="true">
                <a:solidFill>
                  <a:srgbClr val="555555"/>
                </a:solidFill>
                <a:latin typeface="Oswald Bold"/>
                <a:ea typeface="Oswald Bold"/>
                <a:cs typeface="Oswald Bold"/>
                <a:sym typeface="Oswald Bold"/>
              </a:rPr>
              <a:t>METAL WORX, INC.</a:t>
            </a:r>
          </a:p>
        </p:txBody>
      </p:sp>
      <p:sp>
        <p:nvSpPr>
          <p:cNvPr name="TextBox 205" id="205"/>
          <p:cNvSpPr txBox="true"/>
          <p:nvPr/>
        </p:nvSpPr>
        <p:spPr>
          <a:xfrm rot="0">
            <a:off x="4762500" y="9829800"/>
            <a:ext cx="7620000" cy="148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60"/>
              </a:lnSpc>
            </a:pPr>
            <a:r>
              <a:rPr lang="en-US" sz="900" spc="359">
                <a:solidFill>
                  <a:srgbClr val="555555"/>
                </a:solidFill>
                <a:latin typeface="Inter 2"/>
                <a:ea typeface="Inter 2"/>
                <a:cs typeface="Inter 2"/>
                <a:sym typeface="Inter 2"/>
              </a:rPr>
              <a:t>MILESTONE SUMMARY</a:t>
            </a:r>
          </a:p>
        </p:txBody>
      </p:sp>
      <p:sp>
        <p:nvSpPr>
          <p:cNvPr name="TextBox 206" id="206"/>
          <p:cNvSpPr txBox="true"/>
          <p:nvPr/>
        </p:nvSpPr>
        <p:spPr>
          <a:xfrm rot="0">
            <a:off x="15811500" y="9829800"/>
            <a:ext cx="1714500" cy="148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260"/>
              </a:lnSpc>
            </a:pPr>
            <a:r>
              <a:rPr lang="en-US" sz="900" spc="359">
                <a:solidFill>
                  <a:srgbClr val="555555"/>
                </a:solidFill>
                <a:latin typeface="Inter 2"/>
                <a:ea typeface="Inter 2"/>
                <a:cs typeface="Inter 2"/>
                <a:sym typeface="Inter 2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" id="3"/>
          <p:cNvSpPr/>
          <p:nvPr/>
        </p:nvSpPr>
        <p:spPr>
          <a:xfrm>
            <a:off x="762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" id="4"/>
          <p:cNvSpPr/>
          <p:nvPr/>
        </p:nvSpPr>
        <p:spPr>
          <a:xfrm>
            <a:off x="1524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" id="5"/>
          <p:cNvSpPr/>
          <p:nvPr/>
        </p:nvSpPr>
        <p:spPr>
          <a:xfrm>
            <a:off x="2286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" id="6"/>
          <p:cNvSpPr/>
          <p:nvPr/>
        </p:nvSpPr>
        <p:spPr>
          <a:xfrm>
            <a:off x="3048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" id="7"/>
          <p:cNvSpPr/>
          <p:nvPr/>
        </p:nvSpPr>
        <p:spPr>
          <a:xfrm>
            <a:off x="3810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" id="8"/>
          <p:cNvSpPr/>
          <p:nvPr/>
        </p:nvSpPr>
        <p:spPr>
          <a:xfrm>
            <a:off x="4572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" id="9"/>
          <p:cNvSpPr/>
          <p:nvPr/>
        </p:nvSpPr>
        <p:spPr>
          <a:xfrm>
            <a:off x="5334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" id="10"/>
          <p:cNvSpPr/>
          <p:nvPr/>
        </p:nvSpPr>
        <p:spPr>
          <a:xfrm>
            <a:off x="6096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1" id="11"/>
          <p:cNvSpPr/>
          <p:nvPr/>
        </p:nvSpPr>
        <p:spPr>
          <a:xfrm>
            <a:off x="6858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2" id="12"/>
          <p:cNvSpPr/>
          <p:nvPr/>
        </p:nvSpPr>
        <p:spPr>
          <a:xfrm>
            <a:off x="7620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3" id="13"/>
          <p:cNvSpPr/>
          <p:nvPr/>
        </p:nvSpPr>
        <p:spPr>
          <a:xfrm>
            <a:off x="8382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4" id="14"/>
          <p:cNvSpPr/>
          <p:nvPr/>
        </p:nvSpPr>
        <p:spPr>
          <a:xfrm>
            <a:off x="9144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5" id="15"/>
          <p:cNvSpPr/>
          <p:nvPr/>
        </p:nvSpPr>
        <p:spPr>
          <a:xfrm>
            <a:off x="9906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6" id="16"/>
          <p:cNvSpPr/>
          <p:nvPr/>
        </p:nvSpPr>
        <p:spPr>
          <a:xfrm>
            <a:off x="10668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7" id="17"/>
          <p:cNvSpPr/>
          <p:nvPr/>
        </p:nvSpPr>
        <p:spPr>
          <a:xfrm>
            <a:off x="11430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8" id="18"/>
          <p:cNvSpPr/>
          <p:nvPr/>
        </p:nvSpPr>
        <p:spPr>
          <a:xfrm>
            <a:off x="12192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9" id="19"/>
          <p:cNvSpPr/>
          <p:nvPr/>
        </p:nvSpPr>
        <p:spPr>
          <a:xfrm>
            <a:off x="12954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0" id="20"/>
          <p:cNvSpPr/>
          <p:nvPr/>
        </p:nvSpPr>
        <p:spPr>
          <a:xfrm>
            <a:off x="13716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1" id="21"/>
          <p:cNvSpPr/>
          <p:nvPr/>
        </p:nvSpPr>
        <p:spPr>
          <a:xfrm>
            <a:off x="14478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2" id="22"/>
          <p:cNvSpPr/>
          <p:nvPr/>
        </p:nvSpPr>
        <p:spPr>
          <a:xfrm>
            <a:off x="15240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3" id="23"/>
          <p:cNvSpPr/>
          <p:nvPr/>
        </p:nvSpPr>
        <p:spPr>
          <a:xfrm>
            <a:off x="16002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4" id="24"/>
          <p:cNvSpPr/>
          <p:nvPr/>
        </p:nvSpPr>
        <p:spPr>
          <a:xfrm>
            <a:off x="16764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5" id="25"/>
          <p:cNvSpPr/>
          <p:nvPr/>
        </p:nvSpPr>
        <p:spPr>
          <a:xfrm>
            <a:off x="17526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6" id="26"/>
          <p:cNvSpPr/>
          <p:nvPr/>
        </p:nvSpPr>
        <p:spPr>
          <a:xfrm>
            <a:off x="18288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7" id="27"/>
          <p:cNvSpPr/>
          <p:nvPr/>
        </p:nvSpPr>
        <p:spPr>
          <a:xfrm>
            <a:off x="0" y="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8" id="28"/>
          <p:cNvSpPr/>
          <p:nvPr/>
        </p:nvSpPr>
        <p:spPr>
          <a:xfrm>
            <a:off x="0" y="76200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9" id="29"/>
          <p:cNvSpPr/>
          <p:nvPr/>
        </p:nvSpPr>
        <p:spPr>
          <a:xfrm>
            <a:off x="0" y="152400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0" id="30"/>
          <p:cNvSpPr/>
          <p:nvPr/>
        </p:nvSpPr>
        <p:spPr>
          <a:xfrm>
            <a:off x="0" y="228600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1" id="31"/>
          <p:cNvSpPr/>
          <p:nvPr/>
        </p:nvSpPr>
        <p:spPr>
          <a:xfrm>
            <a:off x="0" y="304800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2" id="32"/>
          <p:cNvSpPr/>
          <p:nvPr/>
        </p:nvSpPr>
        <p:spPr>
          <a:xfrm>
            <a:off x="0" y="381000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3" id="33"/>
          <p:cNvSpPr/>
          <p:nvPr/>
        </p:nvSpPr>
        <p:spPr>
          <a:xfrm>
            <a:off x="0" y="457200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4" id="34"/>
          <p:cNvSpPr/>
          <p:nvPr/>
        </p:nvSpPr>
        <p:spPr>
          <a:xfrm>
            <a:off x="0" y="533400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5" id="35"/>
          <p:cNvSpPr/>
          <p:nvPr/>
        </p:nvSpPr>
        <p:spPr>
          <a:xfrm>
            <a:off x="0" y="609600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6" id="36"/>
          <p:cNvSpPr/>
          <p:nvPr/>
        </p:nvSpPr>
        <p:spPr>
          <a:xfrm>
            <a:off x="0" y="685800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7" id="37"/>
          <p:cNvSpPr/>
          <p:nvPr/>
        </p:nvSpPr>
        <p:spPr>
          <a:xfrm>
            <a:off x="0" y="762000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8" id="38"/>
          <p:cNvSpPr/>
          <p:nvPr/>
        </p:nvSpPr>
        <p:spPr>
          <a:xfrm>
            <a:off x="0" y="838200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9" id="39"/>
          <p:cNvSpPr/>
          <p:nvPr/>
        </p:nvSpPr>
        <p:spPr>
          <a:xfrm>
            <a:off x="0" y="914400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0" id="40"/>
          <p:cNvSpPr/>
          <p:nvPr/>
        </p:nvSpPr>
        <p:spPr>
          <a:xfrm>
            <a:off x="0" y="990600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41" id="41"/>
          <p:cNvSpPr txBox="true"/>
          <p:nvPr/>
        </p:nvSpPr>
        <p:spPr>
          <a:xfrm rot="0">
            <a:off x="762000" y="733425"/>
            <a:ext cx="8572500" cy="2076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200" spc="420" b="true">
                <a:solidFill>
                  <a:srgbClr val="B5121B"/>
                </a:solidFill>
                <a:latin typeface="Inter 2 Bold"/>
                <a:ea typeface="Inter 2 Bold"/>
                <a:cs typeface="Inter 2 Bold"/>
                <a:sym typeface="Inter 2 Bold"/>
              </a:rPr>
              <a:t>SECTION 06  ·  INSTALLATION FIELDWORK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762000" y="1190625"/>
            <a:ext cx="14287500" cy="15720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27"/>
              </a:lnSpc>
            </a:pPr>
            <a:r>
              <a:rPr lang="en-US" sz="6150" b="true">
                <a:solidFill>
                  <a:srgbClr val="FFFFFF"/>
                </a:solidFill>
                <a:latin typeface="Oswald Bold"/>
                <a:ea typeface="Oswald Bold"/>
                <a:cs typeface="Oswald Bold"/>
                <a:sym typeface="Oswald Bold"/>
              </a:rPr>
              <a:t>Boots on the ground.</a:t>
            </a:r>
          </a:p>
          <a:p>
            <a:pPr algn="l">
              <a:lnSpc>
                <a:spcPts val="6027"/>
              </a:lnSpc>
            </a:pPr>
            <a:r>
              <a:rPr lang="en-US" sz="6150" b="true">
                <a:solidFill>
                  <a:srgbClr val="FFFFFF"/>
                </a:solidFill>
                <a:latin typeface="Oswald Bold"/>
                <a:ea typeface="Oswald Bold"/>
                <a:cs typeface="Oswald Bold"/>
                <a:sym typeface="Oswald Bold"/>
              </a:rPr>
              <a:t>On-site, on-spec.</a:t>
            </a:r>
          </a:p>
        </p:txBody>
      </p:sp>
      <p:grpSp>
        <p:nvGrpSpPr>
          <p:cNvPr name="Group 43" id="43"/>
          <p:cNvGrpSpPr/>
          <p:nvPr/>
        </p:nvGrpSpPr>
        <p:grpSpPr>
          <a:xfrm rot="0">
            <a:off x="762000" y="3238500"/>
            <a:ext cx="11239500" cy="5524500"/>
            <a:chOff x="0" y="0"/>
            <a:chExt cx="14986000" cy="736600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14986000" cy="7366000"/>
            </a:xfrm>
            <a:custGeom>
              <a:avLst/>
              <a:gdLst/>
              <a:ahLst/>
              <a:cxnLst/>
              <a:rect r="r" b="b" t="t" l="l"/>
              <a:pathLst>
                <a:path h="7366000" w="14986000">
                  <a:moveTo>
                    <a:pt x="0" y="0"/>
                  </a:moveTo>
                  <a:lnTo>
                    <a:pt x="14986000" y="0"/>
                  </a:lnTo>
                  <a:lnTo>
                    <a:pt x="14986000" y="7366000"/>
                  </a:lnTo>
                  <a:lnTo>
                    <a:pt x="0" y="7366000"/>
                  </a:lnTo>
                  <a:close/>
                </a:path>
              </a:pathLst>
            </a:custGeom>
            <a:solidFill>
              <a:srgbClr val="0D0D0D"/>
            </a:solidFill>
            <a:ln cap="sq">
              <a:noFill/>
              <a:prstDash val="solid"/>
              <a:miter/>
            </a:ln>
          </p:spPr>
        </p:sp>
        <p:sp>
          <p:nvSpPr>
            <p:cNvPr name="TextBox 45" id="45"/>
            <p:cNvSpPr txBox="true"/>
            <p:nvPr/>
          </p:nvSpPr>
          <p:spPr>
            <a:xfrm>
              <a:off x="0" y="-38100"/>
              <a:ext cx="14986000" cy="740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AutoShape 46" id="46"/>
          <p:cNvSpPr/>
          <p:nvPr/>
        </p:nvSpPr>
        <p:spPr>
          <a:xfrm>
            <a:off x="762000" y="3238500"/>
            <a:ext cx="0" cy="552450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7" id="47"/>
          <p:cNvSpPr/>
          <p:nvPr/>
        </p:nvSpPr>
        <p:spPr>
          <a:xfrm>
            <a:off x="1524000" y="3238500"/>
            <a:ext cx="0" cy="552450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8" id="48"/>
          <p:cNvSpPr/>
          <p:nvPr/>
        </p:nvSpPr>
        <p:spPr>
          <a:xfrm>
            <a:off x="2286000" y="3238500"/>
            <a:ext cx="0" cy="552450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9" id="49"/>
          <p:cNvSpPr/>
          <p:nvPr/>
        </p:nvSpPr>
        <p:spPr>
          <a:xfrm>
            <a:off x="3048000" y="3238500"/>
            <a:ext cx="0" cy="552450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0" id="50"/>
          <p:cNvSpPr/>
          <p:nvPr/>
        </p:nvSpPr>
        <p:spPr>
          <a:xfrm>
            <a:off x="3810000" y="3238500"/>
            <a:ext cx="0" cy="552450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1" id="51"/>
          <p:cNvSpPr/>
          <p:nvPr/>
        </p:nvSpPr>
        <p:spPr>
          <a:xfrm>
            <a:off x="4572000" y="3238500"/>
            <a:ext cx="0" cy="552450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2" id="52"/>
          <p:cNvSpPr/>
          <p:nvPr/>
        </p:nvSpPr>
        <p:spPr>
          <a:xfrm>
            <a:off x="5334000" y="3238500"/>
            <a:ext cx="0" cy="552450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3" id="53"/>
          <p:cNvSpPr/>
          <p:nvPr/>
        </p:nvSpPr>
        <p:spPr>
          <a:xfrm>
            <a:off x="6096000" y="3238500"/>
            <a:ext cx="0" cy="552450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4" id="54"/>
          <p:cNvSpPr/>
          <p:nvPr/>
        </p:nvSpPr>
        <p:spPr>
          <a:xfrm>
            <a:off x="6858000" y="3238500"/>
            <a:ext cx="0" cy="552450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5" id="55"/>
          <p:cNvSpPr/>
          <p:nvPr/>
        </p:nvSpPr>
        <p:spPr>
          <a:xfrm>
            <a:off x="7620000" y="3238500"/>
            <a:ext cx="0" cy="552450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6" id="56"/>
          <p:cNvSpPr/>
          <p:nvPr/>
        </p:nvSpPr>
        <p:spPr>
          <a:xfrm>
            <a:off x="8382000" y="3238500"/>
            <a:ext cx="0" cy="552450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7" id="57"/>
          <p:cNvSpPr/>
          <p:nvPr/>
        </p:nvSpPr>
        <p:spPr>
          <a:xfrm>
            <a:off x="9144000" y="3238500"/>
            <a:ext cx="0" cy="552450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8" id="58"/>
          <p:cNvSpPr/>
          <p:nvPr/>
        </p:nvSpPr>
        <p:spPr>
          <a:xfrm>
            <a:off x="9906000" y="3238500"/>
            <a:ext cx="0" cy="552450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9" id="59"/>
          <p:cNvSpPr/>
          <p:nvPr/>
        </p:nvSpPr>
        <p:spPr>
          <a:xfrm>
            <a:off x="10668000" y="3238500"/>
            <a:ext cx="0" cy="552450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0" id="60"/>
          <p:cNvSpPr/>
          <p:nvPr/>
        </p:nvSpPr>
        <p:spPr>
          <a:xfrm>
            <a:off x="11430000" y="3238500"/>
            <a:ext cx="0" cy="552450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1" id="61"/>
          <p:cNvSpPr/>
          <p:nvPr/>
        </p:nvSpPr>
        <p:spPr>
          <a:xfrm>
            <a:off x="762000" y="3238500"/>
            <a:ext cx="11239500" cy="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2" id="62"/>
          <p:cNvSpPr/>
          <p:nvPr/>
        </p:nvSpPr>
        <p:spPr>
          <a:xfrm>
            <a:off x="762000" y="4000500"/>
            <a:ext cx="11239500" cy="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3" id="63"/>
          <p:cNvSpPr/>
          <p:nvPr/>
        </p:nvSpPr>
        <p:spPr>
          <a:xfrm>
            <a:off x="762000" y="4762500"/>
            <a:ext cx="11239500" cy="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4" id="64"/>
          <p:cNvSpPr/>
          <p:nvPr/>
        </p:nvSpPr>
        <p:spPr>
          <a:xfrm>
            <a:off x="762000" y="5524500"/>
            <a:ext cx="11239500" cy="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5" id="65"/>
          <p:cNvSpPr/>
          <p:nvPr/>
        </p:nvSpPr>
        <p:spPr>
          <a:xfrm>
            <a:off x="762000" y="6286500"/>
            <a:ext cx="11239500" cy="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6" id="66"/>
          <p:cNvSpPr/>
          <p:nvPr/>
        </p:nvSpPr>
        <p:spPr>
          <a:xfrm>
            <a:off x="762000" y="7048500"/>
            <a:ext cx="11239500" cy="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7" id="67"/>
          <p:cNvSpPr/>
          <p:nvPr/>
        </p:nvSpPr>
        <p:spPr>
          <a:xfrm>
            <a:off x="762000" y="7810500"/>
            <a:ext cx="11239500" cy="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8" id="68"/>
          <p:cNvSpPr/>
          <p:nvPr/>
        </p:nvSpPr>
        <p:spPr>
          <a:xfrm>
            <a:off x="762000" y="8572500"/>
            <a:ext cx="11239500" cy="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69" id="69"/>
          <p:cNvGrpSpPr/>
          <p:nvPr/>
        </p:nvGrpSpPr>
        <p:grpSpPr>
          <a:xfrm rot="0">
            <a:off x="3390900" y="5334000"/>
            <a:ext cx="457200" cy="457200"/>
            <a:chOff x="0" y="0"/>
            <a:chExt cx="609600" cy="609600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609600" cy="609600"/>
            </a:xfrm>
            <a:custGeom>
              <a:avLst/>
              <a:gdLst/>
              <a:ahLst/>
              <a:cxnLst/>
              <a:rect r="r" b="b" t="t" l="l"/>
              <a:pathLst>
                <a:path h="609600" w="609600">
                  <a:moveTo>
                    <a:pt x="304800" y="0"/>
                  </a:moveTo>
                  <a:cubicBezTo>
                    <a:pt x="473136" y="0"/>
                    <a:pt x="609600" y="136464"/>
                    <a:pt x="609600" y="304800"/>
                  </a:cubicBezTo>
                  <a:cubicBezTo>
                    <a:pt x="609600" y="473136"/>
                    <a:pt x="473136" y="609600"/>
                    <a:pt x="304800" y="609600"/>
                  </a:cubicBezTo>
                  <a:cubicBezTo>
                    <a:pt x="136464" y="609600"/>
                    <a:pt x="0" y="473136"/>
                    <a:pt x="0" y="304800"/>
                  </a:cubicBezTo>
                  <a:cubicBezTo>
                    <a:pt x="0" y="136464"/>
                    <a:pt x="136464" y="0"/>
                    <a:pt x="304800" y="0"/>
                  </a:cubicBezTo>
                  <a:close/>
                </a:path>
              </a:pathLst>
            </a:custGeom>
            <a:solidFill>
              <a:srgbClr val="2A2A2A"/>
            </a:solidFill>
            <a:ln cap="sq">
              <a:noFill/>
              <a:prstDash val="solid"/>
              <a:miter/>
            </a:ln>
          </p:spPr>
        </p:sp>
        <p:sp>
          <p:nvSpPr>
            <p:cNvPr name="TextBox 71" id="71"/>
            <p:cNvSpPr txBox="true"/>
            <p:nvPr/>
          </p:nvSpPr>
          <p:spPr>
            <a:xfrm>
              <a:off x="0" y="-38100"/>
              <a:ext cx="609600" cy="647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72" id="72"/>
          <p:cNvGrpSpPr/>
          <p:nvPr/>
        </p:nvGrpSpPr>
        <p:grpSpPr>
          <a:xfrm rot="0">
            <a:off x="3238500" y="5791200"/>
            <a:ext cx="762000" cy="1714500"/>
            <a:chOff x="0" y="0"/>
            <a:chExt cx="1016000" cy="2286000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10160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1016000">
                  <a:moveTo>
                    <a:pt x="203200" y="0"/>
                  </a:moveTo>
                  <a:lnTo>
                    <a:pt x="812800" y="0"/>
                  </a:lnTo>
                  <a:lnTo>
                    <a:pt x="1016000" y="2286000"/>
                  </a:lnTo>
                  <a:lnTo>
                    <a:pt x="0" y="2286000"/>
                  </a:lnTo>
                  <a:close/>
                </a:path>
              </a:pathLst>
            </a:custGeom>
            <a:solidFill>
              <a:srgbClr val="1A1A1A"/>
            </a:solidFill>
            <a:ln cap="sq">
              <a:noFill/>
              <a:prstDash val="solid"/>
              <a:miter/>
            </a:ln>
          </p:spPr>
        </p:sp>
        <p:sp>
          <p:nvSpPr>
            <p:cNvPr name="TextBox 74" id="74"/>
            <p:cNvSpPr txBox="true"/>
            <p:nvPr/>
          </p:nvSpPr>
          <p:spPr>
            <a:xfrm>
              <a:off x="0" y="-38100"/>
              <a:ext cx="1016000" cy="232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75" id="75"/>
          <p:cNvGrpSpPr/>
          <p:nvPr/>
        </p:nvGrpSpPr>
        <p:grpSpPr>
          <a:xfrm rot="0">
            <a:off x="3810000" y="6096000"/>
            <a:ext cx="190500" cy="190500"/>
            <a:chOff x="0" y="0"/>
            <a:chExt cx="254000" cy="254000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254000" cy="254000"/>
            </a:xfrm>
            <a:custGeom>
              <a:avLst/>
              <a:gdLst/>
              <a:ahLst/>
              <a:cxnLst/>
              <a:rect r="r" b="b" t="t" l="l"/>
              <a:pathLst>
                <a:path h="254000" w="254000">
                  <a:moveTo>
                    <a:pt x="127000" y="0"/>
                  </a:moveTo>
                  <a:cubicBezTo>
                    <a:pt x="197140" y="0"/>
                    <a:pt x="254000" y="56860"/>
                    <a:pt x="254000" y="127000"/>
                  </a:cubicBezTo>
                  <a:cubicBezTo>
                    <a:pt x="254000" y="197140"/>
                    <a:pt x="197140" y="254000"/>
                    <a:pt x="127000" y="254000"/>
                  </a:cubicBezTo>
                  <a:cubicBezTo>
                    <a:pt x="56860" y="254000"/>
                    <a:pt x="0" y="197140"/>
                    <a:pt x="0" y="127000"/>
                  </a:cubicBez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FFDD66">
                <a:alpha val="89804"/>
              </a:srgbClr>
            </a:solidFill>
            <a:ln cap="sq">
              <a:noFill/>
              <a:prstDash val="solid"/>
              <a:miter/>
            </a:ln>
          </p:spPr>
        </p:sp>
        <p:sp>
          <p:nvSpPr>
            <p:cNvPr name="TextBox 77" id="77"/>
            <p:cNvSpPr txBox="true"/>
            <p:nvPr/>
          </p:nvSpPr>
          <p:spPr>
            <a:xfrm>
              <a:off x="0" y="-38100"/>
              <a:ext cx="254000" cy="29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78" id="78"/>
          <p:cNvGrpSpPr/>
          <p:nvPr/>
        </p:nvGrpSpPr>
        <p:grpSpPr>
          <a:xfrm rot="0">
            <a:off x="5867400" y="5334000"/>
            <a:ext cx="457200" cy="457200"/>
            <a:chOff x="0" y="0"/>
            <a:chExt cx="609600" cy="609600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609600" cy="609600"/>
            </a:xfrm>
            <a:custGeom>
              <a:avLst/>
              <a:gdLst/>
              <a:ahLst/>
              <a:cxnLst/>
              <a:rect r="r" b="b" t="t" l="l"/>
              <a:pathLst>
                <a:path h="609600" w="609600">
                  <a:moveTo>
                    <a:pt x="304800" y="0"/>
                  </a:moveTo>
                  <a:cubicBezTo>
                    <a:pt x="473136" y="0"/>
                    <a:pt x="609600" y="136464"/>
                    <a:pt x="609600" y="304800"/>
                  </a:cubicBezTo>
                  <a:cubicBezTo>
                    <a:pt x="609600" y="473136"/>
                    <a:pt x="473136" y="609600"/>
                    <a:pt x="304800" y="609600"/>
                  </a:cubicBezTo>
                  <a:cubicBezTo>
                    <a:pt x="136464" y="609600"/>
                    <a:pt x="0" y="473136"/>
                    <a:pt x="0" y="304800"/>
                  </a:cubicBezTo>
                  <a:cubicBezTo>
                    <a:pt x="0" y="136464"/>
                    <a:pt x="136464" y="0"/>
                    <a:pt x="304800" y="0"/>
                  </a:cubicBezTo>
                  <a:close/>
                </a:path>
              </a:pathLst>
            </a:custGeom>
            <a:solidFill>
              <a:srgbClr val="2A2A2A"/>
            </a:solidFill>
            <a:ln cap="sq">
              <a:noFill/>
              <a:prstDash val="solid"/>
              <a:miter/>
            </a:ln>
          </p:spPr>
        </p:sp>
        <p:sp>
          <p:nvSpPr>
            <p:cNvPr name="TextBox 80" id="80"/>
            <p:cNvSpPr txBox="true"/>
            <p:nvPr/>
          </p:nvSpPr>
          <p:spPr>
            <a:xfrm>
              <a:off x="0" y="-38100"/>
              <a:ext cx="609600" cy="647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1" id="81"/>
          <p:cNvGrpSpPr/>
          <p:nvPr/>
        </p:nvGrpSpPr>
        <p:grpSpPr>
          <a:xfrm rot="0">
            <a:off x="5715000" y="5791200"/>
            <a:ext cx="762000" cy="1714500"/>
            <a:chOff x="0" y="0"/>
            <a:chExt cx="1016000" cy="2286000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10160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1016000">
                  <a:moveTo>
                    <a:pt x="203200" y="0"/>
                  </a:moveTo>
                  <a:lnTo>
                    <a:pt x="812800" y="0"/>
                  </a:lnTo>
                  <a:lnTo>
                    <a:pt x="1016000" y="2286000"/>
                  </a:lnTo>
                  <a:lnTo>
                    <a:pt x="0" y="2286000"/>
                  </a:lnTo>
                  <a:close/>
                </a:path>
              </a:pathLst>
            </a:custGeom>
            <a:solidFill>
              <a:srgbClr val="1A1A1A"/>
            </a:solidFill>
            <a:ln cap="sq">
              <a:noFill/>
              <a:prstDash val="solid"/>
              <a:miter/>
            </a:ln>
          </p:spPr>
        </p:sp>
        <p:sp>
          <p:nvSpPr>
            <p:cNvPr name="TextBox 83" id="83"/>
            <p:cNvSpPr txBox="true"/>
            <p:nvPr/>
          </p:nvSpPr>
          <p:spPr>
            <a:xfrm>
              <a:off x="0" y="-38100"/>
              <a:ext cx="1016000" cy="232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4" id="84"/>
          <p:cNvGrpSpPr/>
          <p:nvPr/>
        </p:nvGrpSpPr>
        <p:grpSpPr>
          <a:xfrm rot="0">
            <a:off x="6362700" y="6191250"/>
            <a:ext cx="190500" cy="190500"/>
            <a:chOff x="0" y="0"/>
            <a:chExt cx="254000" cy="254000"/>
          </a:xfrm>
        </p:grpSpPr>
        <p:sp>
          <p:nvSpPr>
            <p:cNvPr name="Freeform 85" id="85"/>
            <p:cNvSpPr/>
            <p:nvPr/>
          </p:nvSpPr>
          <p:spPr>
            <a:xfrm flipH="false" flipV="false" rot="0">
              <a:off x="0" y="0"/>
              <a:ext cx="254000" cy="254000"/>
            </a:xfrm>
            <a:custGeom>
              <a:avLst/>
              <a:gdLst/>
              <a:ahLst/>
              <a:cxnLst/>
              <a:rect r="r" b="b" t="t" l="l"/>
              <a:pathLst>
                <a:path h="254000" w="254000">
                  <a:moveTo>
                    <a:pt x="127000" y="0"/>
                  </a:moveTo>
                  <a:cubicBezTo>
                    <a:pt x="197140" y="0"/>
                    <a:pt x="254000" y="56860"/>
                    <a:pt x="254000" y="127000"/>
                  </a:cubicBezTo>
                  <a:cubicBezTo>
                    <a:pt x="254000" y="197140"/>
                    <a:pt x="197140" y="254000"/>
                    <a:pt x="127000" y="254000"/>
                  </a:cubicBezTo>
                  <a:cubicBezTo>
                    <a:pt x="56860" y="254000"/>
                    <a:pt x="0" y="197140"/>
                    <a:pt x="0" y="127000"/>
                  </a:cubicBez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FFDD66">
                <a:alpha val="89804"/>
              </a:srgbClr>
            </a:solidFill>
            <a:ln cap="sq">
              <a:noFill/>
              <a:prstDash val="solid"/>
              <a:miter/>
            </a:ln>
          </p:spPr>
        </p:sp>
        <p:sp>
          <p:nvSpPr>
            <p:cNvPr name="TextBox 86" id="86"/>
            <p:cNvSpPr txBox="true"/>
            <p:nvPr/>
          </p:nvSpPr>
          <p:spPr>
            <a:xfrm>
              <a:off x="0" y="-38100"/>
              <a:ext cx="254000" cy="29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7" id="87"/>
          <p:cNvGrpSpPr/>
          <p:nvPr/>
        </p:nvGrpSpPr>
        <p:grpSpPr>
          <a:xfrm rot="0">
            <a:off x="8343900" y="5334000"/>
            <a:ext cx="457200" cy="457200"/>
            <a:chOff x="0" y="0"/>
            <a:chExt cx="609600" cy="609600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0" y="0"/>
              <a:ext cx="609600" cy="609600"/>
            </a:xfrm>
            <a:custGeom>
              <a:avLst/>
              <a:gdLst/>
              <a:ahLst/>
              <a:cxnLst/>
              <a:rect r="r" b="b" t="t" l="l"/>
              <a:pathLst>
                <a:path h="609600" w="609600">
                  <a:moveTo>
                    <a:pt x="304800" y="0"/>
                  </a:moveTo>
                  <a:cubicBezTo>
                    <a:pt x="473136" y="0"/>
                    <a:pt x="609600" y="136464"/>
                    <a:pt x="609600" y="304800"/>
                  </a:cubicBezTo>
                  <a:cubicBezTo>
                    <a:pt x="609600" y="473136"/>
                    <a:pt x="473136" y="609600"/>
                    <a:pt x="304800" y="609600"/>
                  </a:cubicBezTo>
                  <a:cubicBezTo>
                    <a:pt x="136464" y="609600"/>
                    <a:pt x="0" y="473136"/>
                    <a:pt x="0" y="304800"/>
                  </a:cubicBezTo>
                  <a:cubicBezTo>
                    <a:pt x="0" y="136464"/>
                    <a:pt x="136464" y="0"/>
                    <a:pt x="304800" y="0"/>
                  </a:cubicBezTo>
                  <a:close/>
                </a:path>
              </a:pathLst>
            </a:custGeom>
            <a:solidFill>
              <a:srgbClr val="2A2A2A"/>
            </a:solidFill>
            <a:ln cap="sq">
              <a:noFill/>
              <a:prstDash val="solid"/>
              <a:miter/>
            </a:ln>
          </p:spPr>
        </p:sp>
        <p:sp>
          <p:nvSpPr>
            <p:cNvPr name="TextBox 89" id="89"/>
            <p:cNvSpPr txBox="true"/>
            <p:nvPr/>
          </p:nvSpPr>
          <p:spPr>
            <a:xfrm>
              <a:off x="0" y="-38100"/>
              <a:ext cx="609600" cy="647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90" id="90"/>
          <p:cNvGrpSpPr/>
          <p:nvPr/>
        </p:nvGrpSpPr>
        <p:grpSpPr>
          <a:xfrm rot="0">
            <a:off x="8191500" y="5791200"/>
            <a:ext cx="762000" cy="1714500"/>
            <a:chOff x="0" y="0"/>
            <a:chExt cx="1016000" cy="2286000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10160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1016000">
                  <a:moveTo>
                    <a:pt x="203200" y="0"/>
                  </a:moveTo>
                  <a:lnTo>
                    <a:pt x="812800" y="0"/>
                  </a:lnTo>
                  <a:lnTo>
                    <a:pt x="1016000" y="2286000"/>
                  </a:lnTo>
                  <a:lnTo>
                    <a:pt x="0" y="2286000"/>
                  </a:lnTo>
                  <a:close/>
                </a:path>
              </a:pathLst>
            </a:custGeom>
            <a:solidFill>
              <a:srgbClr val="1A1A1A"/>
            </a:solidFill>
            <a:ln cap="sq">
              <a:noFill/>
              <a:prstDash val="solid"/>
              <a:miter/>
            </a:ln>
          </p:spPr>
        </p:sp>
        <p:sp>
          <p:nvSpPr>
            <p:cNvPr name="TextBox 92" id="92"/>
            <p:cNvSpPr txBox="true"/>
            <p:nvPr/>
          </p:nvSpPr>
          <p:spPr>
            <a:xfrm>
              <a:off x="0" y="-38100"/>
              <a:ext cx="1016000" cy="232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93" id="93"/>
          <p:cNvGrpSpPr/>
          <p:nvPr/>
        </p:nvGrpSpPr>
        <p:grpSpPr>
          <a:xfrm rot="0">
            <a:off x="8915400" y="6286500"/>
            <a:ext cx="190500" cy="190500"/>
            <a:chOff x="0" y="0"/>
            <a:chExt cx="254000" cy="254000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254000" cy="254000"/>
            </a:xfrm>
            <a:custGeom>
              <a:avLst/>
              <a:gdLst/>
              <a:ahLst/>
              <a:cxnLst/>
              <a:rect r="r" b="b" t="t" l="l"/>
              <a:pathLst>
                <a:path h="254000" w="254000">
                  <a:moveTo>
                    <a:pt x="127000" y="0"/>
                  </a:moveTo>
                  <a:cubicBezTo>
                    <a:pt x="197140" y="0"/>
                    <a:pt x="254000" y="56860"/>
                    <a:pt x="254000" y="127000"/>
                  </a:cubicBezTo>
                  <a:cubicBezTo>
                    <a:pt x="254000" y="197140"/>
                    <a:pt x="197140" y="254000"/>
                    <a:pt x="127000" y="254000"/>
                  </a:cubicBezTo>
                  <a:cubicBezTo>
                    <a:pt x="56860" y="254000"/>
                    <a:pt x="0" y="197140"/>
                    <a:pt x="0" y="127000"/>
                  </a:cubicBez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FFDD66">
                <a:alpha val="89804"/>
              </a:srgbClr>
            </a:solidFill>
            <a:ln cap="sq">
              <a:noFill/>
              <a:prstDash val="solid"/>
              <a:miter/>
            </a:ln>
          </p:spPr>
        </p:sp>
        <p:sp>
          <p:nvSpPr>
            <p:cNvPr name="TextBox 95" id="95"/>
            <p:cNvSpPr txBox="true"/>
            <p:nvPr/>
          </p:nvSpPr>
          <p:spPr>
            <a:xfrm>
              <a:off x="0" y="-38100"/>
              <a:ext cx="254000" cy="29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AutoShape 96" id="96"/>
          <p:cNvSpPr/>
          <p:nvPr/>
        </p:nvSpPr>
        <p:spPr>
          <a:xfrm>
            <a:off x="1143000" y="7810500"/>
            <a:ext cx="10477500" cy="0"/>
          </a:xfrm>
          <a:prstGeom prst="line">
            <a:avLst/>
          </a:prstGeom>
          <a:ln cap="flat" w="38100">
            <a:solidFill>
              <a:srgbClr val="B5121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7" id="97"/>
          <p:cNvSpPr/>
          <p:nvPr/>
        </p:nvSpPr>
        <p:spPr>
          <a:xfrm>
            <a:off x="838200" y="3314700"/>
            <a:ext cx="209550" cy="0"/>
          </a:xfrm>
          <a:prstGeom prst="line">
            <a:avLst/>
          </a:prstGeom>
          <a:ln cap="flat" w="19050">
            <a:solidFill>
              <a:srgbClr val="B5121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8" id="98"/>
          <p:cNvSpPr/>
          <p:nvPr/>
        </p:nvSpPr>
        <p:spPr>
          <a:xfrm>
            <a:off x="838200" y="3314700"/>
            <a:ext cx="0" cy="209550"/>
          </a:xfrm>
          <a:prstGeom prst="line">
            <a:avLst/>
          </a:prstGeom>
          <a:ln cap="flat" w="19050">
            <a:solidFill>
              <a:srgbClr val="B5121B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99" id="99"/>
          <p:cNvGrpSpPr/>
          <p:nvPr/>
        </p:nvGrpSpPr>
        <p:grpSpPr>
          <a:xfrm rot="0">
            <a:off x="1143000" y="8191500"/>
            <a:ext cx="1905000" cy="381000"/>
            <a:chOff x="0" y="0"/>
            <a:chExt cx="2540000" cy="508000"/>
          </a:xfrm>
        </p:grpSpPr>
        <p:sp>
          <p:nvSpPr>
            <p:cNvPr name="Freeform 100" id="100"/>
            <p:cNvSpPr/>
            <p:nvPr/>
          </p:nvSpPr>
          <p:spPr>
            <a:xfrm flipH="false" flipV="false" rot="0">
              <a:off x="0" y="0"/>
              <a:ext cx="2540000" cy="508000"/>
            </a:xfrm>
            <a:custGeom>
              <a:avLst/>
              <a:gdLst/>
              <a:ahLst/>
              <a:cxnLst/>
              <a:rect r="r" b="b" t="t" l="l"/>
              <a:pathLst>
                <a:path h="508000" w="2540000">
                  <a:moveTo>
                    <a:pt x="0" y="0"/>
                  </a:moveTo>
                  <a:lnTo>
                    <a:pt x="2540000" y="0"/>
                  </a:lnTo>
                  <a:lnTo>
                    <a:pt x="2540000" y="508000"/>
                  </a:lnTo>
                  <a:lnTo>
                    <a:pt x="0" y="508000"/>
                  </a:lnTo>
                  <a:close/>
                </a:path>
              </a:pathLst>
            </a:custGeom>
            <a:solidFill>
              <a:srgbClr val="B5121B"/>
            </a:solidFill>
            <a:ln cap="sq">
              <a:noFill/>
              <a:prstDash val="solid"/>
              <a:miter/>
            </a:ln>
          </p:spPr>
        </p:sp>
        <p:sp>
          <p:nvSpPr>
            <p:cNvPr name="TextBox 101" id="101"/>
            <p:cNvSpPr txBox="true"/>
            <p:nvPr/>
          </p:nvSpPr>
          <p:spPr>
            <a:xfrm>
              <a:off x="0" y="-38100"/>
              <a:ext cx="2540000" cy="54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02" id="102"/>
          <p:cNvSpPr txBox="true"/>
          <p:nvPr/>
        </p:nvSpPr>
        <p:spPr>
          <a:xfrm rot="0">
            <a:off x="1143000" y="8267700"/>
            <a:ext cx="190500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b="true">
                <a:solidFill>
                  <a:srgbClr val="FFFFFF"/>
                </a:solidFill>
                <a:latin typeface="Oswald Bold"/>
                <a:ea typeface="Oswald Bold"/>
                <a:cs typeface="Oswald Bold"/>
                <a:sym typeface="Oswald Bold"/>
              </a:rPr>
              <a:t>ON-SITE INSTALL</a:t>
            </a:r>
          </a:p>
        </p:txBody>
      </p:sp>
      <p:sp>
        <p:nvSpPr>
          <p:cNvPr name="AutoShape 103" id="103"/>
          <p:cNvSpPr/>
          <p:nvPr/>
        </p:nvSpPr>
        <p:spPr>
          <a:xfrm>
            <a:off x="12382500" y="3143250"/>
            <a:ext cx="5334000" cy="0"/>
          </a:xfrm>
          <a:prstGeom prst="line">
            <a:avLst/>
          </a:prstGeom>
          <a:ln cap="flat" w="9525">
            <a:solidFill>
              <a:srgbClr val="55555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4" id="104"/>
          <p:cNvSpPr/>
          <p:nvPr/>
        </p:nvSpPr>
        <p:spPr>
          <a:xfrm>
            <a:off x="12382500" y="4171950"/>
            <a:ext cx="5334000" cy="0"/>
          </a:xfrm>
          <a:prstGeom prst="line">
            <a:avLst/>
          </a:prstGeom>
          <a:ln cap="flat" w="9525">
            <a:solidFill>
              <a:srgbClr val="55555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5" id="105"/>
          <p:cNvSpPr/>
          <p:nvPr/>
        </p:nvSpPr>
        <p:spPr>
          <a:xfrm>
            <a:off x="12382500" y="5200650"/>
            <a:ext cx="5334000" cy="0"/>
          </a:xfrm>
          <a:prstGeom prst="line">
            <a:avLst/>
          </a:prstGeom>
          <a:ln cap="flat" w="9525">
            <a:solidFill>
              <a:srgbClr val="55555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6" id="106"/>
          <p:cNvSpPr/>
          <p:nvPr/>
        </p:nvSpPr>
        <p:spPr>
          <a:xfrm>
            <a:off x="12382500" y="6229350"/>
            <a:ext cx="5334000" cy="0"/>
          </a:xfrm>
          <a:prstGeom prst="line">
            <a:avLst/>
          </a:prstGeom>
          <a:ln cap="flat" w="9525">
            <a:solidFill>
              <a:srgbClr val="55555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7" id="107"/>
          <p:cNvSpPr/>
          <p:nvPr/>
        </p:nvSpPr>
        <p:spPr>
          <a:xfrm>
            <a:off x="12382500" y="7258050"/>
            <a:ext cx="5334000" cy="0"/>
          </a:xfrm>
          <a:prstGeom prst="line">
            <a:avLst/>
          </a:prstGeom>
          <a:ln cap="flat" w="9525">
            <a:solidFill>
              <a:srgbClr val="55555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08" id="108"/>
          <p:cNvSpPr txBox="true"/>
          <p:nvPr/>
        </p:nvSpPr>
        <p:spPr>
          <a:xfrm rot="0">
            <a:off x="12382500" y="3209925"/>
            <a:ext cx="5334000" cy="150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55"/>
              </a:lnSpc>
            </a:pPr>
            <a:r>
              <a:rPr lang="en-US" sz="825" spc="288" b="true">
                <a:solidFill>
                  <a:srgbClr val="B5121B"/>
                </a:solidFill>
                <a:latin typeface="Inter 2 Bold"/>
                <a:ea typeface="Inter 2 Bold"/>
                <a:cs typeface="Inter 2 Bold"/>
                <a:sym typeface="Inter 2 Bold"/>
              </a:rPr>
              <a:t>CREW</a:t>
            </a:r>
          </a:p>
        </p:txBody>
      </p:sp>
      <p:sp>
        <p:nvSpPr>
          <p:cNvPr name="TextBox 109" id="109"/>
          <p:cNvSpPr txBox="true"/>
          <p:nvPr/>
        </p:nvSpPr>
        <p:spPr>
          <a:xfrm rot="0">
            <a:off x="12382500" y="3419475"/>
            <a:ext cx="5334000" cy="2076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200">
                <a:solidFill>
                  <a:srgbClr val="FFFFFF"/>
                </a:solidFill>
                <a:latin typeface="Inter 2"/>
                <a:ea typeface="Inter 2"/>
                <a:cs typeface="Inter 2"/>
                <a:sym typeface="Inter 2"/>
              </a:rPr>
              <a:t>5-person install team, all trades on-site.</a:t>
            </a:r>
          </a:p>
        </p:txBody>
      </p:sp>
      <p:sp>
        <p:nvSpPr>
          <p:cNvPr name="TextBox 110" id="110"/>
          <p:cNvSpPr txBox="true"/>
          <p:nvPr/>
        </p:nvSpPr>
        <p:spPr>
          <a:xfrm rot="0">
            <a:off x="12382500" y="4238625"/>
            <a:ext cx="5334000" cy="150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55"/>
              </a:lnSpc>
            </a:pPr>
            <a:r>
              <a:rPr lang="en-US" sz="825" spc="288" b="true">
                <a:solidFill>
                  <a:srgbClr val="B5121B"/>
                </a:solidFill>
                <a:latin typeface="Inter 2 Bold"/>
                <a:ea typeface="Inter 2 Bold"/>
                <a:cs typeface="Inter 2 Bold"/>
                <a:sym typeface="Inter 2 Bold"/>
              </a:rPr>
              <a:t>EQUIPMENT</a:t>
            </a:r>
          </a:p>
        </p:txBody>
      </p:sp>
      <p:sp>
        <p:nvSpPr>
          <p:cNvPr name="TextBox 111" id="111"/>
          <p:cNvSpPr txBox="true"/>
          <p:nvPr/>
        </p:nvSpPr>
        <p:spPr>
          <a:xfrm rot="0">
            <a:off x="12382500" y="4448175"/>
            <a:ext cx="5334000" cy="2076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200">
                <a:solidFill>
                  <a:srgbClr val="FFFFFF"/>
                </a:solidFill>
                <a:latin typeface="Inter 2"/>
                <a:ea typeface="Inter 2"/>
                <a:cs typeface="Inter 2"/>
                <a:sym typeface="Inter 2"/>
              </a:rPr>
              <a:t>Rough-terrain forklift · MIG rig · plasma cutter.</a:t>
            </a:r>
          </a:p>
        </p:txBody>
      </p:sp>
      <p:sp>
        <p:nvSpPr>
          <p:cNvPr name="TextBox 112" id="112"/>
          <p:cNvSpPr txBox="true"/>
          <p:nvPr/>
        </p:nvSpPr>
        <p:spPr>
          <a:xfrm rot="0">
            <a:off x="12382500" y="5267325"/>
            <a:ext cx="5334000" cy="150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55"/>
              </a:lnSpc>
            </a:pPr>
            <a:r>
              <a:rPr lang="en-US" sz="825" spc="288" b="true">
                <a:solidFill>
                  <a:srgbClr val="B5121B"/>
                </a:solidFill>
                <a:latin typeface="Inter 2 Bold"/>
                <a:ea typeface="Inter 2 Bold"/>
                <a:cs typeface="Inter 2 Bold"/>
                <a:sym typeface="Inter 2 Bold"/>
              </a:rPr>
              <a:t>SAFETY</a:t>
            </a:r>
          </a:p>
        </p:txBody>
      </p:sp>
      <p:sp>
        <p:nvSpPr>
          <p:cNvPr name="TextBox 113" id="113"/>
          <p:cNvSpPr txBox="true"/>
          <p:nvPr/>
        </p:nvSpPr>
        <p:spPr>
          <a:xfrm rot="0">
            <a:off x="12382500" y="5476875"/>
            <a:ext cx="5334000" cy="2076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200">
                <a:solidFill>
                  <a:srgbClr val="FFFFFF"/>
                </a:solidFill>
                <a:latin typeface="Inter 2"/>
                <a:ea typeface="Inter 2"/>
                <a:cs typeface="Inter 2"/>
                <a:sym typeface="Inter 2"/>
              </a:rPr>
              <a:t>Fire watch · hot-work permit · PPE tier 3.</a:t>
            </a:r>
          </a:p>
        </p:txBody>
      </p:sp>
      <p:sp>
        <p:nvSpPr>
          <p:cNvPr name="TextBox 114" id="114"/>
          <p:cNvSpPr txBox="true"/>
          <p:nvPr/>
        </p:nvSpPr>
        <p:spPr>
          <a:xfrm rot="0">
            <a:off x="12382500" y="6296025"/>
            <a:ext cx="5334000" cy="150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55"/>
              </a:lnSpc>
            </a:pPr>
            <a:r>
              <a:rPr lang="en-US" sz="825" spc="288" b="true">
                <a:solidFill>
                  <a:srgbClr val="B5121B"/>
                </a:solidFill>
                <a:latin typeface="Inter 2 Bold"/>
                <a:ea typeface="Inter 2 Bold"/>
                <a:cs typeface="Inter 2 Bold"/>
                <a:sym typeface="Inter 2 Bold"/>
              </a:rPr>
              <a:t>SITE CONDITIONS</a:t>
            </a:r>
          </a:p>
        </p:txBody>
      </p:sp>
      <p:sp>
        <p:nvSpPr>
          <p:cNvPr name="TextBox 115" id="115"/>
          <p:cNvSpPr txBox="true"/>
          <p:nvPr/>
        </p:nvSpPr>
        <p:spPr>
          <a:xfrm rot="0">
            <a:off x="12382500" y="6505575"/>
            <a:ext cx="5334000" cy="2076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200">
                <a:solidFill>
                  <a:srgbClr val="FFFFFF"/>
                </a:solidFill>
                <a:latin typeface="Inter 2"/>
                <a:ea typeface="Inter 2"/>
                <a:cs typeface="Inter 2"/>
                <a:sym typeface="Inter 2"/>
              </a:rPr>
              <a:t>Concrete pad, 42° F, mild wind — heat blankets deployed.</a:t>
            </a:r>
          </a:p>
        </p:txBody>
      </p:sp>
      <p:sp>
        <p:nvSpPr>
          <p:cNvPr name="TextBox 116" id="116"/>
          <p:cNvSpPr txBox="true"/>
          <p:nvPr/>
        </p:nvSpPr>
        <p:spPr>
          <a:xfrm rot="0">
            <a:off x="12382500" y="7324725"/>
            <a:ext cx="5334000" cy="150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55"/>
              </a:lnSpc>
            </a:pPr>
            <a:r>
              <a:rPr lang="en-US" sz="825" spc="288" b="true">
                <a:solidFill>
                  <a:srgbClr val="B5121B"/>
                </a:solidFill>
                <a:latin typeface="Inter 2 Bold"/>
                <a:ea typeface="Inter 2 Bold"/>
                <a:cs typeface="Inter 2 Bold"/>
                <a:sym typeface="Inter 2 Bold"/>
              </a:rPr>
              <a:t>CHALLENGE OVERCOME</a:t>
            </a:r>
          </a:p>
        </p:txBody>
      </p:sp>
      <p:sp>
        <p:nvSpPr>
          <p:cNvPr name="TextBox 117" id="117"/>
          <p:cNvSpPr txBox="true"/>
          <p:nvPr/>
        </p:nvSpPr>
        <p:spPr>
          <a:xfrm rot="0">
            <a:off x="12382500" y="7534275"/>
            <a:ext cx="5334000" cy="2076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200">
                <a:solidFill>
                  <a:srgbClr val="FFFFFF"/>
                </a:solidFill>
                <a:latin typeface="Inter 2"/>
                <a:ea typeface="Inter 2"/>
                <a:cs typeface="Inter 2"/>
                <a:sym typeface="Inter 2"/>
              </a:rPr>
              <a:t>Field-verified corner variance; on-site shims fabricated in ≈ 40 minutes.</a:t>
            </a:r>
          </a:p>
        </p:txBody>
      </p:sp>
      <p:sp>
        <p:nvSpPr>
          <p:cNvPr name="AutoShape 118" id="118"/>
          <p:cNvSpPr/>
          <p:nvPr/>
        </p:nvSpPr>
        <p:spPr>
          <a:xfrm>
            <a:off x="762000" y="9677400"/>
            <a:ext cx="16764000" cy="0"/>
          </a:xfrm>
          <a:prstGeom prst="line">
            <a:avLst/>
          </a:prstGeom>
          <a:ln cap="flat" w="9525">
            <a:solidFill>
              <a:srgbClr val="55555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19" id="119"/>
          <p:cNvSpPr txBox="true"/>
          <p:nvPr/>
        </p:nvSpPr>
        <p:spPr>
          <a:xfrm rot="0">
            <a:off x="762000" y="9810750"/>
            <a:ext cx="381000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405" b="true">
                <a:solidFill>
                  <a:srgbClr val="C0C0C0"/>
                </a:solidFill>
                <a:latin typeface="Oswald Bold"/>
                <a:ea typeface="Oswald Bold"/>
                <a:cs typeface="Oswald Bold"/>
                <a:sym typeface="Oswald Bold"/>
              </a:rPr>
              <a:t>METAL WORX, INC.</a:t>
            </a:r>
          </a:p>
        </p:txBody>
      </p:sp>
      <p:sp>
        <p:nvSpPr>
          <p:cNvPr name="TextBox 120" id="120"/>
          <p:cNvSpPr txBox="true"/>
          <p:nvPr/>
        </p:nvSpPr>
        <p:spPr>
          <a:xfrm rot="0">
            <a:off x="4762500" y="9829800"/>
            <a:ext cx="7620000" cy="148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60"/>
              </a:lnSpc>
            </a:pPr>
            <a:r>
              <a:rPr lang="en-US" sz="900" spc="359">
                <a:solidFill>
                  <a:srgbClr val="C0C0C0"/>
                </a:solidFill>
                <a:latin typeface="Inter 2"/>
                <a:ea typeface="Inter 2"/>
                <a:cs typeface="Inter 2"/>
                <a:sym typeface="Inter 2"/>
              </a:rPr>
              <a:t>INSTALLATION FIELDWORK</a:t>
            </a:r>
          </a:p>
        </p:txBody>
      </p:sp>
      <p:sp>
        <p:nvSpPr>
          <p:cNvPr name="TextBox 121" id="121"/>
          <p:cNvSpPr txBox="true"/>
          <p:nvPr/>
        </p:nvSpPr>
        <p:spPr>
          <a:xfrm rot="0">
            <a:off x="15811500" y="9829800"/>
            <a:ext cx="1714500" cy="148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260"/>
              </a:lnSpc>
            </a:pPr>
            <a:r>
              <a:rPr lang="en-US" sz="900" spc="359">
                <a:solidFill>
                  <a:srgbClr val="C0C0C0"/>
                </a:solidFill>
                <a:latin typeface="Inter 2"/>
                <a:ea typeface="Inter 2"/>
                <a:cs typeface="Inter 2"/>
                <a:sym typeface="Inter 2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true">
              <a:gsLst>
                <a:gs pos="0">
                  <a:srgbClr val="0A0A0A">
                    <a:alpha val="100000"/>
                  </a:srgbClr>
                </a:gs>
                <a:gs pos="100000">
                  <a:srgbClr val="1A1A1A">
                    <a:alpha val="100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384000" cy="1375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AutoShape 5" id="5"/>
          <p:cNvSpPr/>
          <p:nvPr/>
        </p:nvSpPr>
        <p:spPr>
          <a:xfrm>
            <a:off x="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" id="6"/>
          <p:cNvSpPr/>
          <p:nvPr/>
        </p:nvSpPr>
        <p:spPr>
          <a:xfrm>
            <a:off x="762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" id="7"/>
          <p:cNvSpPr/>
          <p:nvPr/>
        </p:nvSpPr>
        <p:spPr>
          <a:xfrm>
            <a:off x="1524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" id="8"/>
          <p:cNvSpPr/>
          <p:nvPr/>
        </p:nvSpPr>
        <p:spPr>
          <a:xfrm>
            <a:off x="2286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" id="9"/>
          <p:cNvSpPr/>
          <p:nvPr/>
        </p:nvSpPr>
        <p:spPr>
          <a:xfrm>
            <a:off x="3048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" id="10"/>
          <p:cNvSpPr/>
          <p:nvPr/>
        </p:nvSpPr>
        <p:spPr>
          <a:xfrm>
            <a:off x="3810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1" id="11"/>
          <p:cNvSpPr/>
          <p:nvPr/>
        </p:nvSpPr>
        <p:spPr>
          <a:xfrm>
            <a:off x="4572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2" id="12"/>
          <p:cNvSpPr/>
          <p:nvPr/>
        </p:nvSpPr>
        <p:spPr>
          <a:xfrm>
            <a:off x="5334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3" id="13"/>
          <p:cNvSpPr/>
          <p:nvPr/>
        </p:nvSpPr>
        <p:spPr>
          <a:xfrm>
            <a:off x="6096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4" id="14"/>
          <p:cNvSpPr/>
          <p:nvPr/>
        </p:nvSpPr>
        <p:spPr>
          <a:xfrm>
            <a:off x="6858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5" id="15"/>
          <p:cNvSpPr/>
          <p:nvPr/>
        </p:nvSpPr>
        <p:spPr>
          <a:xfrm>
            <a:off x="7620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6" id="16"/>
          <p:cNvSpPr/>
          <p:nvPr/>
        </p:nvSpPr>
        <p:spPr>
          <a:xfrm>
            <a:off x="8382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7" id="17"/>
          <p:cNvSpPr/>
          <p:nvPr/>
        </p:nvSpPr>
        <p:spPr>
          <a:xfrm>
            <a:off x="9144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8" id="18"/>
          <p:cNvSpPr/>
          <p:nvPr/>
        </p:nvSpPr>
        <p:spPr>
          <a:xfrm>
            <a:off x="9906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9" id="19"/>
          <p:cNvSpPr/>
          <p:nvPr/>
        </p:nvSpPr>
        <p:spPr>
          <a:xfrm>
            <a:off x="10668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0" id="20"/>
          <p:cNvSpPr/>
          <p:nvPr/>
        </p:nvSpPr>
        <p:spPr>
          <a:xfrm>
            <a:off x="11430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1" id="21"/>
          <p:cNvSpPr/>
          <p:nvPr/>
        </p:nvSpPr>
        <p:spPr>
          <a:xfrm>
            <a:off x="12192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2" id="22"/>
          <p:cNvSpPr/>
          <p:nvPr/>
        </p:nvSpPr>
        <p:spPr>
          <a:xfrm>
            <a:off x="12954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3" id="23"/>
          <p:cNvSpPr/>
          <p:nvPr/>
        </p:nvSpPr>
        <p:spPr>
          <a:xfrm>
            <a:off x="13716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4" id="24"/>
          <p:cNvSpPr/>
          <p:nvPr/>
        </p:nvSpPr>
        <p:spPr>
          <a:xfrm>
            <a:off x="14478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5" id="25"/>
          <p:cNvSpPr/>
          <p:nvPr/>
        </p:nvSpPr>
        <p:spPr>
          <a:xfrm>
            <a:off x="15240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6" id="26"/>
          <p:cNvSpPr/>
          <p:nvPr/>
        </p:nvSpPr>
        <p:spPr>
          <a:xfrm>
            <a:off x="16002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7" id="27"/>
          <p:cNvSpPr/>
          <p:nvPr/>
        </p:nvSpPr>
        <p:spPr>
          <a:xfrm>
            <a:off x="16764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8" id="28"/>
          <p:cNvSpPr/>
          <p:nvPr/>
        </p:nvSpPr>
        <p:spPr>
          <a:xfrm>
            <a:off x="17526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9" id="29"/>
          <p:cNvSpPr/>
          <p:nvPr/>
        </p:nvSpPr>
        <p:spPr>
          <a:xfrm>
            <a:off x="182880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0" id="30"/>
          <p:cNvSpPr/>
          <p:nvPr/>
        </p:nvSpPr>
        <p:spPr>
          <a:xfrm>
            <a:off x="0" y="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1" id="31"/>
          <p:cNvSpPr/>
          <p:nvPr/>
        </p:nvSpPr>
        <p:spPr>
          <a:xfrm>
            <a:off x="0" y="76200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2" id="32"/>
          <p:cNvSpPr/>
          <p:nvPr/>
        </p:nvSpPr>
        <p:spPr>
          <a:xfrm>
            <a:off x="0" y="152400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3" id="33"/>
          <p:cNvSpPr/>
          <p:nvPr/>
        </p:nvSpPr>
        <p:spPr>
          <a:xfrm>
            <a:off x="0" y="228600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4" id="34"/>
          <p:cNvSpPr/>
          <p:nvPr/>
        </p:nvSpPr>
        <p:spPr>
          <a:xfrm>
            <a:off x="0" y="304800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5" id="35"/>
          <p:cNvSpPr/>
          <p:nvPr/>
        </p:nvSpPr>
        <p:spPr>
          <a:xfrm>
            <a:off x="0" y="381000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6" id="36"/>
          <p:cNvSpPr/>
          <p:nvPr/>
        </p:nvSpPr>
        <p:spPr>
          <a:xfrm>
            <a:off x="0" y="457200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7" id="37"/>
          <p:cNvSpPr/>
          <p:nvPr/>
        </p:nvSpPr>
        <p:spPr>
          <a:xfrm>
            <a:off x="0" y="533400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8" id="38"/>
          <p:cNvSpPr/>
          <p:nvPr/>
        </p:nvSpPr>
        <p:spPr>
          <a:xfrm>
            <a:off x="0" y="609600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9" id="39"/>
          <p:cNvSpPr/>
          <p:nvPr/>
        </p:nvSpPr>
        <p:spPr>
          <a:xfrm>
            <a:off x="0" y="685800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0" id="40"/>
          <p:cNvSpPr/>
          <p:nvPr/>
        </p:nvSpPr>
        <p:spPr>
          <a:xfrm>
            <a:off x="0" y="762000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1" id="41"/>
          <p:cNvSpPr/>
          <p:nvPr/>
        </p:nvSpPr>
        <p:spPr>
          <a:xfrm>
            <a:off x="0" y="838200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2" id="42"/>
          <p:cNvSpPr/>
          <p:nvPr/>
        </p:nvSpPr>
        <p:spPr>
          <a:xfrm>
            <a:off x="0" y="914400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3" id="43"/>
          <p:cNvSpPr/>
          <p:nvPr/>
        </p:nvSpPr>
        <p:spPr>
          <a:xfrm>
            <a:off x="0" y="9906000"/>
            <a:ext cx="18288000" cy="0"/>
          </a:xfrm>
          <a:prstGeom prst="line">
            <a:avLst/>
          </a:prstGeom>
          <a:ln cap="flat" w="9525">
            <a:solidFill>
              <a:srgbClr val="555555">
                <a:alpha val="7843"/>
              </a:srgbClr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4" id="44"/>
          <p:cNvGrpSpPr/>
          <p:nvPr/>
        </p:nvGrpSpPr>
        <p:grpSpPr>
          <a:xfrm rot="0">
            <a:off x="2476500" y="2286000"/>
            <a:ext cx="13335000" cy="4953000"/>
            <a:chOff x="0" y="0"/>
            <a:chExt cx="17780000" cy="660400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7780000" cy="6604000"/>
            </a:xfrm>
            <a:custGeom>
              <a:avLst/>
              <a:gdLst/>
              <a:ahLst/>
              <a:cxnLst/>
              <a:rect r="r" b="b" t="t" l="l"/>
              <a:pathLst>
                <a:path h="6604000" w="17780000">
                  <a:moveTo>
                    <a:pt x="0" y="0"/>
                  </a:moveTo>
                  <a:lnTo>
                    <a:pt x="17780000" y="0"/>
                  </a:lnTo>
                  <a:lnTo>
                    <a:pt x="17780000" y="6604000"/>
                  </a:lnTo>
                  <a:lnTo>
                    <a:pt x="0" y="6604000"/>
                  </a:lnTo>
                  <a:close/>
                </a:path>
              </a:pathLst>
            </a:custGeom>
            <a:solidFill>
              <a:srgbClr val="141414"/>
            </a:solidFill>
            <a:ln w="19050" cap="sq">
              <a:solidFill>
                <a:srgbClr val="555555"/>
              </a:solidFill>
              <a:prstDash val="solid"/>
              <a:miter/>
            </a:ln>
          </p:spPr>
        </p:sp>
        <p:sp>
          <p:nvSpPr>
            <p:cNvPr name="TextBox 46" id="46"/>
            <p:cNvSpPr txBox="true"/>
            <p:nvPr/>
          </p:nvSpPr>
          <p:spPr>
            <a:xfrm>
              <a:off x="0" y="-38100"/>
              <a:ext cx="17780000" cy="664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AutoShape 47" id="47"/>
          <p:cNvSpPr/>
          <p:nvPr/>
        </p:nvSpPr>
        <p:spPr>
          <a:xfrm>
            <a:off x="3048000" y="2667000"/>
            <a:ext cx="0" cy="4191000"/>
          </a:xfrm>
          <a:prstGeom prst="line">
            <a:avLst/>
          </a:prstGeom>
          <a:ln cap="flat" w="19050">
            <a:solidFill>
              <a:srgbClr val="2A2A2A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8" id="48"/>
          <p:cNvSpPr/>
          <p:nvPr/>
        </p:nvSpPr>
        <p:spPr>
          <a:xfrm>
            <a:off x="3860800" y="2667000"/>
            <a:ext cx="0" cy="4191000"/>
          </a:xfrm>
          <a:prstGeom prst="line">
            <a:avLst/>
          </a:prstGeom>
          <a:ln cap="flat" w="19050">
            <a:solidFill>
              <a:srgbClr val="2A2A2A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9" id="49"/>
          <p:cNvSpPr/>
          <p:nvPr/>
        </p:nvSpPr>
        <p:spPr>
          <a:xfrm>
            <a:off x="4673600" y="2667000"/>
            <a:ext cx="0" cy="4191000"/>
          </a:xfrm>
          <a:prstGeom prst="line">
            <a:avLst/>
          </a:prstGeom>
          <a:ln cap="flat" w="19050">
            <a:solidFill>
              <a:srgbClr val="2A2A2A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0" id="50"/>
          <p:cNvSpPr/>
          <p:nvPr/>
        </p:nvSpPr>
        <p:spPr>
          <a:xfrm>
            <a:off x="5486400" y="2667000"/>
            <a:ext cx="0" cy="4191000"/>
          </a:xfrm>
          <a:prstGeom prst="line">
            <a:avLst/>
          </a:prstGeom>
          <a:ln cap="flat" w="19050">
            <a:solidFill>
              <a:srgbClr val="2A2A2A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1" id="51"/>
          <p:cNvSpPr/>
          <p:nvPr/>
        </p:nvSpPr>
        <p:spPr>
          <a:xfrm>
            <a:off x="6299200" y="2667000"/>
            <a:ext cx="0" cy="4191000"/>
          </a:xfrm>
          <a:prstGeom prst="line">
            <a:avLst/>
          </a:prstGeom>
          <a:ln cap="flat" w="19050">
            <a:solidFill>
              <a:srgbClr val="2A2A2A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2" id="52"/>
          <p:cNvSpPr/>
          <p:nvPr/>
        </p:nvSpPr>
        <p:spPr>
          <a:xfrm>
            <a:off x="7112000" y="2667000"/>
            <a:ext cx="0" cy="4191000"/>
          </a:xfrm>
          <a:prstGeom prst="line">
            <a:avLst/>
          </a:prstGeom>
          <a:ln cap="flat" w="19050">
            <a:solidFill>
              <a:srgbClr val="2A2A2A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3" id="53"/>
          <p:cNvSpPr/>
          <p:nvPr/>
        </p:nvSpPr>
        <p:spPr>
          <a:xfrm>
            <a:off x="7924800" y="2667000"/>
            <a:ext cx="0" cy="4191000"/>
          </a:xfrm>
          <a:prstGeom prst="line">
            <a:avLst/>
          </a:prstGeom>
          <a:ln cap="flat" w="19050">
            <a:solidFill>
              <a:srgbClr val="2A2A2A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4" id="54"/>
          <p:cNvSpPr/>
          <p:nvPr/>
        </p:nvSpPr>
        <p:spPr>
          <a:xfrm>
            <a:off x="8737600" y="2667000"/>
            <a:ext cx="0" cy="4191000"/>
          </a:xfrm>
          <a:prstGeom prst="line">
            <a:avLst/>
          </a:prstGeom>
          <a:ln cap="flat" w="19050">
            <a:solidFill>
              <a:srgbClr val="2A2A2A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5" id="55"/>
          <p:cNvSpPr/>
          <p:nvPr/>
        </p:nvSpPr>
        <p:spPr>
          <a:xfrm>
            <a:off x="9550400" y="2667000"/>
            <a:ext cx="0" cy="4191000"/>
          </a:xfrm>
          <a:prstGeom prst="line">
            <a:avLst/>
          </a:prstGeom>
          <a:ln cap="flat" w="19050">
            <a:solidFill>
              <a:srgbClr val="2A2A2A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6" id="56"/>
          <p:cNvSpPr/>
          <p:nvPr/>
        </p:nvSpPr>
        <p:spPr>
          <a:xfrm>
            <a:off x="10363200" y="2667000"/>
            <a:ext cx="0" cy="4191000"/>
          </a:xfrm>
          <a:prstGeom prst="line">
            <a:avLst/>
          </a:prstGeom>
          <a:ln cap="flat" w="19050">
            <a:solidFill>
              <a:srgbClr val="2A2A2A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7" id="57"/>
          <p:cNvSpPr/>
          <p:nvPr/>
        </p:nvSpPr>
        <p:spPr>
          <a:xfrm>
            <a:off x="11176000" y="2667000"/>
            <a:ext cx="0" cy="4191000"/>
          </a:xfrm>
          <a:prstGeom prst="line">
            <a:avLst/>
          </a:prstGeom>
          <a:ln cap="flat" w="19050">
            <a:solidFill>
              <a:srgbClr val="2A2A2A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8" id="58"/>
          <p:cNvSpPr/>
          <p:nvPr/>
        </p:nvSpPr>
        <p:spPr>
          <a:xfrm>
            <a:off x="11988800" y="2667000"/>
            <a:ext cx="0" cy="4191000"/>
          </a:xfrm>
          <a:prstGeom prst="line">
            <a:avLst/>
          </a:prstGeom>
          <a:ln cap="flat" w="19050">
            <a:solidFill>
              <a:srgbClr val="2A2A2A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9" id="59"/>
          <p:cNvSpPr/>
          <p:nvPr/>
        </p:nvSpPr>
        <p:spPr>
          <a:xfrm>
            <a:off x="12801600" y="2667000"/>
            <a:ext cx="0" cy="4191000"/>
          </a:xfrm>
          <a:prstGeom prst="line">
            <a:avLst/>
          </a:prstGeom>
          <a:ln cap="flat" w="19050">
            <a:solidFill>
              <a:srgbClr val="2A2A2A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0" id="60"/>
          <p:cNvSpPr/>
          <p:nvPr/>
        </p:nvSpPr>
        <p:spPr>
          <a:xfrm>
            <a:off x="13614400" y="2667000"/>
            <a:ext cx="0" cy="4191000"/>
          </a:xfrm>
          <a:prstGeom prst="line">
            <a:avLst/>
          </a:prstGeom>
          <a:ln cap="flat" w="19050">
            <a:solidFill>
              <a:srgbClr val="2A2A2A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1" id="61"/>
          <p:cNvSpPr/>
          <p:nvPr/>
        </p:nvSpPr>
        <p:spPr>
          <a:xfrm>
            <a:off x="14427200" y="2667000"/>
            <a:ext cx="0" cy="4191000"/>
          </a:xfrm>
          <a:prstGeom prst="line">
            <a:avLst/>
          </a:prstGeom>
          <a:ln cap="flat" w="19050">
            <a:solidFill>
              <a:srgbClr val="2A2A2A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2" id="62"/>
          <p:cNvSpPr/>
          <p:nvPr/>
        </p:nvSpPr>
        <p:spPr>
          <a:xfrm>
            <a:off x="15240000" y="2667000"/>
            <a:ext cx="0" cy="4191000"/>
          </a:xfrm>
          <a:prstGeom prst="line">
            <a:avLst/>
          </a:prstGeom>
          <a:ln cap="flat" w="19050">
            <a:solidFill>
              <a:srgbClr val="2A2A2A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63" id="63"/>
          <p:cNvGrpSpPr/>
          <p:nvPr/>
        </p:nvGrpSpPr>
        <p:grpSpPr>
          <a:xfrm rot="0">
            <a:off x="8534400" y="4095750"/>
            <a:ext cx="1219200" cy="1333500"/>
            <a:chOff x="0" y="0"/>
            <a:chExt cx="1625600" cy="1778000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1625600" cy="1778000"/>
            </a:xfrm>
            <a:custGeom>
              <a:avLst/>
              <a:gdLst/>
              <a:ahLst/>
              <a:cxnLst/>
              <a:rect r="r" b="b" t="t" l="l"/>
              <a:pathLst>
                <a:path h="1778000" w="1625600">
                  <a:moveTo>
                    <a:pt x="812800" y="0"/>
                  </a:moveTo>
                  <a:lnTo>
                    <a:pt x="1625600" y="444500"/>
                  </a:lnTo>
                  <a:lnTo>
                    <a:pt x="1625600" y="1333500"/>
                  </a:lnTo>
                  <a:lnTo>
                    <a:pt x="812800" y="1778000"/>
                  </a:lnTo>
                  <a:lnTo>
                    <a:pt x="0" y="1333500"/>
                  </a:lnTo>
                  <a:lnTo>
                    <a:pt x="0" y="444500"/>
                  </a:lnTo>
                  <a:close/>
                </a:path>
              </a:pathLst>
            </a:custGeom>
            <a:solidFill>
              <a:srgbClr val="B5121B"/>
            </a:solidFill>
            <a:ln cap="sq">
              <a:noFill/>
              <a:prstDash val="solid"/>
              <a:miter/>
            </a:ln>
          </p:spPr>
        </p:sp>
        <p:sp>
          <p:nvSpPr>
            <p:cNvPr name="TextBox 65" id="65"/>
            <p:cNvSpPr txBox="true"/>
            <p:nvPr/>
          </p:nvSpPr>
          <p:spPr>
            <a:xfrm>
              <a:off x="0" y="-66675"/>
              <a:ext cx="1625600" cy="18446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830"/>
                </a:lnSpc>
              </a:pPr>
              <a:r>
                <a:rPr lang="en-US" sz="3450" b="true">
                  <a:solidFill>
                    <a:srgbClr val="FFFFFF"/>
                  </a:solidFill>
                  <a:latin typeface="Oswald Bold"/>
                  <a:ea typeface="Oswald Bold"/>
                  <a:cs typeface="Oswald Bold"/>
                  <a:sym typeface="Oswald Bold"/>
                </a:rPr>
                <a:t>MW</a:t>
              </a:r>
            </a:p>
          </p:txBody>
        </p:sp>
      </p:grpSp>
      <p:grpSp>
        <p:nvGrpSpPr>
          <p:cNvPr name="Group 66" id="66"/>
          <p:cNvGrpSpPr/>
          <p:nvPr/>
        </p:nvGrpSpPr>
        <p:grpSpPr>
          <a:xfrm rot="0">
            <a:off x="2095500" y="7239000"/>
            <a:ext cx="14097000" cy="38100"/>
            <a:chOff x="0" y="0"/>
            <a:chExt cx="18796000" cy="5080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18796000" cy="50800"/>
            </a:xfrm>
            <a:custGeom>
              <a:avLst/>
              <a:gdLst/>
              <a:ahLst/>
              <a:cxnLst/>
              <a:rect r="r" b="b" t="t" l="l"/>
              <a:pathLst>
                <a:path h="50800" w="18796000">
                  <a:moveTo>
                    <a:pt x="0" y="0"/>
                  </a:moveTo>
                  <a:lnTo>
                    <a:pt x="18796000" y="0"/>
                  </a:lnTo>
                  <a:lnTo>
                    <a:pt x="18796000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B5121B"/>
            </a:solidFill>
            <a:ln cap="sq">
              <a:noFill/>
              <a:prstDash val="solid"/>
              <a:miter/>
            </a:ln>
          </p:spPr>
        </p:sp>
        <p:sp>
          <p:nvSpPr>
            <p:cNvPr name="TextBox 68" id="68"/>
            <p:cNvSpPr txBox="true"/>
            <p:nvPr/>
          </p:nvSpPr>
          <p:spPr>
            <a:xfrm>
              <a:off x="0" y="-38100"/>
              <a:ext cx="18796000" cy="88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AutoShape 69" id="69"/>
          <p:cNvSpPr/>
          <p:nvPr/>
        </p:nvSpPr>
        <p:spPr>
          <a:xfrm>
            <a:off x="762000" y="762000"/>
            <a:ext cx="209550" cy="0"/>
          </a:xfrm>
          <a:prstGeom prst="line">
            <a:avLst/>
          </a:prstGeom>
          <a:ln cap="flat" w="19050">
            <a:solidFill>
              <a:srgbClr val="B5121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0" id="70"/>
          <p:cNvSpPr/>
          <p:nvPr/>
        </p:nvSpPr>
        <p:spPr>
          <a:xfrm>
            <a:off x="762000" y="762000"/>
            <a:ext cx="0" cy="209550"/>
          </a:xfrm>
          <a:prstGeom prst="line">
            <a:avLst/>
          </a:prstGeom>
          <a:ln cap="flat" w="19050">
            <a:solidFill>
              <a:srgbClr val="B5121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1" id="71"/>
          <p:cNvSpPr/>
          <p:nvPr/>
        </p:nvSpPr>
        <p:spPr>
          <a:xfrm>
            <a:off x="17316450" y="762000"/>
            <a:ext cx="209550" cy="0"/>
          </a:xfrm>
          <a:prstGeom prst="line">
            <a:avLst/>
          </a:prstGeom>
          <a:ln cap="flat" w="19050">
            <a:solidFill>
              <a:srgbClr val="B5121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2" id="72"/>
          <p:cNvSpPr/>
          <p:nvPr/>
        </p:nvSpPr>
        <p:spPr>
          <a:xfrm>
            <a:off x="17316450" y="762000"/>
            <a:ext cx="0" cy="209550"/>
          </a:xfrm>
          <a:prstGeom prst="line">
            <a:avLst/>
          </a:prstGeom>
          <a:ln cap="flat" w="19050">
            <a:solidFill>
              <a:srgbClr val="B5121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3" id="73"/>
          <p:cNvSpPr/>
          <p:nvPr/>
        </p:nvSpPr>
        <p:spPr>
          <a:xfrm>
            <a:off x="762000" y="9315450"/>
            <a:ext cx="209550" cy="0"/>
          </a:xfrm>
          <a:prstGeom prst="line">
            <a:avLst/>
          </a:prstGeom>
          <a:ln cap="flat" w="19050">
            <a:solidFill>
              <a:srgbClr val="B5121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4" id="74"/>
          <p:cNvSpPr/>
          <p:nvPr/>
        </p:nvSpPr>
        <p:spPr>
          <a:xfrm>
            <a:off x="762000" y="9315450"/>
            <a:ext cx="0" cy="209550"/>
          </a:xfrm>
          <a:prstGeom prst="line">
            <a:avLst/>
          </a:prstGeom>
          <a:ln cap="flat" w="19050">
            <a:solidFill>
              <a:srgbClr val="B5121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5" id="75"/>
          <p:cNvSpPr/>
          <p:nvPr/>
        </p:nvSpPr>
        <p:spPr>
          <a:xfrm>
            <a:off x="17316450" y="9315450"/>
            <a:ext cx="209550" cy="0"/>
          </a:xfrm>
          <a:prstGeom prst="line">
            <a:avLst/>
          </a:prstGeom>
          <a:ln cap="flat" w="19050">
            <a:solidFill>
              <a:srgbClr val="B5121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6" id="76"/>
          <p:cNvSpPr/>
          <p:nvPr/>
        </p:nvSpPr>
        <p:spPr>
          <a:xfrm>
            <a:off x="17316450" y="9315450"/>
            <a:ext cx="0" cy="209550"/>
          </a:xfrm>
          <a:prstGeom prst="line">
            <a:avLst/>
          </a:prstGeom>
          <a:ln cap="flat" w="19050">
            <a:solidFill>
              <a:srgbClr val="B5121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77" id="77"/>
          <p:cNvSpPr txBox="true"/>
          <p:nvPr/>
        </p:nvSpPr>
        <p:spPr>
          <a:xfrm rot="0">
            <a:off x="0" y="1114425"/>
            <a:ext cx="18288000" cy="2076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79"/>
              </a:lnSpc>
            </a:pPr>
            <a:r>
              <a:rPr lang="en-US" b="true" sz="1200" spc="420">
                <a:solidFill>
                  <a:srgbClr val="C0C0C0"/>
                </a:solidFill>
                <a:latin typeface="Inter 2 Bold"/>
                <a:ea typeface="Inter 2 Bold"/>
                <a:cs typeface="Inter 2 Bold"/>
                <a:sym typeface="Inter 2 Bold"/>
              </a:rPr>
              <a:t>PROJECT COMPLETE  ·  Q2 · 2026</a:t>
            </a:r>
          </a:p>
        </p:txBody>
      </p:sp>
      <p:sp>
        <p:nvSpPr>
          <p:cNvPr name="TextBox 78" id="78"/>
          <p:cNvSpPr txBox="true"/>
          <p:nvPr/>
        </p:nvSpPr>
        <p:spPr>
          <a:xfrm rot="0">
            <a:off x="0" y="1619250"/>
            <a:ext cx="18288000" cy="727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00"/>
              </a:lnSpc>
            </a:pPr>
            <a:r>
              <a:rPr lang="en-US" sz="5400" b="true">
                <a:solidFill>
                  <a:srgbClr val="FFFFFF"/>
                </a:solidFill>
                <a:latin typeface="Oswald Bold"/>
                <a:ea typeface="Oswald Bold"/>
                <a:cs typeface="Oswald Bold"/>
                <a:sym typeface="Oswald Bold"/>
              </a:rPr>
              <a:t>SSU Connex — Delivered.</a:t>
            </a:r>
          </a:p>
        </p:txBody>
      </p:sp>
      <p:sp>
        <p:nvSpPr>
          <p:cNvPr name="TextBox 79" id="79"/>
          <p:cNvSpPr txBox="true"/>
          <p:nvPr/>
        </p:nvSpPr>
        <p:spPr>
          <a:xfrm rot="0">
            <a:off x="0" y="2266950"/>
            <a:ext cx="1828800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405">
                <a:solidFill>
                  <a:srgbClr val="C0C0C0"/>
                </a:solidFill>
                <a:latin typeface="Inter 2"/>
                <a:ea typeface="Inter 2"/>
                <a:cs typeface="Inter 2"/>
                <a:sym typeface="Inter 2"/>
              </a:rPr>
              <a:t>Custom Metal Fabrication  ·  Fayetteville, NC</a:t>
            </a:r>
          </a:p>
        </p:txBody>
      </p:sp>
      <p:sp>
        <p:nvSpPr>
          <p:cNvPr name="TextBox 80" id="80"/>
          <p:cNvSpPr txBox="true"/>
          <p:nvPr/>
        </p:nvSpPr>
        <p:spPr>
          <a:xfrm rot="0">
            <a:off x="2476500" y="8534400"/>
            <a:ext cx="13335000" cy="2352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92"/>
              </a:lnSpc>
            </a:pPr>
            <a:r>
              <a:rPr lang="en-US" sz="1350">
                <a:solidFill>
                  <a:srgbClr val="C0C0C0"/>
                </a:solidFill>
                <a:latin typeface="Inter 2"/>
                <a:ea typeface="Inter 2"/>
                <a:cs typeface="Inter 2"/>
                <a:sym typeface="Inter 2"/>
              </a:rPr>
              <a:t>Built to endure — the finished conversion passed client acceptance on the first walkthrough. Reinforced, sealed, and coating-ready.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>
  <p:cSld>
    <p:bg>
      <p:bgPr>
        <a:solidFill>
          <a:srgbClr val="B512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0" y="0"/>
            <a:ext cx="7810500" cy="10287000"/>
            <a:chOff x="0" y="0"/>
            <a:chExt cx="1041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41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10414000">
                  <a:moveTo>
                    <a:pt x="0" y="0"/>
                  </a:moveTo>
                  <a:lnTo>
                    <a:pt x="10414000" y="0"/>
                  </a:lnTo>
                  <a:lnTo>
                    <a:pt x="1041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A1A1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0414000" cy="1375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AutoShape 5" id="5"/>
          <p:cNvSpPr/>
          <p:nvPr/>
        </p:nvSpPr>
        <p:spPr>
          <a:xfrm>
            <a:off x="104775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17647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" id="6"/>
          <p:cNvSpPr/>
          <p:nvPr/>
        </p:nvSpPr>
        <p:spPr>
          <a:xfrm>
            <a:off x="112395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17647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" id="7"/>
          <p:cNvSpPr/>
          <p:nvPr/>
        </p:nvSpPr>
        <p:spPr>
          <a:xfrm>
            <a:off x="120015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17647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" id="8"/>
          <p:cNvSpPr/>
          <p:nvPr/>
        </p:nvSpPr>
        <p:spPr>
          <a:xfrm>
            <a:off x="127635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17647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" id="9"/>
          <p:cNvSpPr/>
          <p:nvPr/>
        </p:nvSpPr>
        <p:spPr>
          <a:xfrm>
            <a:off x="135255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17647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" id="10"/>
          <p:cNvSpPr/>
          <p:nvPr/>
        </p:nvSpPr>
        <p:spPr>
          <a:xfrm>
            <a:off x="142875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17647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1" id="11"/>
          <p:cNvSpPr/>
          <p:nvPr/>
        </p:nvSpPr>
        <p:spPr>
          <a:xfrm>
            <a:off x="150495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17647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2" id="12"/>
          <p:cNvSpPr/>
          <p:nvPr/>
        </p:nvSpPr>
        <p:spPr>
          <a:xfrm>
            <a:off x="158115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17647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3" id="13"/>
          <p:cNvSpPr/>
          <p:nvPr/>
        </p:nvSpPr>
        <p:spPr>
          <a:xfrm>
            <a:off x="165735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17647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4" id="14"/>
          <p:cNvSpPr/>
          <p:nvPr/>
        </p:nvSpPr>
        <p:spPr>
          <a:xfrm>
            <a:off x="173355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17647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5" id="15"/>
          <p:cNvSpPr/>
          <p:nvPr/>
        </p:nvSpPr>
        <p:spPr>
          <a:xfrm>
            <a:off x="18097500" y="0"/>
            <a:ext cx="0" cy="10287000"/>
          </a:xfrm>
          <a:prstGeom prst="line">
            <a:avLst/>
          </a:prstGeom>
          <a:ln cap="flat" w="9525">
            <a:solidFill>
              <a:srgbClr val="555555">
                <a:alpha val="17647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6" id="16"/>
          <p:cNvSpPr/>
          <p:nvPr/>
        </p:nvSpPr>
        <p:spPr>
          <a:xfrm>
            <a:off x="10477500" y="0"/>
            <a:ext cx="7810500" cy="0"/>
          </a:xfrm>
          <a:prstGeom prst="line">
            <a:avLst/>
          </a:prstGeom>
          <a:ln cap="flat" w="9525">
            <a:solidFill>
              <a:srgbClr val="555555">
                <a:alpha val="17647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7" id="17"/>
          <p:cNvSpPr/>
          <p:nvPr/>
        </p:nvSpPr>
        <p:spPr>
          <a:xfrm>
            <a:off x="10477500" y="762000"/>
            <a:ext cx="7810500" cy="0"/>
          </a:xfrm>
          <a:prstGeom prst="line">
            <a:avLst/>
          </a:prstGeom>
          <a:ln cap="flat" w="9525">
            <a:solidFill>
              <a:srgbClr val="555555">
                <a:alpha val="17647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8" id="18"/>
          <p:cNvSpPr/>
          <p:nvPr/>
        </p:nvSpPr>
        <p:spPr>
          <a:xfrm>
            <a:off x="10477500" y="1524000"/>
            <a:ext cx="7810500" cy="0"/>
          </a:xfrm>
          <a:prstGeom prst="line">
            <a:avLst/>
          </a:prstGeom>
          <a:ln cap="flat" w="9525">
            <a:solidFill>
              <a:srgbClr val="555555">
                <a:alpha val="17647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9" id="19"/>
          <p:cNvSpPr/>
          <p:nvPr/>
        </p:nvSpPr>
        <p:spPr>
          <a:xfrm>
            <a:off x="10477500" y="2286000"/>
            <a:ext cx="7810500" cy="0"/>
          </a:xfrm>
          <a:prstGeom prst="line">
            <a:avLst/>
          </a:prstGeom>
          <a:ln cap="flat" w="9525">
            <a:solidFill>
              <a:srgbClr val="555555">
                <a:alpha val="17647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0" id="20"/>
          <p:cNvSpPr/>
          <p:nvPr/>
        </p:nvSpPr>
        <p:spPr>
          <a:xfrm>
            <a:off x="10477500" y="3048000"/>
            <a:ext cx="7810500" cy="0"/>
          </a:xfrm>
          <a:prstGeom prst="line">
            <a:avLst/>
          </a:prstGeom>
          <a:ln cap="flat" w="9525">
            <a:solidFill>
              <a:srgbClr val="555555">
                <a:alpha val="17647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1" id="21"/>
          <p:cNvSpPr/>
          <p:nvPr/>
        </p:nvSpPr>
        <p:spPr>
          <a:xfrm>
            <a:off x="10477500" y="3810000"/>
            <a:ext cx="7810500" cy="0"/>
          </a:xfrm>
          <a:prstGeom prst="line">
            <a:avLst/>
          </a:prstGeom>
          <a:ln cap="flat" w="9525">
            <a:solidFill>
              <a:srgbClr val="555555">
                <a:alpha val="17647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2" id="22"/>
          <p:cNvSpPr/>
          <p:nvPr/>
        </p:nvSpPr>
        <p:spPr>
          <a:xfrm>
            <a:off x="10477500" y="4572000"/>
            <a:ext cx="7810500" cy="0"/>
          </a:xfrm>
          <a:prstGeom prst="line">
            <a:avLst/>
          </a:prstGeom>
          <a:ln cap="flat" w="9525">
            <a:solidFill>
              <a:srgbClr val="555555">
                <a:alpha val="17647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3" id="23"/>
          <p:cNvSpPr/>
          <p:nvPr/>
        </p:nvSpPr>
        <p:spPr>
          <a:xfrm>
            <a:off x="10477500" y="5334000"/>
            <a:ext cx="7810500" cy="0"/>
          </a:xfrm>
          <a:prstGeom prst="line">
            <a:avLst/>
          </a:prstGeom>
          <a:ln cap="flat" w="9525">
            <a:solidFill>
              <a:srgbClr val="555555">
                <a:alpha val="17647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4" id="24"/>
          <p:cNvSpPr/>
          <p:nvPr/>
        </p:nvSpPr>
        <p:spPr>
          <a:xfrm>
            <a:off x="10477500" y="6096000"/>
            <a:ext cx="7810500" cy="0"/>
          </a:xfrm>
          <a:prstGeom prst="line">
            <a:avLst/>
          </a:prstGeom>
          <a:ln cap="flat" w="9525">
            <a:solidFill>
              <a:srgbClr val="555555">
                <a:alpha val="17647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5" id="25"/>
          <p:cNvSpPr/>
          <p:nvPr/>
        </p:nvSpPr>
        <p:spPr>
          <a:xfrm>
            <a:off x="10477500" y="6858000"/>
            <a:ext cx="7810500" cy="0"/>
          </a:xfrm>
          <a:prstGeom prst="line">
            <a:avLst/>
          </a:prstGeom>
          <a:ln cap="flat" w="9525">
            <a:solidFill>
              <a:srgbClr val="555555">
                <a:alpha val="17647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6" id="26"/>
          <p:cNvSpPr/>
          <p:nvPr/>
        </p:nvSpPr>
        <p:spPr>
          <a:xfrm>
            <a:off x="10477500" y="7620000"/>
            <a:ext cx="7810500" cy="0"/>
          </a:xfrm>
          <a:prstGeom prst="line">
            <a:avLst/>
          </a:prstGeom>
          <a:ln cap="flat" w="9525">
            <a:solidFill>
              <a:srgbClr val="555555">
                <a:alpha val="17647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7" id="27"/>
          <p:cNvSpPr/>
          <p:nvPr/>
        </p:nvSpPr>
        <p:spPr>
          <a:xfrm>
            <a:off x="10477500" y="8382000"/>
            <a:ext cx="7810500" cy="0"/>
          </a:xfrm>
          <a:prstGeom prst="line">
            <a:avLst/>
          </a:prstGeom>
          <a:ln cap="flat" w="9525">
            <a:solidFill>
              <a:srgbClr val="555555">
                <a:alpha val="17647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8" id="28"/>
          <p:cNvSpPr/>
          <p:nvPr/>
        </p:nvSpPr>
        <p:spPr>
          <a:xfrm>
            <a:off x="10477500" y="9144000"/>
            <a:ext cx="7810500" cy="0"/>
          </a:xfrm>
          <a:prstGeom prst="line">
            <a:avLst/>
          </a:prstGeom>
          <a:ln cap="flat" w="9525">
            <a:solidFill>
              <a:srgbClr val="555555">
                <a:alpha val="17647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9" id="29"/>
          <p:cNvSpPr/>
          <p:nvPr/>
        </p:nvSpPr>
        <p:spPr>
          <a:xfrm>
            <a:off x="10477500" y="9906000"/>
            <a:ext cx="7810500" cy="0"/>
          </a:xfrm>
          <a:prstGeom prst="line">
            <a:avLst/>
          </a:prstGeom>
          <a:ln cap="flat" w="9525">
            <a:solidFill>
              <a:srgbClr val="555555">
                <a:alpha val="17647"/>
              </a:srgbClr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0" id="30"/>
          <p:cNvGrpSpPr/>
          <p:nvPr/>
        </p:nvGrpSpPr>
        <p:grpSpPr>
          <a:xfrm rot="0">
            <a:off x="11049000" y="1333500"/>
            <a:ext cx="6667500" cy="5524500"/>
            <a:chOff x="0" y="0"/>
            <a:chExt cx="8890000" cy="73660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8890000" cy="7366000"/>
            </a:xfrm>
            <a:custGeom>
              <a:avLst/>
              <a:gdLst/>
              <a:ahLst/>
              <a:cxnLst/>
              <a:rect r="r" b="b" t="t" l="l"/>
              <a:pathLst>
                <a:path h="7366000" w="8890000">
                  <a:moveTo>
                    <a:pt x="0" y="0"/>
                  </a:moveTo>
                  <a:lnTo>
                    <a:pt x="8890000" y="0"/>
                  </a:lnTo>
                  <a:lnTo>
                    <a:pt x="8890000" y="7366000"/>
                  </a:lnTo>
                  <a:lnTo>
                    <a:pt x="0" y="7366000"/>
                  </a:lnTo>
                  <a:close/>
                </a:path>
              </a:pathLst>
            </a:custGeom>
            <a:solidFill>
              <a:srgbClr val="0D0D0D"/>
            </a:solidFill>
            <a:ln cap="sq">
              <a:noFill/>
              <a:prstDash val="solid"/>
              <a:miter/>
            </a:ln>
          </p:spPr>
        </p:sp>
        <p:sp>
          <p:nvSpPr>
            <p:cNvPr name="TextBox 32" id="32"/>
            <p:cNvSpPr txBox="true"/>
            <p:nvPr/>
          </p:nvSpPr>
          <p:spPr>
            <a:xfrm>
              <a:off x="0" y="-38100"/>
              <a:ext cx="8890000" cy="740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AutoShape 33" id="33"/>
          <p:cNvSpPr/>
          <p:nvPr/>
        </p:nvSpPr>
        <p:spPr>
          <a:xfrm>
            <a:off x="11049000" y="1333500"/>
            <a:ext cx="0" cy="552450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4" id="34"/>
          <p:cNvSpPr/>
          <p:nvPr/>
        </p:nvSpPr>
        <p:spPr>
          <a:xfrm>
            <a:off x="11811000" y="1333500"/>
            <a:ext cx="0" cy="552450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5" id="35"/>
          <p:cNvSpPr/>
          <p:nvPr/>
        </p:nvSpPr>
        <p:spPr>
          <a:xfrm>
            <a:off x="12573000" y="1333500"/>
            <a:ext cx="0" cy="552450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6" id="36"/>
          <p:cNvSpPr/>
          <p:nvPr/>
        </p:nvSpPr>
        <p:spPr>
          <a:xfrm>
            <a:off x="13335000" y="1333500"/>
            <a:ext cx="0" cy="552450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7" id="37"/>
          <p:cNvSpPr/>
          <p:nvPr/>
        </p:nvSpPr>
        <p:spPr>
          <a:xfrm>
            <a:off x="14097000" y="1333500"/>
            <a:ext cx="0" cy="552450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8" id="38"/>
          <p:cNvSpPr/>
          <p:nvPr/>
        </p:nvSpPr>
        <p:spPr>
          <a:xfrm>
            <a:off x="14859000" y="1333500"/>
            <a:ext cx="0" cy="552450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9" id="39"/>
          <p:cNvSpPr/>
          <p:nvPr/>
        </p:nvSpPr>
        <p:spPr>
          <a:xfrm>
            <a:off x="15621000" y="1333500"/>
            <a:ext cx="0" cy="552450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0" id="40"/>
          <p:cNvSpPr/>
          <p:nvPr/>
        </p:nvSpPr>
        <p:spPr>
          <a:xfrm>
            <a:off x="16383000" y="1333500"/>
            <a:ext cx="0" cy="552450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1" id="41"/>
          <p:cNvSpPr/>
          <p:nvPr/>
        </p:nvSpPr>
        <p:spPr>
          <a:xfrm>
            <a:off x="17145000" y="1333500"/>
            <a:ext cx="0" cy="552450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2" id="42"/>
          <p:cNvSpPr/>
          <p:nvPr/>
        </p:nvSpPr>
        <p:spPr>
          <a:xfrm>
            <a:off x="11049000" y="1333500"/>
            <a:ext cx="6667500" cy="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3" id="43"/>
          <p:cNvSpPr/>
          <p:nvPr/>
        </p:nvSpPr>
        <p:spPr>
          <a:xfrm>
            <a:off x="11049000" y="2095500"/>
            <a:ext cx="6667500" cy="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4" id="44"/>
          <p:cNvSpPr/>
          <p:nvPr/>
        </p:nvSpPr>
        <p:spPr>
          <a:xfrm>
            <a:off x="11049000" y="2857500"/>
            <a:ext cx="6667500" cy="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5" id="45"/>
          <p:cNvSpPr/>
          <p:nvPr/>
        </p:nvSpPr>
        <p:spPr>
          <a:xfrm>
            <a:off x="11049000" y="3619500"/>
            <a:ext cx="6667500" cy="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6" id="46"/>
          <p:cNvSpPr/>
          <p:nvPr/>
        </p:nvSpPr>
        <p:spPr>
          <a:xfrm>
            <a:off x="11049000" y="4381500"/>
            <a:ext cx="6667500" cy="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7" id="47"/>
          <p:cNvSpPr/>
          <p:nvPr/>
        </p:nvSpPr>
        <p:spPr>
          <a:xfrm>
            <a:off x="11049000" y="5143500"/>
            <a:ext cx="6667500" cy="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8" id="48"/>
          <p:cNvSpPr/>
          <p:nvPr/>
        </p:nvSpPr>
        <p:spPr>
          <a:xfrm>
            <a:off x="11049000" y="5905500"/>
            <a:ext cx="6667500" cy="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9" id="49"/>
          <p:cNvSpPr/>
          <p:nvPr/>
        </p:nvSpPr>
        <p:spPr>
          <a:xfrm>
            <a:off x="11049000" y="6667500"/>
            <a:ext cx="6667500" cy="0"/>
          </a:xfrm>
          <a:prstGeom prst="line">
            <a:avLst/>
          </a:prstGeom>
          <a:ln cap="flat" w="9525">
            <a:solidFill>
              <a:srgbClr val="555555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50" id="50"/>
          <p:cNvGrpSpPr/>
          <p:nvPr/>
        </p:nvGrpSpPr>
        <p:grpSpPr>
          <a:xfrm rot="0">
            <a:off x="11620500" y="3048000"/>
            <a:ext cx="5524500" cy="2286000"/>
            <a:chOff x="0" y="0"/>
            <a:chExt cx="7366000" cy="304800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7366000" cy="3048000"/>
            </a:xfrm>
            <a:custGeom>
              <a:avLst/>
              <a:gdLst/>
              <a:ahLst/>
              <a:cxnLst/>
              <a:rect r="r" b="b" t="t" l="l"/>
              <a:pathLst>
                <a:path h="3048000" w="7366000">
                  <a:moveTo>
                    <a:pt x="0" y="0"/>
                  </a:moveTo>
                  <a:lnTo>
                    <a:pt x="7366000" y="0"/>
                  </a:lnTo>
                  <a:lnTo>
                    <a:pt x="7366000" y="3048000"/>
                  </a:lnTo>
                  <a:lnTo>
                    <a:pt x="0" y="3048000"/>
                  </a:lnTo>
                  <a:close/>
                </a:path>
              </a:pathLst>
            </a:custGeom>
            <a:solidFill>
              <a:srgbClr val="1E1E1E"/>
            </a:solidFill>
            <a:ln w="19050" cap="sq">
              <a:solidFill>
                <a:srgbClr val="555555"/>
              </a:solidFill>
              <a:prstDash val="solid"/>
              <a:miter/>
            </a:ln>
          </p:spPr>
        </p:sp>
        <p:sp>
          <p:nvSpPr>
            <p:cNvPr name="TextBox 52" id="52"/>
            <p:cNvSpPr txBox="true"/>
            <p:nvPr/>
          </p:nvSpPr>
          <p:spPr>
            <a:xfrm>
              <a:off x="0" y="-38100"/>
              <a:ext cx="7366000" cy="308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AutoShape 53" id="53"/>
          <p:cNvSpPr/>
          <p:nvPr/>
        </p:nvSpPr>
        <p:spPr>
          <a:xfrm>
            <a:off x="12001500" y="3238500"/>
            <a:ext cx="0" cy="1905000"/>
          </a:xfrm>
          <a:prstGeom prst="line">
            <a:avLst/>
          </a:prstGeom>
          <a:ln cap="flat" w="19050">
            <a:solidFill>
              <a:srgbClr val="333333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4" id="54"/>
          <p:cNvSpPr/>
          <p:nvPr/>
        </p:nvSpPr>
        <p:spPr>
          <a:xfrm>
            <a:off x="12530667" y="3238500"/>
            <a:ext cx="0" cy="1905000"/>
          </a:xfrm>
          <a:prstGeom prst="line">
            <a:avLst/>
          </a:prstGeom>
          <a:ln cap="flat" w="19050">
            <a:solidFill>
              <a:srgbClr val="333333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5" id="55"/>
          <p:cNvSpPr/>
          <p:nvPr/>
        </p:nvSpPr>
        <p:spPr>
          <a:xfrm>
            <a:off x="13059833" y="3238500"/>
            <a:ext cx="0" cy="1905000"/>
          </a:xfrm>
          <a:prstGeom prst="line">
            <a:avLst/>
          </a:prstGeom>
          <a:ln cap="flat" w="19050">
            <a:solidFill>
              <a:srgbClr val="333333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6" id="56"/>
          <p:cNvSpPr/>
          <p:nvPr/>
        </p:nvSpPr>
        <p:spPr>
          <a:xfrm>
            <a:off x="13589000" y="3238500"/>
            <a:ext cx="0" cy="1905000"/>
          </a:xfrm>
          <a:prstGeom prst="line">
            <a:avLst/>
          </a:prstGeom>
          <a:ln cap="flat" w="19050">
            <a:solidFill>
              <a:srgbClr val="333333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7" id="57"/>
          <p:cNvSpPr/>
          <p:nvPr/>
        </p:nvSpPr>
        <p:spPr>
          <a:xfrm>
            <a:off x="14118167" y="3238500"/>
            <a:ext cx="0" cy="1905000"/>
          </a:xfrm>
          <a:prstGeom prst="line">
            <a:avLst/>
          </a:prstGeom>
          <a:ln cap="flat" w="19050">
            <a:solidFill>
              <a:srgbClr val="333333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8" id="58"/>
          <p:cNvSpPr/>
          <p:nvPr/>
        </p:nvSpPr>
        <p:spPr>
          <a:xfrm>
            <a:off x="14647333" y="3238500"/>
            <a:ext cx="0" cy="1905000"/>
          </a:xfrm>
          <a:prstGeom prst="line">
            <a:avLst/>
          </a:prstGeom>
          <a:ln cap="flat" w="19050">
            <a:solidFill>
              <a:srgbClr val="333333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9" id="59"/>
          <p:cNvSpPr/>
          <p:nvPr/>
        </p:nvSpPr>
        <p:spPr>
          <a:xfrm>
            <a:off x="15176500" y="3238500"/>
            <a:ext cx="0" cy="1905000"/>
          </a:xfrm>
          <a:prstGeom prst="line">
            <a:avLst/>
          </a:prstGeom>
          <a:ln cap="flat" w="19050">
            <a:solidFill>
              <a:srgbClr val="333333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0" id="60"/>
          <p:cNvSpPr/>
          <p:nvPr/>
        </p:nvSpPr>
        <p:spPr>
          <a:xfrm>
            <a:off x="15705667" y="3238500"/>
            <a:ext cx="0" cy="1905000"/>
          </a:xfrm>
          <a:prstGeom prst="line">
            <a:avLst/>
          </a:prstGeom>
          <a:ln cap="flat" w="19050">
            <a:solidFill>
              <a:srgbClr val="333333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1" id="61"/>
          <p:cNvSpPr/>
          <p:nvPr/>
        </p:nvSpPr>
        <p:spPr>
          <a:xfrm>
            <a:off x="16234833" y="3238500"/>
            <a:ext cx="0" cy="1905000"/>
          </a:xfrm>
          <a:prstGeom prst="line">
            <a:avLst/>
          </a:prstGeom>
          <a:ln cap="flat" w="19050">
            <a:solidFill>
              <a:srgbClr val="333333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2" id="62"/>
          <p:cNvSpPr/>
          <p:nvPr/>
        </p:nvSpPr>
        <p:spPr>
          <a:xfrm>
            <a:off x="16764000" y="3238500"/>
            <a:ext cx="0" cy="1905000"/>
          </a:xfrm>
          <a:prstGeom prst="line">
            <a:avLst/>
          </a:prstGeom>
          <a:ln cap="flat" w="19050">
            <a:solidFill>
              <a:srgbClr val="333333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63" id="63"/>
          <p:cNvGrpSpPr/>
          <p:nvPr/>
        </p:nvGrpSpPr>
        <p:grpSpPr>
          <a:xfrm rot="0">
            <a:off x="11334750" y="6096000"/>
            <a:ext cx="533400" cy="590550"/>
            <a:chOff x="0" y="0"/>
            <a:chExt cx="711200" cy="787400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711200" cy="787400"/>
            </a:xfrm>
            <a:custGeom>
              <a:avLst/>
              <a:gdLst/>
              <a:ahLst/>
              <a:cxnLst/>
              <a:rect r="r" b="b" t="t" l="l"/>
              <a:pathLst>
                <a:path h="787400" w="711200">
                  <a:moveTo>
                    <a:pt x="355600" y="0"/>
                  </a:moveTo>
                  <a:lnTo>
                    <a:pt x="711200" y="196850"/>
                  </a:lnTo>
                  <a:lnTo>
                    <a:pt x="711200" y="590550"/>
                  </a:lnTo>
                  <a:lnTo>
                    <a:pt x="355600" y="787400"/>
                  </a:lnTo>
                  <a:lnTo>
                    <a:pt x="0" y="590550"/>
                  </a:lnTo>
                  <a:lnTo>
                    <a:pt x="0" y="196850"/>
                  </a:lnTo>
                  <a:close/>
                </a:path>
              </a:pathLst>
            </a:custGeom>
            <a:solidFill>
              <a:srgbClr val="B5121B"/>
            </a:solidFill>
            <a:ln cap="sq">
              <a:noFill/>
              <a:prstDash val="solid"/>
              <a:miter/>
            </a:ln>
          </p:spPr>
        </p:sp>
        <p:sp>
          <p:nvSpPr>
            <p:cNvPr name="TextBox 65" id="65"/>
            <p:cNvSpPr txBox="true"/>
            <p:nvPr/>
          </p:nvSpPr>
          <p:spPr>
            <a:xfrm>
              <a:off x="0" y="-38100"/>
              <a:ext cx="711200" cy="825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10"/>
                </a:lnSpc>
              </a:pPr>
              <a:r>
                <a:rPr lang="en-US" sz="1650" b="true">
                  <a:solidFill>
                    <a:srgbClr val="FFFFFF"/>
                  </a:solidFill>
                  <a:latin typeface="Oswald Bold"/>
                  <a:ea typeface="Oswald Bold"/>
                  <a:cs typeface="Oswald Bold"/>
                  <a:sym typeface="Oswald Bold"/>
                </a:rPr>
                <a:t>MW</a:t>
              </a:r>
            </a:p>
          </p:txBody>
        </p:sp>
      </p:grpSp>
      <p:sp>
        <p:nvSpPr>
          <p:cNvPr name="AutoShape 66" id="66"/>
          <p:cNvSpPr/>
          <p:nvPr/>
        </p:nvSpPr>
        <p:spPr>
          <a:xfrm>
            <a:off x="11125200" y="1409700"/>
            <a:ext cx="209550" cy="0"/>
          </a:xfrm>
          <a:prstGeom prst="line">
            <a:avLst/>
          </a:prstGeom>
          <a:ln cap="flat" w="19050">
            <a:solidFill>
              <a:srgbClr val="B5121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7" id="67"/>
          <p:cNvSpPr/>
          <p:nvPr/>
        </p:nvSpPr>
        <p:spPr>
          <a:xfrm>
            <a:off x="11125200" y="1409700"/>
            <a:ext cx="0" cy="209550"/>
          </a:xfrm>
          <a:prstGeom prst="line">
            <a:avLst/>
          </a:prstGeom>
          <a:ln cap="flat" w="19050">
            <a:solidFill>
              <a:srgbClr val="B5121B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68" id="68"/>
          <p:cNvGrpSpPr/>
          <p:nvPr/>
        </p:nvGrpSpPr>
        <p:grpSpPr>
          <a:xfrm rot="0">
            <a:off x="952500" y="6591300"/>
            <a:ext cx="3048000" cy="419100"/>
            <a:chOff x="0" y="0"/>
            <a:chExt cx="4064000" cy="55880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4064000" cy="558800"/>
            </a:xfrm>
            <a:custGeom>
              <a:avLst/>
              <a:gdLst/>
              <a:ahLst/>
              <a:cxnLst/>
              <a:rect r="r" b="b" t="t" l="l"/>
              <a:pathLst>
                <a:path h="558800" w="4064000">
                  <a:moveTo>
                    <a:pt x="0" y="0"/>
                  </a:moveTo>
                  <a:lnTo>
                    <a:pt x="4064000" y="0"/>
                  </a:lnTo>
                  <a:lnTo>
                    <a:pt x="4064000" y="558800"/>
                  </a:lnTo>
                  <a:lnTo>
                    <a:pt x="0" y="558800"/>
                  </a:lnTo>
                  <a:close/>
                </a:path>
              </a:pathLst>
            </a:custGeom>
            <a:ln w="1905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name="TextBox 70" id="70"/>
            <p:cNvSpPr txBox="true"/>
            <p:nvPr/>
          </p:nvSpPr>
          <p:spPr>
            <a:xfrm>
              <a:off x="0" y="-38100"/>
              <a:ext cx="4064000" cy="596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71" id="71"/>
          <p:cNvGrpSpPr/>
          <p:nvPr/>
        </p:nvGrpSpPr>
        <p:grpSpPr>
          <a:xfrm rot="0">
            <a:off x="4191000" y="6591300"/>
            <a:ext cx="3048000" cy="419100"/>
            <a:chOff x="0" y="0"/>
            <a:chExt cx="4064000" cy="558800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4064000" cy="558800"/>
            </a:xfrm>
            <a:custGeom>
              <a:avLst/>
              <a:gdLst/>
              <a:ahLst/>
              <a:cxnLst/>
              <a:rect r="r" b="b" t="t" l="l"/>
              <a:pathLst>
                <a:path h="558800" w="4064000">
                  <a:moveTo>
                    <a:pt x="0" y="0"/>
                  </a:moveTo>
                  <a:lnTo>
                    <a:pt x="4064000" y="0"/>
                  </a:lnTo>
                  <a:lnTo>
                    <a:pt x="4064000" y="558800"/>
                  </a:lnTo>
                  <a:lnTo>
                    <a:pt x="0" y="558800"/>
                  </a:lnTo>
                  <a:close/>
                </a:path>
              </a:pathLst>
            </a:custGeom>
            <a:ln w="1905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name="TextBox 73" id="73"/>
            <p:cNvSpPr txBox="true"/>
            <p:nvPr/>
          </p:nvSpPr>
          <p:spPr>
            <a:xfrm>
              <a:off x="0" y="-38100"/>
              <a:ext cx="4064000" cy="596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74" id="74"/>
          <p:cNvGrpSpPr/>
          <p:nvPr/>
        </p:nvGrpSpPr>
        <p:grpSpPr>
          <a:xfrm rot="0">
            <a:off x="952500" y="7067550"/>
            <a:ext cx="6286500" cy="419100"/>
            <a:chOff x="0" y="0"/>
            <a:chExt cx="8382000" cy="558800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8382000" cy="558800"/>
            </a:xfrm>
            <a:custGeom>
              <a:avLst/>
              <a:gdLst/>
              <a:ahLst/>
              <a:cxnLst/>
              <a:rect r="r" b="b" t="t" l="l"/>
              <a:pathLst>
                <a:path h="558800" w="8382000">
                  <a:moveTo>
                    <a:pt x="0" y="0"/>
                  </a:moveTo>
                  <a:lnTo>
                    <a:pt x="8382000" y="0"/>
                  </a:lnTo>
                  <a:lnTo>
                    <a:pt x="8382000" y="558800"/>
                  </a:lnTo>
                  <a:lnTo>
                    <a:pt x="0" y="558800"/>
                  </a:lnTo>
                  <a:close/>
                </a:path>
              </a:pathLst>
            </a:custGeom>
            <a:solidFill>
              <a:srgbClr val="1A1A1A"/>
            </a:solidFill>
            <a:ln cap="sq">
              <a:noFill/>
              <a:prstDash val="solid"/>
              <a:miter/>
            </a:ln>
          </p:spPr>
        </p:sp>
        <p:sp>
          <p:nvSpPr>
            <p:cNvPr name="TextBox 76" id="76"/>
            <p:cNvSpPr txBox="true"/>
            <p:nvPr/>
          </p:nvSpPr>
          <p:spPr>
            <a:xfrm>
              <a:off x="0" y="-38100"/>
              <a:ext cx="8382000" cy="596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77" id="77"/>
          <p:cNvSpPr txBox="true"/>
          <p:nvPr/>
        </p:nvSpPr>
        <p:spPr>
          <a:xfrm rot="0">
            <a:off x="952500" y="923925"/>
            <a:ext cx="8572500" cy="2076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200" spc="420" b="true">
                <a:solidFill>
                  <a:srgbClr val="FFFFFF"/>
                </a:solidFill>
                <a:latin typeface="Inter 2 Bold"/>
                <a:ea typeface="Inter 2 Bold"/>
                <a:cs typeface="Inter 2 Bold"/>
                <a:sym typeface="Inter 2 Bold"/>
              </a:rPr>
              <a:t>RESULTS  ·  DELIVERED</a:t>
            </a:r>
          </a:p>
        </p:txBody>
      </p:sp>
      <p:sp>
        <p:nvSpPr>
          <p:cNvPr name="TextBox 78" id="78"/>
          <p:cNvSpPr txBox="true"/>
          <p:nvPr/>
        </p:nvSpPr>
        <p:spPr>
          <a:xfrm rot="0">
            <a:off x="952500" y="1552575"/>
            <a:ext cx="9525000" cy="2390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119"/>
              </a:lnSpc>
            </a:pPr>
            <a:r>
              <a:rPr lang="en-US" sz="9600" b="true">
                <a:solidFill>
                  <a:srgbClr val="FFFFFF"/>
                </a:solidFill>
                <a:latin typeface="Oswald Bold"/>
                <a:ea typeface="Oswald Bold"/>
                <a:cs typeface="Oswald Bold"/>
                <a:sym typeface="Oswald Bold"/>
              </a:rPr>
              <a:t>Custom Metal.</a:t>
            </a:r>
          </a:p>
          <a:p>
            <a:pPr algn="l">
              <a:lnSpc>
                <a:spcPts val="9119"/>
              </a:lnSpc>
            </a:pPr>
            <a:r>
              <a:rPr lang="en-US" sz="9600" b="true">
                <a:solidFill>
                  <a:srgbClr val="FFFFFF"/>
                </a:solidFill>
                <a:latin typeface="Oswald Bold"/>
                <a:ea typeface="Oswald Bold"/>
                <a:cs typeface="Oswald Bold"/>
                <a:sym typeface="Oswald Bold"/>
              </a:rPr>
              <a:t>Built to Last.</a:t>
            </a:r>
          </a:p>
        </p:txBody>
      </p:sp>
      <p:sp>
        <p:nvSpPr>
          <p:cNvPr name="TextBox 79" id="79"/>
          <p:cNvSpPr txBox="true"/>
          <p:nvPr/>
        </p:nvSpPr>
        <p:spPr>
          <a:xfrm rot="0">
            <a:off x="952500" y="4362450"/>
            <a:ext cx="2286000" cy="148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spc="315" b="true">
                <a:solidFill>
                  <a:srgbClr val="FFFFFF"/>
                </a:solidFill>
                <a:latin typeface="Inter 2 Bold"/>
                <a:ea typeface="Inter 2 Bold"/>
                <a:cs typeface="Inter 2 Bold"/>
                <a:sym typeface="Inter 2 Bold"/>
              </a:rPr>
              <a:t>DELIVERY</a:t>
            </a:r>
          </a:p>
        </p:txBody>
      </p:sp>
      <p:sp>
        <p:nvSpPr>
          <p:cNvPr name="TextBox 80" id="80"/>
          <p:cNvSpPr txBox="true"/>
          <p:nvPr/>
        </p:nvSpPr>
        <p:spPr>
          <a:xfrm rot="0">
            <a:off x="952500" y="4572000"/>
            <a:ext cx="4762500" cy="2819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FFFFF"/>
                </a:solidFill>
                <a:latin typeface="Oswald Bold"/>
                <a:ea typeface="Oswald Bold"/>
                <a:cs typeface="Oswald Bold"/>
                <a:sym typeface="Oswald Bold"/>
              </a:rPr>
              <a:t>On time · On spec · Zero rework</a:t>
            </a:r>
          </a:p>
        </p:txBody>
      </p:sp>
      <p:sp>
        <p:nvSpPr>
          <p:cNvPr name="TextBox 81" id="81"/>
          <p:cNvSpPr txBox="true"/>
          <p:nvPr/>
        </p:nvSpPr>
        <p:spPr>
          <a:xfrm rot="0">
            <a:off x="952500" y="5010150"/>
            <a:ext cx="2857500" cy="148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spc="315" b="true">
                <a:solidFill>
                  <a:srgbClr val="FFFFFF"/>
                </a:solidFill>
                <a:latin typeface="Inter 2 Bold"/>
                <a:ea typeface="Inter 2 Bold"/>
                <a:cs typeface="Inter 2 Bold"/>
                <a:sym typeface="Inter 2 Bold"/>
              </a:rPr>
              <a:t>CRAFTSMANSHIP</a:t>
            </a:r>
          </a:p>
        </p:txBody>
      </p:sp>
      <p:sp>
        <p:nvSpPr>
          <p:cNvPr name="TextBox 82" id="82"/>
          <p:cNvSpPr txBox="true"/>
          <p:nvPr/>
        </p:nvSpPr>
        <p:spPr>
          <a:xfrm rot="0">
            <a:off x="952500" y="5219700"/>
            <a:ext cx="6667500" cy="2819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FFFFF"/>
                </a:solidFill>
                <a:latin typeface="Oswald Bold"/>
                <a:ea typeface="Oswald Bold"/>
                <a:cs typeface="Oswald Bold"/>
                <a:sym typeface="Oswald Bold"/>
              </a:rPr>
              <a:t>Full-penetration welds · square to ±1/16"</a:t>
            </a:r>
          </a:p>
        </p:txBody>
      </p:sp>
      <p:sp>
        <p:nvSpPr>
          <p:cNvPr name="TextBox 83" id="83"/>
          <p:cNvSpPr txBox="true"/>
          <p:nvPr/>
        </p:nvSpPr>
        <p:spPr>
          <a:xfrm rot="0">
            <a:off x="952500" y="5657850"/>
            <a:ext cx="2857500" cy="148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spc="315" b="true">
                <a:solidFill>
                  <a:srgbClr val="FFFFFF"/>
                </a:solidFill>
                <a:latin typeface="Inter 2 Bold"/>
                <a:ea typeface="Inter 2 Bold"/>
                <a:cs typeface="Inter 2 Bold"/>
                <a:sym typeface="Inter 2 Bold"/>
              </a:rPr>
              <a:t>IMPACT</a:t>
            </a:r>
          </a:p>
        </p:txBody>
      </p:sp>
      <p:sp>
        <p:nvSpPr>
          <p:cNvPr name="TextBox 84" id="84"/>
          <p:cNvSpPr txBox="true"/>
          <p:nvPr/>
        </p:nvSpPr>
        <p:spPr>
          <a:xfrm rot="0">
            <a:off x="952500" y="5867400"/>
            <a:ext cx="8572500" cy="2819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FFFFF"/>
                </a:solidFill>
                <a:latin typeface="Oswald Bold"/>
                <a:ea typeface="Oswald Bold"/>
                <a:cs typeface="Oswald Bold"/>
                <a:sym typeface="Oswald Bold"/>
              </a:rPr>
              <a:t>Load rating doubled · client re-order authorized</a:t>
            </a:r>
          </a:p>
        </p:txBody>
      </p:sp>
      <p:sp>
        <p:nvSpPr>
          <p:cNvPr name="TextBox 85" id="85"/>
          <p:cNvSpPr txBox="true"/>
          <p:nvPr/>
        </p:nvSpPr>
        <p:spPr>
          <a:xfrm rot="0">
            <a:off x="952500" y="6629400"/>
            <a:ext cx="3048000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00"/>
              </a:lnSpc>
            </a:pPr>
            <a:r>
              <a:rPr lang="en-US" b="true" sz="1500" spc="150">
                <a:solidFill>
                  <a:srgbClr val="FFFFFF"/>
                </a:solidFill>
                <a:latin typeface="Oswald Bold"/>
                <a:ea typeface="Oswald Bold"/>
                <a:cs typeface="Oswald Bold"/>
                <a:sym typeface="Oswald Bold"/>
              </a:rPr>
              <a:t>VETERAN OWNED</a:t>
            </a:r>
          </a:p>
        </p:txBody>
      </p:sp>
      <p:sp>
        <p:nvSpPr>
          <p:cNvPr name="TextBox 86" id="86"/>
          <p:cNvSpPr txBox="true"/>
          <p:nvPr/>
        </p:nvSpPr>
        <p:spPr>
          <a:xfrm rot="0">
            <a:off x="4191000" y="6629400"/>
            <a:ext cx="3048000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00"/>
              </a:lnSpc>
            </a:pPr>
            <a:r>
              <a:rPr lang="en-US" b="true" sz="1500" spc="150">
                <a:solidFill>
                  <a:srgbClr val="FFFFFF"/>
                </a:solidFill>
                <a:latin typeface="Oswald Bold"/>
                <a:ea typeface="Oswald Bold"/>
                <a:cs typeface="Oswald Bold"/>
                <a:sym typeface="Oswald Bold"/>
              </a:rPr>
              <a:t>AMERICAN MADE</a:t>
            </a:r>
          </a:p>
        </p:txBody>
      </p:sp>
      <p:sp>
        <p:nvSpPr>
          <p:cNvPr name="TextBox 87" id="87"/>
          <p:cNvSpPr txBox="true"/>
          <p:nvPr/>
        </p:nvSpPr>
        <p:spPr>
          <a:xfrm rot="0">
            <a:off x="952500" y="7105650"/>
            <a:ext cx="6286500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00"/>
              </a:lnSpc>
            </a:pPr>
            <a:r>
              <a:rPr lang="en-US" b="true" sz="1500" spc="150">
                <a:solidFill>
                  <a:srgbClr val="FFFFFF"/>
                </a:solidFill>
                <a:latin typeface="Oswald Bold"/>
                <a:ea typeface="Oswald Bold"/>
                <a:cs typeface="Oswald Bold"/>
                <a:sym typeface="Oswald Bold"/>
              </a:rPr>
              <a:t>BUILT STRONG. FINISHED RIGHT.</a:t>
            </a:r>
          </a:p>
        </p:txBody>
      </p:sp>
      <p:sp>
        <p:nvSpPr>
          <p:cNvPr name="TextBox 88" id="88"/>
          <p:cNvSpPr txBox="true"/>
          <p:nvPr/>
        </p:nvSpPr>
        <p:spPr>
          <a:xfrm rot="0">
            <a:off x="952500" y="9315450"/>
            <a:ext cx="8572500" cy="1657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64"/>
              </a:lnSpc>
            </a:pPr>
            <a:r>
              <a:rPr lang="en-US" sz="975" spc="341" b="true">
                <a:solidFill>
                  <a:srgbClr val="FFFFFF"/>
                </a:solidFill>
                <a:latin typeface="Inter 2 Bold"/>
                <a:ea typeface="Inter 2 Bold"/>
                <a:cs typeface="Inter 2 Bold"/>
                <a:sym typeface="Inter 2 Bold"/>
              </a:rPr>
              <a:t>METAL WORX, INC.   ·   Fayetteville, NC   ·   metalworxnc.com   ·   (910) 000-0000</a:t>
            </a:r>
          </a:p>
        </p:txBody>
      </p:sp>
      <p:sp>
        <p:nvSpPr>
          <p:cNvPr name="AutoShape 89" id="89"/>
          <p:cNvSpPr/>
          <p:nvPr/>
        </p:nvSpPr>
        <p:spPr>
          <a:xfrm>
            <a:off x="952500" y="9144000"/>
            <a:ext cx="8572500" cy="0"/>
          </a:xfrm>
          <a:prstGeom prst="line">
            <a:avLst/>
          </a:prstGeom>
          <a:ln cap="flat" w="95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90" id="90"/>
          <p:cNvGrpSpPr/>
          <p:nvPr/>
        </p:nvGrpSpPr>
        <p:grpSpPr>
          <a:xfrm rot="0">
            <a:off x="11049000" y="571500"/>
            <a:ext cx="2880360" cy="617220"/>
            <a:chOff x="0" y="0"/>
            <a:chExt cx="3840480" cy="822960"/>
          </a:xfrm>
        </p:grpSpPr>
        <p:grpSp>
          <p:nvGrpSpPr>
            <p:cNvPr name="Group 91" id="91"/>
            <p:cNvGrpSpPr/>
            <p:nvPr/>
          </p:nvGrpSpPr>
          <p:grpSpPr>
            <a:xfrm rot="0">
              <a:off x="0" y="0"/>
              <a:ext cx="731520" cy="822960"/>
              <a:chOff x="0" y="0"/>
              <a:chExt cx="731520" cy="822960"/>
            </a:xfrm>
          </p:grpSpPr>
          <p:sp>
            <p:nvSpPr>
              <p:cNvPr name="Freeform 92" id="92"/>
              <p:cNvSpPr/>
              <p:nvPr/>
            </p:nvSpPr>
            <p:spPr>
              <a:xfrm flipH="false" flipV="false" rot="0">
                <a:off x="0" y="0"/>
                <a:ext cx="731520" cy="822960"/>
              </a:xfrm>
              <a:custGeom>
                <a:avLst/>
                <a:gdLst/>
                <a:ahLst/>
                <a:cxnLst/>
                <a:rect r="r" b="b" t="t" l="l"/>
                <a:pathLst>
                  <a:path h="822960" w="731520">
                    <a:moveTo>
                      <a:pt x="365760" y="0"/>
                    </a:moveTo>
                    <a:lnTo>
                      <a:pt x="731520" y="205740"/>
                    </a:lnTo>
                    <a:lnTo>
                      <a:pt x="731520" y="617220"/>
                    </a:lnTo>
                    <a:lnTo>
                      <a:pt x="365760" y="822960"/>
                    </a:lnTo>
                    <a:lnTo>
                      <a:pt x="0" y="617220"/>
                    </a:lnTo>
                    <a:lnTo>
                      <a:pt x="0" y="205740"/>
                    </a:lnTo>
                    <a:close/>
                  </a:path>
                </a:pathLst>
              </a:custGeom>
              <a:solidFill>
                <a:srgbClr val="B5121B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93" id="93"/>
              <p:cNvSpPr txBox="true"/>
              <p:nvPr/>
            </p:nvSpPr>
            <p:spPr>
              <a:xfrm>
                <a:off x="0" y="-38100"/>
                <a:ext cx="731520" cy="86106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835"/>
                  </a:lnSpc>
                </a:pPr>
                <a:r>
                  <a:rPr lang="en-US" b="true" sz="2025" spc="40">
                    <a:solidFill>
                      <a:srgbClr val="FFFFFF"/>
                    </a:solidFill>
                    <a:latin typeface="Oswald Bold"/>
                    <a:ea typeface="Oswald Bold"/>
                    <a:cs typeface="Oswald Bold"/>
                    <a:sym typeface="Oswald Bold"/>
                  </a:rPr>
                  <a:t>MW</a:t>
                </a:r>
              </a:p>
            </p:txBody>
          </p:sp>
        </p:grpSp>
        <p:sp>
          <p:nvSpPr>
            <p:cNvPr name="TextBox 94" id="94"/>
            <p:cNvSpPr txBox="true"/>
            <p:nvPr/>
          </p:nvSpPr>
          <p:spPr>
            <a:xfrm rot="0">
              <a:off x="868680" y="76200"/>
              <a:ext cx="2971800" cy="3429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-US" sz="1500" spc="225" b="true">
                  <a:solidFill>
                    <a:srgbClr val="FFFFFF"/>
                  </a:solidFill>
                  <a:latin typeface="Oswald Bold"/>
                  <a:ea typeface="Oswald Bold"/>
                  <a:cs typeface="Oswald Bold"/>
                  <a:sym typeface="Oswald Bold"/>
                </a:rPr>
                <a:t>METAL WORX</a:t>
              </a:r>
            </a:p>
          </p:txBody>
        </p:sp>
        <p:sp>
          <p:nvSpPr>
            <p:cNvPr name="TextBox 95" id="95"/>
            <p:cNvSpPr txBox="true"/>
            <p:nvPr/>
          </p:nvSpPr>
          <p:spPr>
            <a:xfrm rot="0">
              <a:off x="868680" y="392430"/>
              <a:ext cx="2971800" cy="1485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944"/>
                </a:lnSpc>
              </a:pPr>
              <a:r>
                <a:rPr lang="en-US" sz="675" spc="337">
                  <a:solidFill>
                    <a:srgbClr val="C0C0C0"/>
                  </a:solidFill>
                  <a:latin typeface="Inter 2"/>
                  <a:ea typeface="Inter 2"/>
                  <a:cs typeface="Inter 2"/>
                  <a:sym typeface="Inter 2"/>
                </a:rPr>
                <a:t>INCORPORATED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