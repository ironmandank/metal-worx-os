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ontserrat" charset="1" panose="00000500000000000000"/>
      <p:regular r:id="rId24"/>
    </p:embeddedFont>
    <p:embeddedFont>
      <p:font typeface="Anton" charset="1" panose="00000500000000000000"/>
      <p:regular r:id="rId25"/>
    </p:embeddedFont>
    <p:embeddedFont>
      <p:font typeface="Montserrat Bold" charset="1" panose="00000800000000000000"/>
      <p:regular r:id="rId26"/>
    </p:embeddedFont>
    <p:embeddedFont>
      <p:font typeface="Magz" charset="1" panose="02000503000000000000"/>
      <p:regular r:id="rId27"/>
    </p:embeddedFont>
    <p:embeddedFont>
      <p:font typeface="Roboto Bold" charset="1" panose="02000000000000000000"/>
      <p:regular r:id="rId28"/>
    </p:embeddedFont>
    <p:embeddedFont>
      <p:font typeface="Roboto" charset="1" panose="02000000000000000000"/>
      <p:regular r:id="rId29"/>
    </p:embeddedFont>
    <p:embeddedFont>
      <p:font typeface="Norwester" charset="1" panose="00000506000000000000"/>
      <p:regular r:id="rId30"/>
    </p:embeddedFont>
    <p:embeddedFont>
      <p:font typeface="Garet Bold" charset="1" panose="00000000000000000000"/>
      <p:regular r:id="rId31"/>
    </p:embeddedFont>
    <p:embeddedFont>
      <p:font typeface="Oswald Bold" charset="1" panose="00000800000000000000"/>
      <p:regular r:id="rId32"/>
    </p:embeddedFont>
    <p:embeddedFont>
      <p:font typeface="Barlow Bold" charset="1" panose="00000800000000000000"/>
      <p:regular r:id="rId33"/>
    </p:embeddedFont>
    <p:embeddedFont>
      <p:font typeface="Barlow Medium" charset="1" panose="00000600000000000000"/>
      <p:regular r:id="rId34"/>
    </p:embeddedFont>
    <p:embeddedFont>
      <p:font typeface="Barlow" charset="1" panose="00000500000000000000"/>
      <p:regular r:id="rId35"/>
    </p:embeddedFont>
    <p:embeddedFont>
      <p:font typeface="Inter 1 Bold" charset="1" panose="020B0802030000000004"/>
      <p:regular r:id="rId36"/>
    </p:embeddedFont>
    <p:embeddedFont>
      <p:font typeface="Inter 1" charset="1" panose="020B0502030000000004"/>
      <p:regular r:id="rId37"/>
    </p:embeddedFont>
    <p:embeddedFont>
      <p:font typeface="Poppins Bold" charset="1" panose="00000800000000000000"/>
      <p:regular r:id="rId38"/>
    </p:embeddedFont>
    <p:embeddedFont>
      <p:font typeface="Saira Condensed Bold" charset="1" panose="00000806000000000000"/>
      <p:regular r:id="rId39"/>
    </p:embeddedFont>
    <p:embeddedFont>
      <p:font typeface="Poppins" charset="1" panose="00000500000000000000"/>
      <p:regular r:id="rId40"/>
    </p:embeddedFont>
    <p:embeddedFont>
      <p:font typeface="Poppins Medium" charset="1" panose="00000600000000000000"/>
      <p:regular r:id="rId41"/>
    </p:embeddedFont>
    <p:embeddedFont>
      <p:font typeface="Gotham Condensed Bold" charset="1" panose="00000000000000000000"/>
      <p:regular r:id="rId42"/>
    </p:embeddedFont>
    <p:embeddedFont>
      <p:font typeface="Gotham" charset="1" panose="00000000000000000000"/>
      <p:regular r:id="rId43"/>
    </p:embeddedFont>
    <p:embeddedFont>
      <p:font typeface="Gotham Bold" charset="1" panose="00000000000000000000"/>
      <p:regular r:id="rId44"/>
    </p:embeddedFont>
    <p:embeddedFont>
      <p:font typeface="HK Grotesk Bold" charset="1" panose="00000800000000000000"/>
      <p:regular r:id="rId45"/>
    </p:embeddedFont>
    <p:embeddedFont>
      <p:font typeface="HK Grotesk" charset="1" panose="00000500000000000000"/>
      <p:regular r:id="rId46"/>
    </p:embeddedFont>
    <p:embeddedFont>
      <p:font typeface="Inter 2 Bold" charset="1" panose="02000503000000020004"/>
      <p:regular r:id="rId47"/>
    </p:embeddedFont>
    <p:embeddedFont>
      <p:font typeface="Inter 2" charset="1" panose="020005030000000200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18" Target="../media/image26.png" Type="http://schemas.openxmlformats.org/officeDocument/2006/relationships/image"/><Relationship Id="rId19" Target="../media/image27.png" Type="http://schemas.openxmlformats.org/officeDocument/2006/relationships/image"/><Relationship Id="rId2" Target="../media/image10.png" Type="http://schemas.openxmlformats.org/officeDocument/2006/relationships/image"/><Relationship Id="rId20" Target="../media/image28.png" Type="http://schemas.openxmlformats.org/officeDocument/2006/relationships/image"/><Relationship Id="rId21" Target="../media/image29.png" Type="http://schemas.openxmlformats.org/officeDocument/2006/relationships/image"/><Relationship Id="rId22" Target="../media/image30.png" Type="http://schemas.openxmlformats.org/officeDocument/2006/relationships/image"/><Relationship Id="rId23" Target="../media/image31.png" Type="http://schemas.openxmlformats.org/officeDocument/2006/relationships/image"/><Relationship Id="rId24" Target="../media/image32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png" Type="http://schemas.openxmlformats.org/officeDocument/2006/relationships/image"/><Relationship Id="rId16" Target="../media/image59.png" Type="http://schemas.openxmlformats.org/officeDocument/2006/relationships/image"/><Relationship Id="rId17" Target="../media/image60.png" Type="http://schemas.openxmlformats.org/officeDocument/2006/relationships/image"/><Relationship Id="rId18" Target="../media/image61.png" Type="http://schemas.openxmlformats.org/officeDocument/2006/relationships/image"/><Relationship Id="rId19" Target="../media/image62.png" Type="http://schemas.openxmlformats.org/officeDocument/2006/relationships/image"/><Relationship Id="rId2" Target="../media/image45.png" Type="http://schemas.openxmlformats.org/officeDocument/2006/relationships/image"/><Relationship Id="rId20" Target="../media/image63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74.png" Type="http://schemas.openxmlformats.org/officeDocument/2006/relationships/image"/><Relationship Id="rId13" Target="../media/image75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78.png" Type="http://schemas.openxmlformats.org/officeDocument/2006/relationships/image"/><Relationship Id="rId17" Target="../media/image79.png" Type="http://schemas.openxmlformats.org/officeDocument/2006/relationships/image"/><Relationship Id="rId18" Target="../media/image80.png" Type="http://schemas.openxmlformats.org/officeDocument/2006/relationships/image"/><Relationship Id="rId19" Target="../media/image81.png" Type="http://schemas.openxmlformats.org/officeDocument/2006/relationships/image"/><Relationship Id="rId2" Target="../media/image64.png" Type="http://schemas.openxmlformats.org/officeDocument/2006/relationships/image"/><Relationship Id="rId20" Target="../media/image82.png" Type="http://schemas.openxmlformats.org/officeDocument/2006/relationships/image"/><Relationship Id="rId21" Target="../media/image83.png" Type="http://schemas.openxmlformats.org/officeDocument/2006/relationships/image"/><Relationship Id="rId22" Target="../media/image84.png" Type="http://schemas.openxmlformats.org/officeDocument/2006/relationships/image"/><Relationship Id="rId23" Target="../media/image85.png" Type="http://schemas.openxmlformats.org/officeDocument/2006/relationships/image"/><Relationship Id="rId24" Target="../media/image86.png" Type="http://schemas.openxmlformats.org/officeDocument/2006/relationships/image"/><Relationship Id="rId25" Target="../media/image87.png" Type="http://schemas.openxmlformats.org/officeDocument/2006/relationships/image"/><Relationship Id="rId26" Target="../media/image88.png" Type="http://schemas.openxmlformats.org/officeDocument/2006/relationships/image"/><Relationship Id="rId27" Target="../media/image89.png" Type="http://schemas.openxmlformats.org/officeDocument/2006/relationships/image"/><Relationship Id="rId28" Target="../media/image90.png" Type="http://schemas.openxmlformats.org/officeDocument/2006/relationships/image"/><Relationship Id="rId29" Target="../media/image91.png" Type="http://schemas.openxmlformats.org/officeDocument/2006/relationships/image"/><Relationship Id="rId3" Target="../media/image65.png" Type="http://schemas.openxmlformats.org/officeDocument/2006/relationships/image"/><Relationship Id="rId30" Target="../media/image92.png" Type="http://schemas.openxmlformats.org/officeDocument/2006/relationships/image"/><Relationship Id="rId31" Target="../media/image93.png" Type="http://schemas.openxmlformats.org/officeDocument/2006/relationships/image"/><Relationship Id="rId32" Target="../media/image94.png" Type="http://schemas.openxmlformats.org/officeDocument/2006/relationships/image"/><Relationship Id="rId33" Target="../media/image95.png" Type="http://schemas.openxmlformats.org/officeDocument/2006/relationships/image"/><Relationship Id="rId34" Target="../media/image96.png" Type="http://schemas.openxmlformats.org/officeDocument/2006/relationships/image"/><Relationship Id="rId35" Target="../media/image97.png" Type="http://schemas.openxmlformats.org/officeDocument/2006/relationships/image"/><Relationship Id="rId36" Target="../media/image98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png" Type="http://schemas.openxmlformats.org/officeDocument/2006/relationships/image"/><Relationship Id="rId2" Target="../media/image99.png" Type="http://schemas.openxmlformats.org/officeDocument/2006/relationships/image"/><Relationship Id="rId3" Target="../media/image100.pn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Relationship Id="rId7" Target="../media/image104.png" Type="http://schemas.openxmlformats.org/officeDocument/2006/relationships/image"/><Relationship Id="rId8" Target="../media/image105.pn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2" Target="../media/image109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112.png" Type="http://schemas.openxmlformats.org/officeDocument/2006/relationships/image"/><Relationship Id="rId6" Target="../media/image113.png" Type="http://schemas.openxmlformats.org/officeDocument/2006/relationships/image"/><Relationship Id="rId7" Target="../media/image114.png" Type="http://schemas.openxmlformats.org/officeDocument/2006/relationships/image"/><Relationship Id="rId8" Target="../media/image115.png" Type="http://schemas.openxmlformats.org/officeDocument/2006/relationships/image"/><Relationship Id="rId9" Target="../media/image1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png" Type="http://schemas.openxmlformats.org/officeDocument/2006/relationships/image"/><Relationship Id="rId2" Target="../media/image118.png" Type="http://schemas.openxmlformats.org/officeDocument/2006/relationships/image"/><Relationship Id="rId3" Target="../media/image119.png" Type="http://schemas.openxmlformats.org/officeDocument/2006/relationships/image"/><Relationship Id="rId4" Target="../media/image120.png" Type="http://schemas.openxmlformats.org/officeDocument/2006/relationships/image"/><Relationship Id="rId5" Target="../media/image121.png" Type="http://schemas.openxmlformats.org/officeDocument/2006/relationships/image"/><Relationship Id="rId6" Target="../media/image122.png" Type="http://schemas.openxmlformats.org/officeDocument/2006/relationships/image"/><Relationship Id="rId7" Target="../media/image123.png" Type="http://schemas.openxmlformats.org/officeDocument/2006/relationships/image"/><Relationship Id="rId8" Target="../media/image124.png" Type="http://schemas.openxmlformats.org/officeDocument/2006/relationships/image"/><Relationship Id="rId9" Target="../media/image1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6.png" Type="http://schemas.openxmlformats.org/officeDocument/2006/relationships/image"/><Relationship Id="rId11" Target="../media/image137.png" Type="http://schemas.openxmlformats.org/officeDocument/2006/relationships/image"/><Relationship Id="rId12" Target="../media/image138.png" Type="http://schemas.openxmlformats.org/officeDocument/2006/relationships/image"/><Relationship Id="rId13" Target="../media/image139.png" Type="http://schemas.openxmlformats.org/officeDocument/2006/relationships/image"/><Relationship Id="rId2" Target="../media/image128.png" Type="http://schemas.openxmlformats.org/officeDocument/2006/relationships/image"/><Relationship Id="rId3" Target="../media/image129.png" Type="http://schemas.openxmlformats.org/officeDocument/2006/relationships/image"/><Relationship Id="rId4" Target="../media/image130.png" Type="http://schemas.openxmlformats.org/officeDocument/2006/relationships/image"/><Relationship Id="rId5" Target="../media/image131.png" Type="http://schemas.openxmlformats.org/officeDocument/2006/relationships/image"/><Relationship Id="rId6" Target="../media/image132.png" Type="http://schemas.openxmlformats.org/officeDocument/2006/relationships/image"/><Relationship Id="rId7" Target="../media/image133.png" Type="http://schemas.openxmlformats.org/officeDocument/2006/relationships/image"/><Relationship Id="rId8" Target="../media/image134.png" Type="http://schemas.openxmlformats.org/officeDocument/2006/relationships/image"/><Relationship Id="rId9" Target="../media/image1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8.png" Type="http://schemas.openxmlformats.org/officeDocument/2006/relationships/image"/><Relationship Id="rId11" Target="../media/image149.png" Type="http://schemas.openxmlformats.org/officeDocument/2006/relationships/image"/><Relationship Id="rId12" Target="../media/image150.png" Type="http://schemas.openxmlformats.org/officeDocument/2006/relationships/image"/><Relationship Id="rId13" Target="../media/image151.png" Type="http://schemas.openxmlformats.org/officeDocument/2006/relationships/image"/><Relationship Id="rId14" Target="../media/image152.png" Type="http://schemas.openxmlformats.org/officeDocument/2006/relationships/image"/><Relationship Id="rId2" Target="../media/image140.png" Type="http://schemas.openxmlformats.org/officeDocument/2006/relationships/image"/><Relationship Id="rId3" Target="../media/image141.png" Type="http://schemas.openxmlformats.org/officeDocument/2006/relationships/image"/><Relationship Id="rId4" Target="../media/image142.png" Type="http://schemas.openxmlformats.org/officeDocument/2006/relationships/image"/><Relationship Id="rId5" Target="../media/image143.png" Type="http://schemas.openxmlformats.org/officeDocument/2006/relationships/image"/><Relationship Id="rId6" Target="../media/image144.png" Type="http://schemas.openxmlformats.org/officeDocument/2006/relationships/image"/><Relationship Id="rId7" Target="../media/image145.png" Type="http://schemas.openxmlformats.org/officeDocument/2006/relationships/image"/><Relationship Id="rId8" Target="../media/image146.png" Type="http://schemas.openxmlformats.org/officeDocument/2006/relationships/image"/><Relationship Id="rId9" Target="../media/image1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6625" y="0"/>
            <a:ext cx="7191375" cy="10287000"/>
          </a:xfrm>
          <a:custGeom>
            <a:avLst/>
            <a:gdLst/>
            <a:ahLst/>
            <a:cxnLst/>
            <a:rect r="r" b="b" t="t" l="l"/>
            <a:pathLst>
              <a:path h="10287000" w="7191375">
                <a:moveTo>
                  <a:pt x="0" y="0"/>
                </a:moveTo>
                <a:lnTo>
                  <a:pt x="7191375" y="0"/>
                </a:lnTo>
                <a:lnTo>
                  <a:pt x="7191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625" y="209550"/>
            <a:ext cx="6324600" cy="1295400"/>
          </a:xfrm>
          <a:custGeom>
            <a:avLst/>
            <a:gdLst/>
            <a:ahLst/>
            <a:cxnLst/>
            <a:rect r="r" b="b" t="t" l="l"/>
            <a:pathLst>
              <a:path h="1295400" w="6324600">
                <a:moveTo>
                  <a:pt x="0" y="0"/>
                </a:moveTo>
                <a:lnTo>
                  <a:pt x="6324600" y="0"/>
                </a:lnTo>
                <a:lnTo>
                  <a:pt x="6324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1495425"/>
            <a:ext cx="9810750" cy="219075"/>
          </a:xfrm>
          <a:custGeom>
            <a:avLst/>
            <a:gdLst/>
            <a:ahLst/>
            <a:cxnLst/>
            <a:rect r="r" b="b" t="t" l="l"/>
            <a:pathLst>
              <a:path h="219075" w="9810750">
                <a:moveTo>
                  <a:pt x="0" y="0"/>
                </a:moveTo>
                <a:lnTo>
                  <a:pt x="9810750" y="0"/>
                </a:lnTo>
                <a:lnTo>
                  <a:pt x="981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6656" y="1731752"/>
            <a:ext cx="4992624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373" spc="206">
                <a:solidFill>
                  <a:srgbClr val="FFFF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PROJECT STORYBOARD // CASE STUDY 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80" y="2210882"/>
            <a:ext cx="7790688" cy="178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74"/>
              </a:lnSpc>
            </a:pPr>
            <a:r>
              <a:rPr lang="en-US" sz="1347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SSU CONNEX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080" y="3929371"/>
            <a:ext cx="7735824" cy="90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C80000"/>
                </a:solidFill>
                <a:latin typeface="Anton"/>
                <a:ea typeface="Anton"/>
                <a:cs typeface="Anton"/>
                <a:sym typeface="Anton"/>
              </a:rPr>
              <a:t>CONTAINER CONVERSION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492442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6656" y="5321915"/>
            <a:ext cx="4828032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20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 METAL FABRICATION PROJECT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6429375"/>
            <a:ext cx="2409825" cy="2790825"/>
          </a:xfrm>
          <a:custGeom>
            <a:avLst/>
            <a:gdLst/>
            <a:ahLst/>
            <a:cxnLst/>
            <a:rect r="r" b="b" t="t" l="l"/>
            <a:pathLst>
              <a:path h="2790825" w="2409825">
                <a:moveTo>
                  <a:pt x="0" y="0"/>
                </a:moveTo>
                <a:lnTo>
                  <a:pt x="2409825" y="0"/>
                </a:lnTo>
                <a:lnTo>
                  <a:pt x="2409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48000" y="6429375"/>
            <a:ext cx="5667375" cy="2790825"/>
          </a:xfrm>
          <a:custGeom>
            <a:avLst/>
            <a:gdLst/>
            <a:ahLst/>
            <a:cxnLst/>
            <a:rect r="r" b="b" t="t" l="l"/>
            <a:pathLst>
              <a:path h="2790825" w="5667375">
                <a:moveTo>
                  <a:pt x="0" y="0"/>
                </a:moveTo>
                <a:lnTo>
                  <a:pt x="5667375" y="0"/>
                </a:lnTo>
                <a:lnTo>
                  <a:pt x="5667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05850" y="6429375"/>
            <a:ext cx="2400300" cy="2790825"/>
          </a:xfrm>
          <a:custGeom>
            <a:avLst/>
            <a:gdLst/>
            <a:ahLst/>
            <a:cxnLst/>
            <a:rect r="r" b="b" t="t" l="l"/>
            <a:pathLst>
              <a:path h="2790825" w="2400300">
                <a:moveTo>
                  <a:pt x="0" y="0"/>
                </a:moveTo>
                <a:lnTo>
                  <a:pt x="2400300" y="0"/>
                </a:lnTo>
                <a:lnTo>
                  <a:pt x="2400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7700" y="9210675"/>
            <a:ext cx="10458450" cy="219075"/>
          </a:xfrm>
          <a:custGeom>
            <a:avLst/>
            <a:gdLst/>
            <a:ahLst/>
            <a:cxnLst/>
            <a:rect r="r" b="b" t="t" l="l"/>
            <a:pathLst>
              <a:path h="219075" w="10458450">
                <a:moveTo>
                  <a:pt x="0" y="0"/>
                </a:moveTo>
                <a:lnTo>
                  <a:pt x="10458450" y="0"/>
                </a:lnTo>
                <a:lnTo>
                  <a:pt x="1045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6656" y="9591020"/>
            <a:ext cx="4443984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373" spc="206">
                <a:solidFill>
                  <a:srgbClr val="FFFF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VETERAN OWNED • AMERICAN MADE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95376" y="2159809"/>
            <a:ext cx="2450592" cy="32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1913" spc="9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Logistics / Mobile Ops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95376" y="3205169"/>
            <a:ext cx="2450592" cy="330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1980" spc="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Structural Conversion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95376" y="3830300"/>
            <a:ext cx="1133856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20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66976" y="9425086"/>
            <a:ext cx="2944368" cy="34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3"/>
              </a:lnSpc>
            </a:pPr>
            <a:r>
              <a:rPr lang="en-US" sz="2002" spc="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BUILT STRONG. BUILT RIGHT.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6656" y="5681960"/>
            <a:ext cx="4553712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sz="1373" spc="68">
                <a:solidFill>
                  <a:srgbClr val="FFFF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Fayetteville, North Carolina • Delivered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95376" y="1772900"/>
            <a:ext cx="1792224" cy="2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20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 SECTOR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95376" y="2839587"/>
            <a:ext cx="694944" cy="20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b="true" sz="1244" spc="1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95376" y="4199290"/>
            <a:ext cx="1115568" cy="34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spc="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Q2 - 2026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96128" y="1111663"/>
            <a:ext cx="896112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962" spc="148">
                <a:solidFill>
                  <a:srgbClr val="C80000"/>
                </a:solidFill>
                <a:latin typeface="Magz"/>
                <a:ea typeface="Magz"/>
                <a:cs typeface="Magz"/>
                <a:sym typeface="Magz"/>
              </a:rPr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639300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72925" y="0"/>
            <a:ext cx="438150" cy="10287000"/>
          </a:xfrm>
          <a:custGeom>
            <a:avLst/>
            <a:gdLst/>
            <a:ahLst/>
            <a:cxnLst/>
            <a:rect r="r" b="b" t="t" l="l"/>
            <a:pathLst>
              <a:path h="10287000" w="438150">
                <a:moveTo>
                  <a:pt x="0" y="0"/>
                </a:moveTo>
                <a:lnTo>
                  <a:pt x="438150" y="0"/>
                </a:lnTo>
                <a:lnTo>
                  <a:pt x="438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4286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90775" y="4286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80944" y="508183"/>
            <a:ext cx="2487168" cy="28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b="true" sz="1584" spc="158">
                <a:solidFill>
                  <a:srgbClr val="FF0000"/>
                </a:solidFill>
                <a:latin typeface="Roboto Bold"/>
                <a:ea typeface="Roboto Bold"/>
                <a:cs typeface="Roboto Bold"/>
                <a:sym typeface="Roboto Bold"/>
              </a:rPr>
              <a:t>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6384" y="1090081"/>
            <a:ext cx="9253728" cy="1456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5"/>
              </a:lnSpc>
            </a:pPr>
            <a:r>
              <a:rPr lang="en-US" sz="521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shipping container, reengineered from the frame out.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2781300"/>
            <a:ext cx="2190750" cy="219075"/>
          </a:xfrm>
          <a:custGeom>
            <a:avLst/>
            <a:gdLst/>
            <a:ahLst/>
            <a:cxnLst/>
            <a:rect r="r" b="b" t="t" l="l"/>
            <a:pathLst>
              <a:path h="219075" w="2190750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6384" y="3232261"/>
            <a:ext cx="987552" cy="2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3"/>
              </a:lnSpc>
            </a:pPr>
            <a:r>
              <a:rPr lang="en-US" sz="1612" spc="161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6384" y="3574619"/>
            <a:ext cx="4590288" cy="68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2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Convert a standard SSU Connex container into a mission-ready structural enclosure with reinforced floor walls, and overhead framing.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6384" y="4744260"/>
            <a:ext cx="1847088" cy="24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762" spc="176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CUSTOMER NEED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384" y="5029444"/>
            <a:ext cx="4133088" cy="74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durable, transportable steel structure engineered for repeat deployment and heavy interior loading • beyond factory tolerances.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6775" y="6000750"/>
            <a:ext cx="228600" cy="3219450"/>
          </a:xfrm>
          <a:custGeom>
            <a:avLst/>
            <a:gdLst/>
            <a:ahLst/>
            <a:cxnLst/>
            <a:rect r="r" b="b" t="t" l="l"/>
            <a:pathLst>
              <a:path h="3219450" w="228600">
                <a:moveTo>
                  <a:pt x="0" y="0"/>
                </a:moveTo>
                <a:lnTo>
                  <a:pt x="228600" y="0"/>
                </a:lnTo>
                <a:lnTo>
                  <a:pt x="228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6775" y="9001125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33550" y="5781675"/>
            <a:ext cx="9153525" cy="3648075"/>
          </a:xfrm>
          <a:custGeom>
            <a:avLst/>
            <a:gdLst/>
            <a:ahLst/>
            <a:cxnLst/>
            <a:rect r="r" b="b" t="t" l="l"/>
            <a:pathLst>
              <a:path h="3648075" w="9153525">
                <a:moveTo>
                  <a:pt x="0" y="0"/>
                </a:moveTo>
                <a:lnTo>
                  <a:pt x="9153525" y="0"/>
                </a:lnTo>
                <a:lnTo>
                  <a:pt x="91535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352925" y="9210675"/>
            <a:ext cx="2400300" cy="219075"/>
          </a:xfrm>
          <a:custGeom>
            <a:avLst/>
            <a:gdLst/>
            <a:ahLst/>
            <a:cxnLst/>
            <a:rect r="r" b="b" t="t" l="l"/>
            <a:pathLst>
              <a:path h="219075" w="2400300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784848" y="9197507"/>
            <a:ext cx="694944" cy="2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4"/>
              </a:lnSpc>
            </a:pPr>
            <a:r>
              <a:rPr lang="en-US" b="true" sz="1453" spc="14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12.192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400925" y="9210675"/>
            <a:ext cx="3486150" cy="219075"/>
          </a:xfrm>
          <a:custGeom>
            <a:avLst/>
            <a:gdLst/>
            <a:ahLst/>
            <a:cxnLst/>
            <a:rect r="r" b="b" t="t" l="l"/>
            <a:pathLst>
              <a:path h="219075" w="3486150">
                <a:moveTo>
                  <a:pt x="0" y="0"/>
                </a:moveTo>
                <a:lnTo>
                  <a:pt x="3486150" y="0"/>
                </a:lnTo>
                <a:lnTo>
                  <a:pt x="3486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86384" y="9838373"/>
            <a:ext cx="175564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 spc="22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METAL WROX, INC.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65392" y="9829324"/>
            <a:ext cx="1883664" cy="20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 spc="23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EXECUTIVE SUMARY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91872" y="1349550"/>
            <a:ext cx="1810512" cy="24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762" spc="282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PROJECT FACTS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91872" y="2223945"/>
            <a:ext cx="1792224" cy="24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762" spc="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20-ft SSU Connex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620625" y="2571750"/>
            <a:ext cx="5238750" cy="219075"/>
          </a:xfrm>
          <a:custGeom>
            <a:avLst/>
            <a:gdLst/>
            <a:ahLst/>
            <a:cxnLst/>
            <a:rect r="r" b="b" t="t" l="l"/>
            <a:pathLst>
              <a:path h="219075" w="5238750">
                <a:moveTo>
                  <a:pt x="0" y="0"/>
                </a:moveTo>
                <a:lnTo>
                  <a:pt x="5238750" y="0"/>
                </a:lnTo>
                <a:lnTo>
                  <a:pt x="5238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691872" y="2796037"/>
            <a:ext cx="585216" cy="19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399" spc="223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SCOPE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91872" y="3160062"/>
            <a:ext cx="3054096" cy="24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762" spc="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Floor • Walls • Overhead • Liner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20625" y="3429000"/>
            <a:ext cx="5238750" cy="219075"/>
          </a:xfrm>
          <a:custGeom>
            <a:avLst/>
            <a:gdLst/>
            <a:ahLst/>
            <a:cxnLst/>
            <a:rect r="r" b="b" t="t" l="l"/>
            <a:pathLst>
              <a:path h="219075" w="5238750">
                <a:moveTo>
                  <a:pt x="0" y="0"/>
                </a:moveTo>
                <a:lnTo>
                  <a:pt x="5238750" y="0"/>
                </a:lnTo>
                <a:lnTo>
                  <a:pt x="5238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691872" y="4096179"/>
            <a:ext cx="1993392" cy="24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762" spc="7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A36 structural steel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620625" y="4286250"/>
            <a:ext cx="5238750" cy="428625"/>
          </a:xfrm>
          <a:custGeom>
            <a:avLst/>
            <a:gdLst/>
            <a:ahLst/>
            <a:cxnLst/>
            <a:rect r="r" b="b" t="t" l="l"/>
            <a:pathLst>
              <a:path h="428625" w="5238750">
                <a:moveTo>
                  <a:pt x="0" y="0"/>
                </a:moveTo>
                <a:lnTo>
                  <a:pt x="5238750" y="0"/>
                </a:lnTo>
                <a:lnTo>
                  <a:pt x="523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691872" y="5042821"/>
            <a:ext cx="2176272" cy="24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725" spc="6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Logistics / Mobile Ops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620625" y="5353050"/>
            <a:ext cx="5238750" cy="219075"/>
          </a:xfrm>
          <a:custGeom>
            <a:avLst/>
            <a:gdLst/>
            <a:ahLst/>
            <a:cxnLst/>
            <a:rect r="r" b="b" t="t" l="l"/>
            <a:pathLst>
              <a:path h="219075" w="5238750">
                <a:moveTo>
                  <a:pt x="0" y="0"/>
                </a:moveTo>
                <a:lnTo>
                  <a:pt x="5238750" y="0"/>
                </a:lnTo>
                <a:lnTo>
                  <a:pt x="5238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691872" y="6235875"/>
            <a:ext cx="2322576" cy="24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762" spc="282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MAJOR MILESTONES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620625" y="66389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839700" y="663892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925550" y="663892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020925" y="663892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106775" y="663892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7192625" y="6638925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801850" y="663892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716000" y="663892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6806672" y="9829324"/>
            <a:ext cx="749808" cy="20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7"/>
              </a:lnSpc>
            </a:pPr>
            <a:r>
              <a:rPr lang="en-US" b="true" sz="1162" spc="23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 / 18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91872" y="1859920"/>
            <a:ext cx="987552" cy="19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399" spc="223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CONTAINER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91872" y="3732154"/>
            <a:ext cx="877824" cy="19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399" spc="223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MATERIAL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91872" y="4678558"/>
            <a:ext cx="1353312" cy="19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399" spc="223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CLIENT SECTOR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63856" y="7024756"/>
            <a:ext cx="512064" cy="20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Arrival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587984" y="7039698"/>
            <a:ext cx="694944" cy="18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sz="12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Fabricate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76704" y="7024756"/>
            <a:ext cx="621792" cy="20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 Fit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038576" y="7040189"/>
            <a:ext cx="420624" cy="17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sz="12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Install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7062704" y="7024756"/>
            <a:ext cx="566928" cy="20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Deliver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7552" y="521637"/>
            <a:ext cx="1280160" cy="26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b="true" sz="1518" spc="1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SECTION 01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217920" y="3232261"/>
            <a:ext cx="2139696" cy="2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3"/>
              </a:lnSpc>
            </a:pPr>
            <a:r>
              <a:rPr lang="en-US" sz="1612" spc="161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METAL WROX SOLUTION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217920" y="3537829"/>
            <a:ext cx="4992624" cy="74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In-house fabrication of a fully welded floor system, full-length wall supports, overhead reinforcement, and interior steel lining • assembled, test-fit, and installed by our veteran crew.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217920" y="4991148"/>
            <a:ext cx="1737360" cy="24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762" spc="176">
                <a:solidFill>
                  <a:srgbClr val="FF0000"/>
                </a:solidFill>
                <a:latin typeface="Anton"/>
                <a:ea typeface="Anton"/>
                <a:cs typeface="Anton"/>
                <a:sym typeface="Anton"/>
              </a:rPr>
              <a:t>PROJECT STATUS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217920" y="5412653"/>
            <a:ext cx="4956048" cy="33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3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Delivered • On schedule • Client accepted</a:t>
            </a:r>
          </a:p>
        </p:txBody>
      </p:sp>
      <p:sp>
        <p:nvSpPr>
          <p:cNvPr name="TextBox 55" id="55"/>
          <p:cNvSpPr txBox="true"/>
          <p:nvPr/>
        </p:nvSpPr>
        <p:spPr>
          <a:xfrm rot="-5400000">
            <a:off x="703886" y="7540192"/>
            <a:ext cx="585216" cy="25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b="true" sz="1485" spc="14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2,592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6625" y="5353050"/>
            <a:ext cx="7191375" cy="4933950"/>
          </a:xfrm>
          <a:custGeom>
            <a:avLst/>
            <a:gdLst/>
            <a:ahLst/>
            <a:cxnLst/>
            <a:rect r="r" b="b" t="t" l="l"/>
            <a:pathLst>
              <a:path h="4933950" w="7191375">
                <a:moveTo>
                  <a:pt x="0" y="0"/>
                </a:moveTo>
                <a:lnTo>
                  <a:pt x="7191375" y="0"/>
                </a:lnTo>
                <a:lnTo>
                  <a:pt x="71913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209550"/>
            <a:ext cx="11115675" cy="8362950"/>
          </a:xfrm>
          <a:custGeom>
            <a:avLst/>
            <a:gdLst/>
            <a:ahLst/>
            <a:cxnLst/>
            <a:rect r="r" b="b" t="t" l="l"/>
            <a:pathLst>
              <a:path h="8362950" w="11115675">
                <a:moveTo>
                  <a:pt x="0" y="0"/>
                </a:moveTo>
                <a:lnTo>
                  <a:pt x="11115675" y="0"/>
                </a:lnTo>
                <a:lnTo>
                  <a:pt x="11115675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8625" y="4286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48925" y="4286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1714500"/>
            <a:ext cx="447675" cy="5143500"/>
          </a:xfrm>
          <a:custGeom>
            <a:avLst/>
            <a:gdLst/>
            <a:ahLst/>
            <a:cxnLst/>
            <a:rect r="r" b="b" t="t" l="l"/>
            <a:pathLst>
              <a:path h="5143500" w="447675">
                <a:moveTo>
                  <a:pt x="0" y="0"/>
                </a:moveTo>
                <a:lnTo>
                  <a:pt x="447675" y="0"/>
                </a:lnTo>
                <a:lnTo>
                  <a:pt x="44767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6775" y="6638925"/>
            <a:ext cx="10020300" cy="219075"/>
          </a:xfrm>
          <a:custGeom>
            <a:avLst/>
            <a:gdLst/>
            <a:ahLst/>
            <a:cxnLst/>
            <a:rect r="r" b="b" t="t" l="l"/>
            <a:pathLst>
              <a:path h="219075" w="10020300">
                <a:moveTo>
                  <a:pt x="0" y="0"/>
                </a:moveTo>
                <a:lnTo>
                  <a:pt x="10020300" y="0"/>
                </a:lnTo>
                <a:lnTo>
                  <a:pt x="1002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4000" y="7286625"/>
            <a:ext cx="8934450" cy="647700"/>
          </a:xfrm>
          <a:custGeom>
            <a:avLst/>
            <a:gdLst/>
            <a:ahLst/>
            <a:cxnLst/>
            <a:rect r="r" b="b" t="t" l="l"/>
            <a:pathLst>
              <a:path h="647700" w="8934450">
                <a:moveTo>
                  <a:pt x="0" y="0"/>
                </a:moveTo>
                <a:lnTo>
                  <a:pt x="8934450" y="0"/>
                </a:lnTo>
                <a:lnTo>
                  <a:pt x="893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34775" y="1066800"/>
            <a:ext cx="228600" cy="866775"/>
          </a:xfrm>
          <a:custGeom>
            <a:avLst/>
            <a:gdLst/>
            <a:ahLst/>
            <a:cxnLst/>
            <a:rect r="r" b="b" t="t" l="l"/>
            <a:pathLst>
              <a:path h="866775" w="228600">
                <a:moveTo>
                  <a:pt x="0" y="0"/>
                </a:moveTo>
                <a:lnTo>
                  <a:pt x="228600" y="0"/>
                </a:lnTo>
                <a:lnTo>
                  <a:pt x="228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34775" y="2143125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8625" y="857250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8625" y="9639300"/>
            <a:ext cx="17430750" cy="219075"/>
          </a:xfrm>
          <a:custGeom>
            <a:avLst/>
            <a:gdLst/>
            <a:ahLst/>
            <a:cxnLst/>
            <a:rect r="r" b="b" t="t" l="l"/>
            <a:pathLst>
              <a:path h="219075" w="17430750">
                <a:moveTo>
                  <a:pt x="0" y="0"/>
                </a:moveTo>
                <a:lnTo>
                  <a:pt x="17430750" y="0"/>
                </a:lnTo>
                <a:lnTo>
                  <a:pt x="1743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722608" y="832866"/>
            <a:ext cx="268833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305">
                <a:solidFill>
                  <a:srgbClr val="FF3131"/>
                </a:solidFill>
                <a:latin typeface="Norwester"/>
                <a:ea typeface="Norwester"/>
                <a:cs typeface="Norwester"/>
                <a:sym typeface="Norwester"/>
              </a:rPr>
              <a:t>PHASE 01 - 10.14.2026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22608" y="1304544"/>
            <a:ext cx="608990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937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Connex Arrival and Initial Inspection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22608" y="2951214"/>
            <a:ext cx="5541264" cy="256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3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SSCU Connex arrived at our Lafayetteville shop in factory-standard configuration — corrugated steel skin, plywood decking, minimal internal framing. Our inspection documented weld seams, deck condition, and dimensional tolerances against the customer’s build package.</a:t>
            </a:r>
          </a:p>
          <a:p>
            <a:pPr algn="l">
              <a:lnSpc>
                <a:spcPts val="2039"/>
              </a:lnSpc>
            </a:pPr>
          </a:p>
          <a:p>
            <a:pPr algn="l">
              <a:lnSpc>
                <a:spcPts val="2039"/>
              </a:lnSpc>
            </a:pPr>
            <a:r>
              <a:rPr lang="en-US" sz="13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Field notes flagged the standard floor as under-rated for the intended payload, and the sidewall ribs as insufficient anchor points. The transformation plan calls for a purpose-built structural system fabricated from A36 steel, welded in place and finished to marine-grade standards.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8096" y="8794623"/>
            <a:ext cx="87782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485" spc="274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CAPTION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6000" y="8794623"/>
            <a:ext cx="67116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4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Container as received — original condition documented in a full 360° walkaround.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0352" y="9813417"/>
            <a:ext cx="215798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305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METAL WORX, INC.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22592" y="9806368"/>
            <a:ext cx="208483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1326" spc="245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ORIGINAL CONDITION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98112" y="9806368"/>
            <a:ext cx="76809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1"/>
              </a:lnSpc>
            </a:pPr>
            <a:r>
              <a:rPr lang="en-US" sz="1326" spc="245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673322"/>
            <a:ext cx="4992624" cy="13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7"/>
              </a:lnSpc>
            </a:pPr>
            <a:r>
              <a:rPr lang="en-US" b="true" sz="1087" spc="543">
                <a:solidFill>
                  <a:srgbClr val="B60000"/>
                </a:solidFill>
                <a:latin typeface="Garet Bold"/>
                <a:ea typeface="Garet Bold"/>
                <a:cs typeface="Garet Bold"/>
                <a:sym typeface="Garet Bold"/>
              </a:rPr>
              <a:t>SECTION 02  .  SCOPE &amp; OBJECTIVES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638175"/>
            <a:ext cx="16992600" cy="219075"/>
          </a:xfrm>
          <a:custGeom>
            <a:avLst/>
            <a:gdLst/>
            <a:ahLst/>
            <a:cxnLst/>
            <a:rect r="r" b="b" t="t" l="l"/>
            <a:pathLst>
              <a:path h="219075" w="16992600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11700" y="638175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96" y="1586618"/>
            <a:ext cx="7114032" cy="166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6"/>
              </a:lnSpc>
            </a:pPr>
            <a:r>
              <a:rPr lang="en-US" sz="5978" spc="-11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Deliverables engineered to structural intent.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305550" y="2781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8096" y="3464516"/>
            <a:ext cx="7863840" cy="53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Four fabrication packages define the conversion. Each is drawn, cut, and welded in-house beforeall.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53550" y="857250"/>
            <a:ext cx="8505825" cy="4076700"/>
          </a:xfrm>
          <a:custGeom>
            <a:avLst/>
            <a:gdLst/>
            <a:ahLst/>
            <a:cxnLst/>
            <a:rect r="r" b="b" t="t" l="l"/>
            <a:pathLst>
              <a:path h="4076700" w="8505825">
                <a:moveTo>
                  <a:pt x="0" y="0"/>
                </a:moveTo>
                <a:lnTo>
                  <a:pt x="8505825" y="0"/>
                </a:lnTo>
                <a:lnTo>
                  <a:pt x="85058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7700" y="4924425"/>
            <a:ext cx="4143375" cy="4505325"/>
          </a:xfrm>
          <a:custGeom>
            <a:avLst/>
            <a:gdLst/>
            <a:ahLst/>
            <a:cxnLst/>
            <a:rect r="r" b="b" t="t" l="l"/>
            <a:pathLst>
              <a:path h="4505325" w="4143375">
                <a:moveTo>
                  <a:pt x="0" y="0"/>
                </a:moveTo>
                <a:lnTo>
                  <a:pt x="4143375" y="0"/>
                </a:lnTo>
                <a:lnTo>
                  <a:pt x="41433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7552" y="5367271"/>
            <a:ext cx="585216" cy="71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4990" spc="-99" b="true">
                <a:solidFill>
                  <a:srgbClr val="B60000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52" y="6260854"/>
            <a:ext cx="1682496" cy="2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118" spc="-4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Structural Floor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6775" y="6858000"/>
            <a:ext cx="3705225" cy="219075"/>
          </a:xfrm>
          <a:custGeom>
            <a:avLst/>
            <a:gdLst/>
            <a:ahLst/>
            <a:cxnLst/>
            <a:rect r="r" b="b" t="t" l="l"/>
            <a:pathLst>
              <a:path h="219075" w="3705225">
                <a:moveTo>
                  <a:pt x="0" y="0"/>
                </a:moveTo>
                <a:lnTo>
                  <a:pt x="3705225" y="0"/>
                </a:lnTo>
                <a:lnTo>
                  <a:pt x="3705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4128" y="7185743"/>
            <a:ext cx="3163824" cy="68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7"/>
              </a:lnSpc>
            </a:pPr>
            <a:r>
              <a:rPr lang="en-US" sz="13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Full-length steel floor system fabricated from A36 plate and channel, seam-welded to the container base rails.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66775" y="8143875"/>
            <a:ext cx="3705225" cy="1285875"/>
          </a:xfrm>
          <a:custGeom>
            <a:avLst/>
            <a:gdLst/>
            <a:ahLst/>
            <a:cxnLst/>
            <a:rect r="r" b="b" t="t" l="l"/>
            <a:pathLst>
              <a:path h="1285875" w="3705225">
                <a:moveTo>
                  <a:pt x="0" y="0"/>
                </a:moveTo>
                <a:lnTo>
                  <a:pt x="3705225" y="0"/>
                </a:lnTo>
                <a:lnTo>
                  <a:pt x="3705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781550" y="4924425"/>
            <a:ext cx="4362450" cy="4505325"/>
          </a:xfrm>
          <a:custGeom>
            <a:avLst/>
            <a:gdLst/>
            <a:ahLst/>
            <a:cxnLst/>
            <a:rect r="r" b="b" t="t" l="l"/>
            <a:pathLst>
              <a:path h="4505325" w="4362450">
                <a:moveTo>
                  <a:pt x="0" y="0"/>
                </a:moveTo>
                <a:lnTo>
                  <a:pt x="4362450" y="0"/>
                </a:lnTo>
                <a:lnTo>
                  <a:pt x="436245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248656" y="5367271"/>
            <a:ext cx="676656" cy="71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4990" spc="-99" b="true">
                <a:solidFill>
                  <a:srgbClr val="B60000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48656" y="6260854"/>
            <a:ext cx="1463040" cy="2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118" spc="-4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Wall Supports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219700" y="6858000"/>
            <a:ext cx="3714750" cy="219075"/>
          </a:xfrm>
          <a:custGeom>
            <a:avLst/>
            <a:gdLst/>
            <a:ahLst/>
            <a:cxnLst/>
            <a:rect r="r" b="b" t="t" l="l"/>
            <a:pathLst>
              <a:path h="219075" w="3714750">
                <a:moveTo>
                  <a:pt x="0" y="0"/>
                </a:moveTo>
                <a:lnTo>
                  <a:pt x="3714750" y="0"/>
                </a:lnTo>
                <a:lnTo>
                  <a:pt x="3714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248656" y="7193863"/>
            <a:ext cx="3364992" cy="4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0"/>
              </a:lnSpc>
            </a:pPr>
            <a:r>
              <a:rPr lang="en-US" sz="11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Vertical wall supports tied into the corner posts, tensioned and gusseted for point-load resistance.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219700" y="7924800"/>
            <a:ext cx="3714750" cy="1504950"/>
          </a:xfrm>
          <a:custGeom>
            <a:avLst/>
            <a:gdLst/>
            <a:ahLst/>
            <a:cxnLst/>
            <a:rect r="r" b="b" t="t" l="l"/>
            <a:pathLst>
              <a:path h="1504950" w="3714750">
                <a:moveTo>
                  <a:pt x="0" y="0"/>
                </a:moveTo>
                <a:lnTo>
                  <a:pt x="3714750" y="0"/>
                </a:lnTo>
                <a:lnTo>
                  <a:pt x="3714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144000" y="4924425"/>
            <a:ext cx="4143375" cy="4505325"/>
          </a:xfrm>
          <a:custGeom>
            <a:avLst/>
            <a:gdLst/>
            <a:ahLst/>
            <a:cxnLst/>
            <a:rect r="r" b="b" t="t" l="l"/>
            <a:pathLst>
              <a:path h="4505325" w="4143375">
                <a:moveTo>
                  <a:pt x="0" y="0"/>
                </a:moveTo>
                <a:lnTo>
                  <a:pt x="4143375" y="0"/>
                </a:lnTo>
                <a:lnTo>
                  <a:pt x="41433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528048" y="5367271"/>
            <a:ext cx="676656" cy="71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4990" spc="-99" b="true">
                <a:solidFill>
                  <a:srgbClr val="B60000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8048" y="6260854"/>
            <a:ext cx="2615184" cy="2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118" spc="-4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Overhead Reinforcement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353550" y="6858000"/>
            <a:ext cx="3714750" cy="219075"/>
          </a:xfrm>
          <a:custGeom>
            <a:avLst/>
            <a:gdLst/>
            <a:ahLst/>
            <a:cxnLst/>
            <a:rect r="r" b="b" t="t" l="l"/>
            <a:pathLst>
              <a:path h="219075" w="3714750">
                <a:moveTo>
                  <a:pt x="0" y="0"/>
                </a:moveTo>
                <a:lnTo>
                  <a:pt x="3714750" y="0"/>
                </a:lnTo>
                <a:lnTo>
                  <a:pt x="3714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528048" y="7185231"/>
            <a:ext cx="3291840" cy="43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25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Overhead cross-members and load headers to eliminate roof deflection under interior rigging.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353550" y="7924800"/>
            <a:ext cx="3714750" cy="1504950"/>
          </a:xfrm>
          <a:custGeom>
            <a:avLst/>
            <a:gdLst/>
            <a:ahLst/>
            <a:cxnLst/>
            <a:rect r="r" b="b" t="t" l="l"/>
            <a:pathLst>
              <a:path h="1504950" w="3714750">
                <a:moveTo>
                  <a:pt x="0" y="0"/>
                </a:moveTo>
                <a:lnTo>
                  <a:pt x="3714750" y="0"/>
                </a:lnTo>
                <a:lnTo>
                  <a:pt x="3714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496925" y="4924425"/>
            <a:ext cx="4143375" cy="4505325"/>
          </a:xfrm>
          <a:custGeom>
            <a:avLst/>
            <a:gdLst/>
            <a:ahLst/>
            <a:cxnLst/>
            <a:rect r="r" b="b" t="t" l="l"/>
            <a:pathLst>
              <a:path h="4505325" w="4143375">
                <a:moveTo>
                  <a:pt x="0" y="0"/>
                </a:moveTo>
                <a:lnTo>
                  <a:pt x="4143375" y="0"/>
                </a:lnTo>
                <a:lnTo>
                  <a:pt x="41433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89152" y="5367271"/>
            <a:ext cx="676656" cy="71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4990" spc="-99" b="true">
                <a:solidFill>
                  <a:srgbClr val="B60000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89152" y="6251150"/>
            <a:ext cx="2139696" cy="30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2146" spc="-42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Interior Steel Lining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716000" y="6858000"/>
            <a:ext cx="3705225" cy="219075"/>
          </a:xfrm>
          <a:custGeom>
            <a:avLst/>
            <a:gdLst/>
            <a:ahLst/>
            <a:cxnLst/>
            <a:rect r="r" b="b" t="t" l="l"/>
            <a:pathLst>
              <a:path h="219075" w="3705225">
                <a:moveTo>
                  <a:pt x="0" y="0"/>
                </a:moveTo>
                <a:lnTo>
                  <a:pt x="3705225" y="0"/>
                </a:lnTo>
                <a:lnTo>
                  <a:pt x="3705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789152" y="7185529"/>
            <a:ext cx="3108960" cy="43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2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Full-perimeter lining plate, welded flush and prepped for coating.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716000" y="7924800"/>
            <a:ext cx="3705225" cy="1504950"/>
          </a:xfrm>
          <a:custGeom>
            <a:avLst/>
            <a:gdLst/>
            <a:ahLst/>
            <a:cxnLst/>
            <a:rect r="r" b="b" t="t" l="l"/>
            <a:pathLst>
              <a:path h="1504950" w="3705225">
                <a:moveTo>
                  <a:pt x="0" y="0"/>
                </a:moveTo>
                <a:lnTo>
                  <a:pt x="3705225" y="0"/>
                </a:lnTo>
                <a:lnTo>
                  <a:pt x="3705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47700" y="9429750"/>
            <a:ext cx="16992600" cy="219075"/>
          </a:xfrm>
          <a:custGeom>
            <a:avLst/>
            <a:gdLst/>
            <a:ahLst/>
            <a:cxnLst/>
            <a:rect r="r" b="b" t="t" l="l"/>
            <a:pathLst>
              <a:path h="219075" w="16992600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68096" y="9850564"/>
            <a:ext cx="2414016" cy="14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1050" spc="52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METAL WORX, INC.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98080" y="9856280"/>
            <a:ext cx="2523744" cy="12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"/>
              </a:lnSpc>
            </a:pPr>
            <a:r>
              <a:rPr lang="en-US" b="true" sz="975" spc="48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SCOPE &amp; OBJECTIVES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678656" y="9846278"/>
            <a:ext cx="896112" cy="14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2"/>
              </a:lnSpc>
            </a:pPr>
            <a:r>
              <a:rPr lang="en-US" b="true" sz="1012" spc="50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9850" y="0"/>
            <a:ext cx="6324600" cy="3000375"/>
          </a:xfrm>
          <a:custGeom>
            <a:avLst/>
            <a:gdLst/>
            <a:ahLst/>
            <a:cxnLst/>
            <a:rect r="r" b="b" t="t" l="l"/>
            <a:pathLst>
              <a:path h="3000375" w="6324600">
                <a:moveTo>
                  <a:pt x="0" y="0"/>
                </a:moveTo>
                <a:lnTo>
                  <a:pt x="6324600" y="0"/>
                </a:lnTo>
                <a:lnTo>
                  <a:pt x="6324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1447610"/>
            <a:ext cx="7443216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2"/>
              </a:lnSpc>
            </a:pPr>
            <a:r>
              <a:rPr lang="en-US" sz="5493" spc="-10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From arrival to installation</a:t>
            </a:r>
            <a:r>
              <a:rPr lang="en-US" sz="5493" spc="-109" b="true">
                <a:solidFill>
                  <a:srgbClr val="D80000"/>
                </a:solidFill>
                <a:latin typeface="Oswald Bold"/>
                <a:ea typeface="Oswald Bold"/>
                <a:cs typeface="Oswald Bold"/>
                <a:sym typeface="Oswald Bold"/>
              </a:rPr>
              <a:t>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829550" y="1924050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7700" y="2781300"/>
            <a:ext cx="16992600" cy="219075"/>
          </a:xfrm>
          <a:custGeom>
            <a:avLst/>
            <a:gdLst/>
            <a:ahLst/>
            <a:cxnLst/>
            <a:rect r="r" b="b" t="t" l="l"/>
            <a:pathLst>
              <a:path h="219075" w="16992600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3209925"/>
            <a:ext cx="1752600" cy="1295400"/>
          </a:xfrm>
          <a:custGeom>
            <a:avLst/>
            <a:gdLst/>
            <a:ahLst/>
            <a:cxnLst/>
            <a:rect r="r" b="b" t="t" l="l"/>
            <a:pathLst>
              <a:path h="1295400" w="17526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625" y="4286250"/>
            <a:ext cx="2190750" cy="2143125"/>
          </a:xfrm>
          <a:custGeom>
            <a:avLst/>
            <a:gdLst/>
            <a:ahLst/>
            <a:cxnLst/>
            <a:rect r="r" b="b" t="t" l="l"/>
            <a:pathLst>
              <a:path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9850" y="3209925"/>
            <a:ext cx="1962150" cy="1295400"/>
          </a:xfrm>
          <a:custGeom>
            <a:avLst/>
            <a:gdLst/>
            <a:ahLst/>
            <a:cxnLst/>
            <a:rect r="r" b="b" t="t" l="l"/>
            <a:pathLst>
              <a:path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9850" y="4286250"/>
            <a:ext cx="2181225" cy="2143125"/>
          </a:xfrm>
          <a:custGeom>
            <a:avLst/>
            <a:gdLst/>
            <a:ahLst/>
            <a:cxnLst/>
            <a:rect r="r" b="b" t="t" l="l"/>
            <a:pathLst>
              <a:path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81550" y="3209925"/>
            <a:ext cx="1971675" cy="1295400"/>
          </a:xfrm>
          <a:custGeom>
            <a:avLst/>
            <a:gdLst/>
            <a:ahLst/>
            <a:cxnLst/>
            <a:rect r="r" b="b" t="t" l="l"/>
            <a:pathLst>
              <a:path h="1295400" w="1971675">
                <a:moveTo>
                  <a:pt x="0" y="0"/>
                </a:moveTo>
                <a:lnTo>
                  <a:pt x="1971675" y="0"/>
                </a:lnTo>
                <a:lnTo>
                  <a:pt x="1971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81550" y="4286250"/>
            <a:ext cx="2190750" cy="2143125"/>
          </a:xfrm>
          <a:custGeom>
            <a:avLst/>
            <a:gdLst/>
            <a:ahLst/>
            <a:cxnLst/>
            <a:rect r="r" b="b" t="t" l="l"/>
            <a:pathLst>
              <a:path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62775" y="3209925"/>
            <a:ext cx="1971675" cy="1295400"/>
          </a:xfrm>
          <a:custGeom>
            <a:avLst/>
            <a:gdLst/>
            <a:ahLst/>
            <a:cxnLst/>
            <a:rect r="r" b="b" t="t" l="l"/>
            <a:pathLst>
              <a:path h="1295400" w="1971675">
                <a:moveTo>
                  <a:pt x="0" y="0"/>
                </a:moveTo>
                <a:lnTo>
                  <a:pt x="1971675" y="0"/>
                </a:lnTo>
                <a:lnTo>
                  <a:pt x="1971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62775" y="4286250"/>
            <a:ext cx="2181225" cy="2143125"/>
          </a:xfrm>
          <a:custGeom>
            <a:avLst/>
            <a:gdLst/>
            <a:ahLst/>
            <a:cxnLst/>
            <a:rect r="r" b="b" t="t" l="l"/>
            <a:pathLst>
              <a:path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53550" y="3209925"/>
            <a:ext cx="1752600" cy="1295400"/>
          </a:xfrm>
          <a:custGeom>
            <a:avLst/>
            <a:gdLst/>
            <a:ahLst/>
            <a:cxnLst/>
            <a:rect r="r" b="b" t="t" l="l"/>
            <a:pathLst>
              <a:path h="1295400" w="17526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4286250"/>
            <a:ext cx="2181225" cy="2143125"/>
          </a:xfrm>
          <a:custGeom>
            <a:avLst/>
            <a:gdLst/>
            <a:ahLst/>
            <a:cxnLst/>
            <a:rect r="r" b="b" t="t" l="l"/>
            <a:pathLst>
              <a:path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34775" y="3209925"/>
            <a:ext cx="1971675" cy="1295400"/>
          </a:xfrm>
          <a:custGeom>
            <a:avLst/>
            <a:gdLst/>
            <a:ahLst/>
            <a:cxnLst/>
            <a:rect r="r" b="b" t="t" l="l"/>
            <a:pathLst>
              <a:path h="1295400" w="1971675">
                <a:moveTo>
                  <a:pt x="0" y="0"/>
                </a:moveTo>
                <a:lnTo>
                  <a:pt x="1971675" y="0"/>
                </a:lnTo>
                <a:lnTo>
                  <a:pt x="1971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315700" y="4286250"/>
            <a:ext cx="2190750" cy="2143125"/>
          </a:xfrm>
          <a:custGeom>
            <a:avLst/>
            <a:gdLst/>
            <a:ahLst/>
            <a:cxnLst/>
            <a:rect r="r" b="b" t="t" l="l"/>
            <a:pathLst>
              <a:path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716000" y="3209925"/>
            <a:ext cx="1962150" cy="1295400"/>
          </a:xfrm>
          <a:custGeom>
            <a:avLst/>
            <a:gdLst/>
            <a:ahLst/>
            <a:cxnLst/>
            <a:rect r="r" b="b" t="t" l="l"/>
            <a:pathLst>
              <a:path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496925" y="4286250"/>
            <a:ext cx="2181225" cy="2143125"/>
          </a:xfrm>
          <a:custGeom>
            <a:avLst/>
            <a:gdLst/>
            <a:ahLst/>
            <a:cxnLst/>
            <a:rect r="r" b="b" t="t" l="l"/>
            <a:pathLst>
              <a:path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668625" y="3209925"/>
            <a:ext cx="1971675" cy="1295400"/>
          </a:xfrm>
          <a:custGeom>
            <a:avLst/>
            <a:gdLst/>
            <a:ahLst/>
            <a:cxnLst/>
            <a:rect r="r" b="b" t="t" l="l"/>
            <a:pathLst>
              <a:path h="1295400" w="1971675">
                <a:moveTo>
                  <a:pt x="0" y="0"/>
                </a:moveTo>
                <a:lnTo>
                  <a:pt x="1971675" y="0"/>
                </a:lnTo>
                <a:lnTo>
                  <a:pt x="1971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668625" y="4286250"/>
            <a:ext cx="1971675" cy="2143125"/>
          </a:xfrm>
          <a:custGeom>
            <a:avLst/>
            <a:gdLst/>
            <a:ahLst/>
            <a:cxnLst/>
            <a:rect r="r" b="b" t="t" l="l"/>
            <a:pathLst>
              <a:path h="2143125" w="1971675">
                <a:moveTo>
                  <a:pt x="0" y="0"/>
                </a:moveTo>
                <a:lnTo>
                  <a:pt x="1971675" y="0"/>
                </a:lnTo>
                <a:lnTo>
                  <a:pt x="1971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4925" y="62103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257550" y="62103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657850" y="62103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29550" y="62103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010775" y="62103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192000" y="62103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363700" y="62103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544925" y="62103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04925" y="6429375"/>
            <a:ext cx="16335375" cy="219075"/>
          </a:xfrm>
          <a:custGeom>
            <a:avLst/>
            <a:gdLst/>
            <a:ahLst/>
            <a:cxnLst/>
            <a:rect r="r" b="b" t="t" l="l"/>
            <a:pathLst>
              <a:path h="219075" w="16335375">
                <a:moveTo>
                  <a:pt x="0" y="0"/>
                </a:moveTo>
                <a:lnTo>
                  <a:pt x="16335375" y="0"/>
                </a:lnTo>
                <a:lnTo>
                  <a:pt x="1633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97280" y="6884590"/>
            <a:ext cx="841248" cy="65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b="true" sz="1913" spc="-3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01 </a:t>
            </a:r>
          </a:p>
          <a:p>
            <a:pPr algn="ctr">
              <a:lnSpc>
                <a:spcPts val="2679"/>
              </a:lnSpc>
            </a:pPr>
            <a:r>
              <a:rPr lang="en-US" b="true" sz="1913" spc="-3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ARRIVAL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90672" y="6857146"/>
            <a:ext cx="1188720" cy="70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02 </a:t>
            </a:r>
          </a:p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INSPECTION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86400" y="6857146"/>
            <a:ext cx="749808" cy="70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03 </a:t>
            </a:r>
          </a:p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DESIGN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51776" y="6857146"/>
            <a:ext cx="1353312" cy="70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04 </a:t>
            </a:r>
          </a:p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FABRICATION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84080" y="6893549"/>
            <a:ext cx="749808" cy="63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b="true" sz="1869" spc="-37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05 </a:t>
            </a:r>
          </a:p>
          <a:p>
            <a:pPr algn="ctr">
              <a:lnSpc>
                <a:spcPts val="2616"/>
              </a:lnSpc>
            </a:pPr>
            <a:r>
              <a:rPr lang="en-US" b="true" sz="1869" spc="-37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TEST FIT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88368" y="6857146"/>
            <a:ext cx="749808" cy="70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06 </a:t>
            </a:r>
          </a:p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FINISH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35456" y="6875347"/>
            <a:ext cx="1353312" cy="67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"/>
              </a:lnSpc>
            </a:pPr>
            <a:r>
              <a:rPr lang="en-US" b="true" sz="1935" spc="-3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07 </a:t>
            </a:r>
          </a:p>
          <a:p>
            <a:pPr algn="ctr">
              <a:lnSpc>
                <a:spcPts val="2710"/>
              </a:lnSpc>
            </a:pPr>
            <a:r>
              <a:rPr lang="en-US" b="true" sz="1935" spc="-3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INSTALLATION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130016" y="6884590"/>
            <a:ext cx="1225296" cy="65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b="true" sz="1913" spc="-3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08 </a:t>
            </a:r>
          </a:p>
          <a:p>
            <a:pPr algn="ctr">
              <a:lnSpc>
                <a:spcPts val="2679"/>
              </a:lnSpc>
            </a:pPr>
            <a:r>
              <a:rPr lang="en-US" b="true" sz="1913" spc="-3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COMPLETION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2390775" y="83534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4133850" y="8353425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657850" y="835342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0" y="921067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09550" y="9639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24128" y="9710928"/>
            <a:ext cx="268833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1"/>
              </a:lnSpc>
            </a:pPr>
            <a:r>
              <a:rPr lang="en-US" b="true" sz="1584" spc="475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METAL WROX, INC.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45552" y="9725215"/>
            <a:ext cx="239572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"/>
              </a:lnSpc>
            </a:pPr>
            <a:r>
              <a:rPr lang="en-US" b="true" sz="1387" spc="416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PROJECT TIMELINE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7630775" y="9639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6349472" y="9720453"/>
            <a:ext cx="9144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3"/>
              </a:lnSpc>
            </a:pPr>
            <a:r>
              <a:rPr lang="en-US" b="true" sz="1485" spc="445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05 / 18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1520" y="955548"/>
            <a:ext cx="416966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399" spc="419">
                <a:solidFill>
                  <a:srgbClr val="D80000"/>
                </a:solidFill>
                <a:latin typeface="Barlow Bold"/>
                <a:ea typeface="Barlow Bold"/>
                <a:cs typeface="Barlow Bold"/>
                <a:sym typeface="Barlow Bold"/>
              </a:rPr>
              <a:t>SECTION 03 • PROJECT TIMELINE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31520" y="8516493"/>
            <a:ext cx="537667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399" spc="419">
                <a:solidFill>
                  <a:srgbClr val="D80000"/>
                </a:solidFill>
                <a:latin typeface="Barlow Bold"/>
                <a:ea typeface="Barlow Bold"/>
                <a:cs typeface="Barlow Bold"/>
                <a:sym typeface="Barlow Bold"/>
              </a:rPr>
              <a:t>CURRENT PHASE • </a:t>
            </a:r>
            <a:r>
              <a:rPr lang="en-US" b="true" sz="1399" spc="41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COMPLETED • </a:t>
            </a:r>
            <a:r>
              <a:rPr lang="en-US" b="true" sz="1399" spc="419">
                <a:solidFill>
                  <a:srgbClr val="D80000"/>
                </a:solidFill>
                <a:latin typeface="Barlow Bold"/>
                <a:ea typeface="Barlow Bold"/>
                <a:cs typeface="Barlow Bold"/>
                <a:sym typeface="Barlow Bold"/>
              </a:rPr>
              <a:t>•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4128" y="3555111"/>
            <a:ext cx="98755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"/>
              </a:lnSpc>
            </a:pPr>
            <a:r>
              <a:rPr lang="en-US" b="true" sz="1059" spc="31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COMPLETE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584" y="3846957"/>
            <a:ext cx="58521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b="true" sz="1762" spc="-35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Arrival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200400" y="3555111"/>
            <a:ext cx="98755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"/>
              </a:lnSpc>
            </a:pPr>
            <a:r>
              <a:rPr lang="en-US" b="true" sz="1059" spc="31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COMPLETE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236976" y="3846957"/>
            <a:ext cx="9326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b="true" sz="1762" spc="-35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Inspection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76672" y="3555111"/>
            <a:ext cx="98755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"/>
              </a:lnSpc>
            </a:pPr>
            <a:r>
              <a:rPr lang="en-US" b="true" sz="1059" spc="31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COMPLETE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596128" y="3851719"/>
            <a:ext cx="53035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575" spc="-3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Design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552944" y="3555111"/>
            <a:ext cx="98755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"/>
              </a:lnSpc>
            </a:pPr>
            <a:r>
              <a:rPr lang="en-US" b="true" sz="1059" spc="31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COMPLETE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589520" y="3846957"/>
            <a:ext cx="93268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1650" spc="-33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Fabrication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729216" y="3555111"/>
            <a:ext cx="98755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"/>
              </a:lnSpc>
            </a:pPr>
            <a:r>
              <a:rPr lang="en-US" b="true" sz="1059" spc="31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COMPLETE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875520" y="3846957"/>
            <a:ext cx="64008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b="true" sz="1762" spc="-35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Test Fit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942064" y="3555111"/>
            <a:ext cx="98755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"/>
              </a:lnSpc>
            </a:pPr>
            <a:r>
              <a:rPr lang="en-US" b="true" sz="1059" spc="31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COMPLETE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179808" y="3846957"/>
            <a:ext cx="5303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b="true" sz="1762" spc="-35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Finish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026896" y="3555111"/>
            <a:ext cx="1225296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"/>
              </a:lnSpc>
            </a:pPr>
            <a:r>
              <a:rPr lang="en-US" b="true" sz="1026" spc="30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 PROGRESS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154912" y="3851719"/>
            <a:ext cx="9326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b="true" sz="1612" spc="-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Installation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349472" y="3555111"/>
            <a:ext cx="78638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3"/>
              </a:lnSpc>
            </a:pPr>
            <a:r>
              <a:rPr lang="en-US" b="true" sz="928" spc="278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PLANNED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276320" y="3851719"/>
            <a:ext cx="9326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b="true" sz="1612" spc="-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Completion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42416" y="7686103"/>
            <a:ext cx="98755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5"/>
              </a:lnSpc>
            </a:pPr>
            <a:r>
              <a:rPr lang="en-US" b="true" sz="1162" spc="174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Q1 • Stage 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127248" y="7686103"/>
            <a:ext cx="98755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168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Q1 • Stage 2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321808" y="7681341"/>
            <a:ext cx="98755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b="true" sz="1087" spc="16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Q2 • Stage 3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443216" y="7681341"/>
            <a:ext cx="98755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b="true" sz="1087" spc="16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Q2 • Stage 4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692640" y="7681341"/>
            <a:ext cx="98755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b="true" sz="1087" spc="16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Q3 • Stage 5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887200" y="7681341"/>
            <a:ext cx="98755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b="true" sz="1087" spc="16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Q3 • Stage 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063472" y="7681341"/>
            <a:ext cx="98755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b="true" sz="1087" spc="16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Q4 • Stage 7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203168" y="7681341"/>
            <a:ext cx="98755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b="true" sz="1087" spc="16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Q4 • Stage 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38150" cy="10287000"/>
          </a:xfrm>
          <a:custGeom>
            <a:avLst/>
            <a:gdLst/>
            <a:ahLst/>
            <a:cxnLst/>
            <a:rect r="r" b="b" t="t" l="l"/>
            <a:pathLst>
              <a:path h="10287000" w="438150">
                <a:moveTo>
                  <a:pt x="0" y="0"/>
                </a:moveTo>
                <a:lnTo>
                  <a:pt x="438150" y="0"/>
                </a:lnTo>
                <a:lnTo>
                  <a:pt x="438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6381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960" y="1027557"/>
            <a:ext cx="217627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3204" spc="384">
                <a:solidFill>
                  <a:srgbClr val="C81B1B"/>
                </a:solidFill>
                <a:latin typeface="Norwester"/>
                <a:ea typeface="Norwester"/>
                <a:cs typeface="Norwester"/>
                <a:sym typeface="Norwester"/>
              </a:rPr>
              <a:t>PHASE 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6384" y="1492186"/>
            <a:ext cx="3712464" cy="451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3"/>
              </a:lnSpc>
            </a:pPr>
            <a:r>
              <a:rPr lang="en-US" sz="29661" spc="-593">
                <a:solidFill>
                  <a:srgbClr val="C81B1B"/>
                </a:solidFill>
                <a:latin typeface="Norwester"/>
                <a:ea typeface="Norwester"/>
                <a:cs typeface="Norwester"/>
                <a:sym typeface="Norwester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85232" y="2346579"/>
            <a:ext cx="801014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1"/>
              </a:lnSpc>
            </a:pPr>
            <a:r>
              <a:rPr lang="en-US" sz="3576" spc="-7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Wall Supports &amp; Overhead Reinforcement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85232" y="3090776"/>
            <a:ext cx="7516368" cy="68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1958" spc="-3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Full-length wall supports are fabricated and tied into the corner posts, while overhead reinforcement locks the top plane against roof deflection.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219700" y="406717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775" y="5353050"/>
            <a:ext cx="3057525" cy="3009900"/>
          </a:xfrm>
          <a:custGeom>
            <a:avLst/>
            <a:gdLst/>
            <a:ahLst/>
            <a:cxnLst/>
            <a:rect r="r" b="b" t="t" l="l"/>
            <a:pathLst>
              <a:path h="3009900" w="3057525">
                <a:moveTo>
                  <a:pt x="0" y="0"/>
                </a:moveTo>
                <a:lnTo>
                  <a:pt x="3057525" y="0"/>
                </a:lnTo>
                <a:lnTo>
                  <a:pt x="30575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775" y="8572500"/>
            <a:ext cx="3924300" cy="219075"/>
          </a:xfrm>
          <a:custGeom>
            <a:avLst/>
            <a:gdLst/>
            <a:ahLst/>
            <a:cxnLst/>
            <a:rect r="r" b="b" t="t" l="l"/>
            <a:pathLst>
              <a:path h="219075" w="3924300">
                <a:moveTo>
                  <a:pt x="0" y="0"/>
                </a:moveTo>
                <a:lnTo>
                  <a:pt x="3924300" y="0"/>
                </a:lnTo>
                <a:lnTo>
                  <a:pt x="392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914775" y="5353050"/>
            <a:ext cx="3276600" cy="3009900"/>
          </a:xfrm>
          <a:custGeom>
            <a:avLst/>
            <a:gdLst/>
            <a:ahLst/>
            <a:cxnLst/>
            <a:rect r="r" b="b" t="t" l="l"/>
            <a:pathLst>
              <a:path h="3009900" w="3276600">
                <a:moveTo>
                  <a:pt x="0" y="0"/>
                </a:moveTo>
                <a:lnTo>
                  <a:pt x="3276600" y="0"/>
                </a:lnTo>
                <a:lnTo>
                  <a:pt x="32766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69264" y="9052560"/>
            <a:ext cx="171907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2"/>
              </a:lnSpc>
            </a:pPr>
            <a:r>
              <a:rPr lang="en-US" sz="1735" spc="-34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50% • Stage 4 of 8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572000" y="8572500"/>
            <a:ext cx="3267075" cy="219075"/>
          </a:xfrm>
          <a:custGeom>
            <a:avLst/>
            <a:gdLst/>
            <a:ahLst/>
            <a:cxnLst/>
            <a:rect r="r" b="b" t="t" l="l"/>
            <a:pathLst>
              <a:path h="219075" w="3267075">
                <a:moveTo>
                  <a:pt x="0" y="0"/>
                </a:moveTo>
                <a:lnTo>
                  <a:pt x="3267075" y="0"/>
                </a:lnTo>
                <a:lnTo>
                  <a:pt x="3267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81850" y="5353050"/>
            <a:ext cx="3057525" cy="3009900"/>
          </a:xfrm>
          <a:custGeom>
            <a:avLst/>
            <a:gdLst/>
            <a:ahLst/>
            <a:cxnLst/>
            <a:rect r="r" b="b" t="t" l="l"/>
            <a:pathLst>
              <a:path h="3009900" w="3057525">
                <a:moveTo>
                  <a:pt x="0" y="0"/>
                </a:moveTo>
                <a:lnTo>
                  <a:pt x="3057525" y="0"/>
                </a:lnTo>
                <a:lnTo>
                  <a:pt x="30575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7700" y="9429750"/>
            <a:ext cx="17640300" cy="219075"/>
          </a:xfrm>
          <a:custGeom>
            <a:avLst/>
            <a:gdLst/>
            <a:ahLst/>
            <a:cxnLst/>
            <a:rect r="r" b="b" t="t" l="l"/>
            <a:pathLst>
              <a:path h="219075" w="17640300">
                <a:moveTo>
                  <a:pt x="0" y="0"/>
                </a:moveTo>
                <a:lnTo>
                  <a:pt x="17640300" y="0"/>
                </a:lnTo>
                <a:lnTo>
                  <a:pt x="1764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9264" y="8279892"/>
            <a:ext cx="107899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27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PROGRESS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960" y="9792081"/>
            <a:ext cx="204825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27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METAL WROX, INC.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66560" y="9792081"/>
            <a:ext cx="442569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27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PHASE 3 • WALL SUPPORTS &amp; OVERHEAD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79824" y="9796843"/>
            <a:ext cx="7132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8"/>
              </a:lnSpc>
            </a:pPr>
            <a:r>
              <a:rPr lang="en-US" sz="1373" spc="274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10 / 18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1285875"/>
            <a:ext cx="17211675" cy="8143875"/>
          </a:xfrm>
          <a:custGeom>
            <a:avLst/>
            <a:gdLst/>
            <a:ahLst/>
            <a:cxnLst/>
            <a:rect r="r" b="b" t="t" l="l"/>
            <a:pathLst>
              <a:path h="8143875" w="17211675">
                <a:moveTo>
                  <a:pt x="0" y="0"/>
                </a:moveTo>
                <a:lnTo>
                  <a:pt x="17211675" y="0"/>
                </a:lnTo>
                <a:lnTo>
                  <a:pt x="17211675" y="8143875"/>
                </a:lnTo>
                <a:lnTo>
                  <a:pt x="0" y="814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4925" y="1924050"/>
            <a:ext cx="16116300" cy="7077075"/>
          </a:xfrm>
          <a:custGeom>
            <a:avLst/>
            <a:gdLst/>
            <a:ahLst/>
            <a:cxnLst/>
            <a:rect r="r" b="b" t="t" l="l"/>
            <a:pathLst>
              <a:path h="7077075" w="16116300">
                <a:moveTo>
                  <a:pt x="0" y="0"/>
                </a:moveTo>
                <a:lnTo>
                  <a:pt x="16116300" y="0"/>
                </a:lnTo>
                <a:lnTo>
                  <a:pt x="161163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4944" y="965883"/>
            <a:ext cx="6803136" cy="53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Documenting the Original Interior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128587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64000" y="192405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5850" y="771525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4925" y="7715250"/>
            <a:ext cx="7629525" cy="1076325"/>
          </a:xfrm>
          <a:custGeom>
            <a:avLst/>
            <a:gdLst/>
            <a:ahLst/>
            <a:cxnLst/>
            <a:rect r="r" b="b" t="t" l="l"/>
            <a:pathLst>
              <a:path h="1076325" w="7629525">
                <a:moveTo>
                  <a:pt x="0" y="0"/>
                </a:moveTo>
                <a:lnTo>
                  <a:pt x="7629525" y="0"/>
                </a:lnTo>
                <a:lnTo>
                  <a:pt x="7629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7700" y="9429750"/>
            <a:ext cx="17211675" cy="219075"/>
          </a:xfrm>
          <a:custGeom>
            <a:avLst/>
            <a:gdLst/>
            <a:ahLst/>
            <a:cxnLst/>
            <a:rect r="r" b="b" t="t" l="l"/>
            <a:pathLst>
              <a:path h="219075" w="17211675">
                <a:moveTo>
                  <a:pt x="0" y="0"/>
                </a:moveTo>
                <a:lnTo>
                  <a:pt x="17211675" y="0"/>
                </a:lnTo>
                <a:lnTo>
                  <a:pt x="1721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92625" y="8353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4944" y="583448"/>
            <a:ext cx="3127248" cy="17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1399" spc="349">
                <a:solidFill>
                  <a:srgbClr val="E80000"/>
                </a:solidFill>
                <a:latin typeface="Inter 1 Bold"/>
                <a:ea typeface="Inter 1 Bold"/>
                <a:cs typeface="Inter 1 Bold"/>
                <a:sym typeface="Inter 1 Bold"/>
              </a:rPr>
              <a:t>PHASE 01 • 10.16.2026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4944" y="9853672"/>
            <a:ext cx="2194560" cy="16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0"/>
              </a:lnSpc>
            </a:pPr>
            <a:r>
              <a:rPr lang="en-US" b="true" sz="1270" spc="317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METAL WORX, INC.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35824" y="9844885"/>
            <a:ext cx="2048256" cy="14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"/>
              </a:lnSpc>
            </a:pPr>
            <a:r>
              <a:rPr lang="en-US" sz="1092" spc="273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ORIGINAL INTERIOR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79824" y="9844885"/>
            <a:ext cx="804672" cy="14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92"/>
              </a:lnSpc>
            </a:pPr>
            <a:r>
              <a:rPr lang="en-US" b="true" sz="1092" spc="273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07 / 18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3040" y="8291036"/>
            <a:ext cx="6876288" cy="15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1162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Interior baseline photo prior to fabrication — plywood decking, corrugated skin, factory ribs.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9888" y="7941790"/>
            <a:ext cx="987552" cy="14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b="true" sz="1092" spc="273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CAPTION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50" y="209550"/>
            <a:ext cx="9810750" cy="8791575"/>
          </a:xfrm>
          <a:custGeom>
            <a:avLst/>
            <a:gdLst/>
            <a:ahLst/>
            <a:cxnLst/>
            <a:rect r="r" b="b" t="t" l="l"/>
            <a:pathLst>
              <a:path h="8791575" w="9810750">
                <a:moveTo>
                  <a:pt x="0" y="0"/>
                </a:moveTo>
                <a:lnTo>
                  <a:pt x="9810750" y="0"/>
                </a:lnTo>
                <a:lnTo>
                  <a:pt x="9810750" y="8791575"/>
                </a:lnTo>
                <a:lnTo>
                  <a:pt x="0" y="8791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625" y="428625"/>
            <a:ext cx="885825" cy="428625"/>
          </a:xfrm>
          <a:custGeom>
            <a:avLst/>
            <a:gdLst/>
            <a:ahLst/>
            <a:cxnLst/>
            <a:rect r="r" b="b" t="t" l="l"/>
            <a:pathLst>
              <a:path h="428625" w="885825">
                <a:moveTo>
                  <a:pt x="0" y="0"/>
                </a:moveTo>
                <a:lnTo>
                  <a:pt x="885825" y="0"/>
                </a:lnTo>
                <a:lnTo>
                  <a:pt x="885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4286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43700" y="5143500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625" y="7924800"/>
            <a:ext cx="9372600" cy="438150"/>
          </a:xfrm>
          <a:custGeom>
            <a:avLst/>
            <a:gdLst/>
            <a:ahLst/>
            <a:cxnLst/>
            <a:rect r="r" b="b" t="t" l="l"/>
            <a:pathLst>
              <a:path h="438150" w="9372600">
                <a:moveTo>
                  <a:pt x="0" y="0"/>
                </a:moveTo>
                <a:lnTo>
                  <a:pt x="9372600" y="0"/>
                </a:lnTo>
                <a:lnTo>
                  <a:pt x="9372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7700" y="8782050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05872" y="423577"/>
            <a:ext cx="5998464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421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02  •  STRUCTURAL FOUNDATION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29850" y="1066800"/>
            <a:ext cx="7629525" cy="3648075"/>
          </a:xfrm>
          <a:custGeom>
            <a:avLst/>
            <a:gdLst/>
            <a:ahLst/>
            <a:cxnLst/>
            <a:rect r="r" b="b" t="t" l="l"/>
            <a:pathLst>
              <a:path h="3648075" w="7629525">
                <a:moveTo>
                  <a:pt x="0" y="0"/>
                </a:moveTo>
                <a:lnTo>
                  <a:pt x="7629525" y="0"/>
                </a:lnTo>
                <a:lnTo>
                  <a:pt x="76295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24160" y="5250621"/>
            <a:ext cx="7168896" cy="60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0"/>
              </a:lnSpc>
            </a:pPr>
            <a:r>
              <a:rPr lang="en-US" sz="4570" b="true">
                <a:solidFill>
                  <a:srgbClr val="FFFFFF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Building the structural foundation.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24160" y="5965639"/>
            <a:ext cx="6967728" cy="53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3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floor system starts here. A38 channel and plate are cut, squared, and tack-fit inside the container before final passes (back the frame to the base rail).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29850" y="7286625"/>
            <a:ext cx="7629525" cy="1714500"/>
          </a:xfrm>
          <a:custGeom>
            <a:avLst/>
            <a:gdLst/>
            <a:ahLst/>
            <a:cxnLst/>
            <a:rect r="r" b="b" t="t" l="l"/>
            <a:pathLst>
              <a:path h="1714500" w="7629525">
                <a:moveTo>
                  <a:pt x="0" y="0"/>
                </a:moveTo>
                <a:lnTo>
                  <a:pt x="7629525" y="0"/>
                </a:lnTo>
                <a:lnTo>
                  <a:pt x="7629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222224" y="8232100"/>
            <a:ext cx="2816352" cy="27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6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Paste: Foot + fill + cap • inspection Visual • dye pericrane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28625" y="9210675"/>
            <a:ext cx="17211675" cy="219075"/>
          </a:xfrm>
          <a:custGeom>
            <a:avLst/>
            <a:gdLst/>
            <a:ahLst/>
            <a:cxnLst/>
            <a:rect r="r" b="b" t="t" l="l"/>
            <a:pathLst>
              <a:path h="219075" w="17211675">
                <a:moveTo>
                  <a:pt x="0" y="0"/>
                </a:moveTo>
                <a:lnTo>
                  <a:pt x="17211675" y="0"/>
                </a:lnTo>
                <a:lnTo>
                  <a:pt x="1721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8640" y="9695414"/>
            <a:ext cx="2450592" cy="25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3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METAL WORX, INC.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7920" y="9695414"/>
            <a:ext cx="4535424" cy="25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373" spc="3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PHASE 2 • STRUCTURAL FOUNDATION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78656" y="9695414"/>
            <a:ext cx="987552" cy="25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22"/>
              </a:lnSpc>
            </a:pPr>
            <a:r>
              <a:rPr lang="en-US" b="true" sz="1373" spc="3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 / 18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15600" y="4767358"/>
            <a:ext cx="731520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 spc="29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DETAIL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12880" y="4775454"/>
            <a:ext cx="290779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MIG weld • root pass, A38 plate to base rail.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35056" y="7884604"/>
            <a:ext cx="192024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Steel: A38 channel + plate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22224" y="7894606"/>
            <a:ext cx="2852928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Process: MIG (GMAW), C45 ER7D5-G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35056" y="8213788"/>
            <a:ext cx="184708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Prep: Squared to •11")16" 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0080" y="8530209"/>
            <a:ext cx="1572768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 spc="262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CAPTION • MAIN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42032" y="8533495"/>
            <a:ext cx="5687568" cy="16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93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Structural framing fit and squared inside the container prior to full-penetration welding.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638175"/>
            <a:ext cx="16992600" cy="219075"/>
          </a:xfrm>
          <a:custGeom>
            <a:avLst/>
            <a:gdLst/>
            <a:ahLst/>
            <a:cxnLst/>
            <a:rect r="r" b="b" t="t" l="l"/>
            <a:pathLst>
              <a:path h="219075" w="16992600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1122104"/>
            <a:ext cx="9802368" cy="75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5"/>
              </a:lnSpc>
            </a:pPr>
            <a:r>
              <a:rPr lang="en-US" sz="5605" b="true">
                <a:solidFill>
                  <a:srgbClr val="FFFFFF"/>
                </a:solidFill>
                <a:latin typeface="Gotham Condensed Bold"/>
                <a:ea typeface="Gotham Condensed Bold"/>
                <a:cs typeface="Gotham Condensed Bold"/>
                <a:sym typeface="Gotham Condensed Bold"/>
              </a:rPr>
              <a:t>Steel Floor System — Installed &amp; Squared.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1924050"/>
            <a:ext cx="11334750" cy="6867525"/>
          </a:xfrm>
          <a:custGeom>
            <a:avLst/>
            <a:gdLst/>
            <a:ahLst/>
            <a:cxnLst/>
            <a:rect r="r" b="b" t="t" l="l"/>
            <a:pathLst>
              <a:path h="6867525" w="11334750">
                <a:moveTo>
                  <a:pt x="0" y="0"/>
                </a:moveTo>
                <a:lnTo>
                  <a:pt x="11334750" y="0"/>
                </a:lnTo>
                <a:lnTo>
                  <a:pt x="11334750" y="6867525"/>
                </a:lnTo>
                <a:lnTo>
                  <a:pt x="0" y="6867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2143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7715250"/>
            <a:ext cx="2400300" cy="647700"/>
          </a:xfrm>
          <a:custGeom>
            <a:avLst/>
            <a:gdLst/>
            <a:ahLst/>
            <a:cxnLst/>
            <a:rect r="r" b="b" t="t" l="l"/>
            <a:pathLst>
              <a:path h="647700" w="2400300">
                <a:moveTo>
                  <a:pt x="0" y="0"/>
                </a:moveTo>
                <a:lnTo>
                  <a:pt x="2400300" y="0"/>
                </a:lnTo>
                <a:lnTo>
                  <a:pt x="2400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3584" y="7922704"/>
            <a:ext cx="2103120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5"/>
              </a:lnSpc>
            </a:pPr>
            <a:r>
              <a:rPr lang="en-US" b="true" sz="1162" spc="116">
                <a:solidFill>
                  <a:srgbClr val="FFFFFF"/>
                </a:solidFill>
                <a:latin typeface="Gotham Condensed Bold"/>
                <a:ea typeface="Gotham Condensed Bold"/>
                <a:cs typeface="Gotham Condensed Bold"/>
                <a:sym typeface="Gotham Condensed Bold"/>
              </a:rPr>
              <a:t>POSITIONING - SQUARE - WED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77550" y="7924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1520" y="8836438"/>
            <a:ext cx="10771632" cy="59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01 • Positioning the fabricated floor system.</a:t>
            </a:r>
          </a:p>
          <a:p>
            <a:pPr algn="l">
              <a:lnSpc>
                <a:spcPts val="1627"/>
              </a:lnSpc>
            </a:pPr>
            <a:r>
              <a:rPr lang="en-US" sz="116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The floor system anchors every subsequent build stage. With the frame squared and locked, wall supports and overhead reinforcement can be indexed off a true datum • cutting install variance from the outlet.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972925" y="1924050"/>
            <a:ext cx="5667375" cy="3438525"/>
          </a:xfrm>
          <a:custGeom>
            <a:avLst/>
            <a:gdLst/>
            <a:ahLst/>
            <a:cxnLst/>
            <a:rect r="r" b="b" t="t" l="l"/>
            <a:pathLst>
              <a:path h="3438525" w="5667375">
                <a:moveTo>
                  <a:pt x="0" y="0"/>
                </a:moveTo>
                <a:lnTo>
                  <a:pt x="5667375" y="0"/>
                </a:lnTo>
                <a:lnTo>
                  <a:pt x="5667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72925" y="21431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70080" y="5373815"/>
            <a:ext cx="21031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02 • Alignment check, x1/16 •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972925" y="5572125"/>
            <a:ext cx="5667375" cy="3429000"/>
          </a:xfrm>
          <a:custGeom>
            <a:avLst/>
            <a:gdLst/>
            <a:ahLst/>
            <a:cxnLst/>
            <a:rect r="r" b="b" t="t" l="l"/>
            <a:pathLst>
              <a:path h="3429000" w="5667375">
                <a:moveTo>
                  <a:pt x="0" y="0"/>
                </a:moveTo>
                <a:lnTo>
                  <a:pt x="5667375" y="0"/>
                </a:lnTo>
                <a:lnTo>
                  <a:pt x="56673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72925" y="578167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070080" y="8963977"/>
            <a:ext cx="201168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03 • Weld pass on floor rail.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973550" y="83534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7700" y="9429750"/>
            <a:ext cx="16992600" cy="428625"/>
          </a:xfrm>
          <a:custGeom>
            <a:avLst/>
            <a:gdLst/>
            <a:ahLst/>
            <a:cxnLst/>
            <a:rect r="r" b="b" t="t" l="l"/>
            <a:pathLst>
              <a:path h="428625" w="16992600">
                <a:moveTo>
                  <a:pt x="0" y="0"/>
                </a:moveTo>
                <a:lnTo>
                  <a:pt x="16992600" y="0"/>
                </a:lnTo>
                <a:lnTo>
                  <a:pt x="1699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31520" y="9836849"/>
            <a:ext cx="19385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25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METAL WORX, INC.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52944" y="9841611"/>
            <a:ext cx="217627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b="true" sz="1087" spc="21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STEEL FLOOR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06672" y="9846374"/>
            <a:ext cx="768096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5"/>
              </a:lnSpc>
            </a:pPr>
            <a:r>
              <a:rPr lang="en-US" b="true" sz="1162" spc="23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09 / 18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1520" y="527113"/>
            <a:ext cx="347472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450">
                <a:solidFill>
                  <a:srgbClr val="E80000"/>
                </a:solidFill>
                <a:latin typeface="Gotham Bold"/>
                <a:ea typeface="Gotham Bold"/>
                <a:cs typeface="Gotham Bold"/>
                <a:sym typeface="Gotham Bold"/>
              </a:rPr>
              <a:t>PHASE 02 • FLOOR SYSTEM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19075" cy="10287000"/>
          </a:xfrm>
          <a:custGeom>
            <a:avLst/>
            <a:gdLst/>
            <a:ahLst/>
            <a:cxnLst/>
            <a:rect r="r" b="b" t="t" l="l"/>
            <a:pathLst>
              <a:path h="10287000" w="219075">
                <a:moveTo>
                  <a:pt x="0" y="0"/>
                </a:moveTo>
                <a:lnTo>
                  <a:pt x="219075" y="0"/>
                </a:lnTo>
                <a:lnTo>
                  <a:pt x="2190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6381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8096" y="1117759"/>
            <a:ext cx="2249424" cy="29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b="true" sz="1762" spc="881">
                <a:solidFill>
                  <a:srgbClr val="C41D2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PHASE 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096" y="1697071"/>
            <a:ext cx="3803904" cy="382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7"/>
              </a:lnSpc>
            </a:pPr>
            <a:r>
              <a:rPr lang="en-US" sz="28717">
                <a:solidFill>
                  <a:srgbClr val="C41D2B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536" y="5132832"/>
            <a:ext cx="5413248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6"/>
              </a:lnSpc>
            </a:pPr>
            <a:r>
              <a:rPr lang="en-US" sz="41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Wall Supports &amp; Overhead Reinforcement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536" y="6553105"/>
            <a:ext cx="5303520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Full-length wall supports are fabricated and tied into the corner posts, while overhead reinforcement locks the top plane against roof deflection.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8143875"/>
            <a:ext cx="3924300" cy="428625"/>
          </a:xfrm>
          <a:custGeom>
            <a:avLst/>
            <a:gdLst/>
            <a:ahLst/>
            <a:cxnLst/>
            <a:rect r="r" b="b" t="t" l="l"/>
            <a:pathLst>
              <a:path h="428625" w="3924300">
                <a:moveTo>
                  <a:pt x="0" y="0"/>
                </a:moveTo>
                <a:lnTo>
                  <a:pt x="3924300" y="0"/>
                </a:lnTo>
                <a:lnTo>
                  <a:pt x="3924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52925" y="8143875"/>
            <a:ext cx="2181225" cy="428625"/>
          </a:xfrm>
          <a:custGeom>
            <a:avLst/>
            <a:gdLst/>
            <a:ahLst/>
            <a:cxnLst/>
            <a:rect r="r" b="b" t="t" l="l"/>
            <a:pathLst>
              <a:path h="428625" w="2181225">
                <a:moveTo>
                  <a:pt x="0" y="0"/>
                </a:moveTo>
                <a:lnTo>
                  <a:pt x="2181225" y="0"/>
                </a:lnTo>
                <a:lnTo>
                  <a:pt x="2181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9536" y="8651748"/>
            <a:ext cx="175564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50% • Stage 4 of 8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43700" y="428625"/>
            <a:ext cx="9810750" cy="4714875"/>
          </a:xfrm>
          <a:custGeom>
            <a:avLst/>
            <a:gdLst/>
            <a:ahLst/>
            <a:cxnLst/>
            <a:rect r="r" b="b" t="t" l="l"/>
            <a:pathLst>
              <a:path h="4714875" w="9810750">
                <a:moveTo>
                  <a:pt x="0" y="0"/>
                </a:moveTo>
                <a:lnTo>
                  <a:pt x="9810750" y="0"/>
                </a:lnTo>
                <a:lnTo>
                  <a:pt x="9810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62775" y="44958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43700" y="5143500"/>
            <a:ext cx="5886450" cy="4076700"/>
          </a:xfrm>
          <a:custGeom>
            <a:avLst/>
            <a:gdLst/>
            <a:ahLst/>
            <a:cxnLst/>
            <a:rect r="r" b="b" t="t" l="l"/>
            <a:pathLst>
              <a:path h="4076700" w="5886450">
                <a:moveTo>
                  <a:pt x="0" y="0"/>
                </a:moveTo>
                <a:lnTo>
                  <a:pt x="5886450" y="0"/>
                </a:lnTo>
                <a:lnTo>
                  <a:pt x="58864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62775" y="85725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620625" y="5143500"/>
            <a:ext cx="3933825" cy="4076700"/>
          </a:xfrm>
          <a:custGeom>
            <a:avLst/>
            <a:gdLst/>
            <a:ahLst/>
            <a:cxnLst/>
            <a:rect r="r" b="b" t="t" l="l"/>
            <a:pathLst>
              <a:path h="4076700" w="3933825">
                <a:moveTo>
                  <a:pt x="0" y="0"/>
                </a:moveTo>
                <a:lnTo>
                  <a:pt x="3933825" y="0"/>
                </a:lnTo>
                <a:lnTo>
                  <a:pt x="39338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839700" y="8572500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7700" y="9639300"/>
            <a:ext cx="16992600" cy="219075"/>
          </a:xfrm>
          <a:custGeom>
            <a:avLst/>
            <a:gdLst/>
            <a:ahLst/>
            <a:cxnLst/>
            <a:rect r="r" b="b" t="t" l="l"/>
            <a:pathLst>
              <a:path h="219075" w="16992600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325850" y="209550"/>
            <a:ext cx="1962150" cy="9220200"/>
          </a:xfrm>
          <a:custGeom>
            <a:avLst/>
            <a:gdLst/>
            <a:ahLst/>
            <a:cxnLst/>
            <a:rect r="r" b="b" t="t" l="l"/>
            <a:pathLst>
              <a:path h="9220200" w="1962150">
                <a:moveTo>
                  <a:pt x="0" y="0"/>
                </a:moveTo>
                <a:lnTo>
                  <a:pt x="1962150" y="0"/>
                </a:lnTo>
                <a:lnTo>
                  <a:pt x="196215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59536" y="7845981"/>
            <a:ext cx="1280160" cy="26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b="true" sz="1518" spc="30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PROGRESS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4928" y="4642640"/>
            <a:ext cx="4352544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b="true" sz="1092" spc="10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OVERHEAD REINFORCEMENT TIED INTO CORNER POSTS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88352" y="8706005"/>
            <a:ext cx="4462272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b="true" sz="1092" spc="10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FULL-LENGTH WALL SUPPORTS AT REGULAR INTERVALS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67360" y="8719876"/>
            <a:ext cx="3145536" cy="173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b="true" sz="1059" spc="105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WALL SUPPORT BASE PLATE CONNECTION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8096" y="9816245"/>
            <a:ext cx="2103120" cy="22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6"/>
              </a:lnSpc>
            </a:pPr>
            <a:r>
              <a:rPr lang="en-US" b="true" sz="1347" spc="26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METAL WORX, INC.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3136" y="9801302"/>
            <a:ext cx="3858768" cy="23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b="true" sz="1296" spc="12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PHASE 3 — WALL SUPPORTS &amp; OVERHEAD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952976" y="9815262"/>
            <a:ext cx="640080" cy="215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78"/>
              </a:lnSpc>
            </a:pPr>
            <a:r>
              <a:rPr lang="en-US" b="true" sz="1270" spc="12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828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762000" y="5429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PHASE 03  ·  FIELD JOURNAL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2000" y="790575"/>
            <a:ext cx="152400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Installing Full-Length Wall Supports.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62000" y="2000250"/>
            <a:ext cx="6858000" cy="4000500"/>
            <a:chOff x="0" y="0"/>
            <a:chExt cx="9144000" cy="5334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14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762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1524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2286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3048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3810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4572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334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6096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6858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7620000" y="2000250"/>
            <a:ext cx="0" cy="40005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762000" y="2000250"/>
            <a:ext cx="6858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762000" y="2762250"/>
            <a:ext cx="6858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762000" y="3524250"/>
            <a:ext cx="6858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762000" y="4286250"/>
            <a:ext cx="6858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762000" y="5048250"/>
            <a:ext cx="6858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762000" y="5810250"/>
            <a:ext cx="6858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1790700" y="2286000"/>
            <a:ext cx="0" cy="3429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2990850" y="2286000"/>
            <a:ext cx="0" cy="3429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4191000" y="2286000"/>
            <a:ext cx="0" cy="3429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5391150" y="2286000"/>
            <a:ext cx="0" cy="3429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6591300" y="2286000"/>
            <a:ext cx="0" cy="3429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819150" y="20574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>
            <a:off x="819150" y="20574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857250" y="5619750"/>
            <a:ext cx="304800" cy="438531"/>
            <a:chOff x="0" y="0"/>
            <a:chExt cx="406400" cy="5847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6400" cy="584708"/>
            </a:xfrm>
            <a:custGeom>
              <a:avLst/>
              <a:gdLst/>
              <a:ahLst/>
              <a:cxnLst/>
              <a:rect r="r" b="b" t="t" l="l"/>
              <a:pathLst>
                <a:path h="584708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584708"/>
                  </a:lnTo>
                  <a:lnTo>
                    <a:pt x="0" y="584708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06400" cy="6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1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810500" y="2000250"/>
            <a:ext cx="4953000" cy="1905000"/>
            <a:chOff x="0" y="0"/>
            <a:chExt cx="6604000" cy="2540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604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604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5" id="75"/>
          <p:cNvSpPr/>
          <p:nvPr/>
        </p:nvSpPr>
        <p:spPr>
          <a:xfrm>
            <a:off x="78105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85725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93345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100965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108585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116205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123825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7810500" y="2000250"/>
            <a:ext cx="4953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7810500" y="2762250"/>
            <a:ext cx="4953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7810500" y="3524250"/>
            <a:ext cx="4953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>
            <a:off x="8553450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9420225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10287000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11153775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12020550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7867650" y="20574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7867650" y="20574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2" id="92"/>
          <p:cNvGrpSpPr/>
          <p:nvPr/>
        </p:nvGrpSpPr>
        <p:grpSpPr>
          <a:xfrm rot="0">
            <a:off x="7905750" y="3524250"/>
            <a:ext cx="304800" cy="438531"/>
            <a:chOff x="0" y="0"/>
            <a:chExt cx="406400" cy="5847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6400" cy="584708"/>
            </a:xfrm>
            <a:custGeom>
              <a:avLst/>
              <a:gdLst/>
              <a:ahLst/>
              <a:cxnLst/>
              <a:rect r="r" b="b" t="t" l="l"/>
              <a:pathLst>
                <a:path h="584708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584708"/>
                  </a:lnTo>
                  <a:lnTo>
                    <a:pt x="0" y="584708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06400" cy="6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2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954000" y="2000250"/>
            <a:ext cx="4572000" cy="1905000"/>
            <a:chOff x="0" y="0"/>
            <a:chExt cx="6096000" cy="2540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096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096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8" id="98"/>
          <p:cNvSpPr/>
          <p:nvPr/>
        </p:nvSpPr>
        <p:spPr>
          <a:xfrm>
            <a:off x="129540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>
            <a:off x="137160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>
            <a:off x="144780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>
            <a:off x="152400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>
            <a:off x="160020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>
            <a:off x="167640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>
            <a:off x="17526000" y="20002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>
            <a:off x="12954000" y="2000250"/>
            <a:ext cx="4572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>
            <a:off x="12954000" y="2762250"/>
            <a:ext cx="4572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>
            <a:off x="12954000" y="3524250"/>
            <a:ext cx="45720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>
            <a:off x="13639800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9" id="109"/>
          <p:cNvSpPr/>
          <p:nvPr/>
        </p:nvSpPr>
        <p:spPr>
          <a:xfrm>
            <a:off x="14439900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>
            <a:off x="15240000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>
            <a:off x="16040100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>
            <a:off x="16840200" y="22860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>
            <a:off x="13011150" y="20574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>
            <a:off x="13011150" y="20574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5" id="115"/>
          <p:cNvGrpSpPr/>
          <p:nvPr/>
        </p:nvGrpSpPr>
        <p:grpSpPr>
          <a:xfrm rot="0">
            <a:off x="13049250" y="3524250"/>
            <a:ext cx="304800" cy="438531"/>
            <a:chOff x="0" y="0"/>
            <a:chExt cx="406400" cy="58470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06400" cy="584708"/>
            </a:xfrm>
            <a:custGeom>
              <a:avLst/>
              <a:gdLst/>
              <a:ahLst/>
              <a:cxnLst/>
              <a:rect r="r" b="b" t="t" l="l"/>
              <a:pathLst>
                <a:path h="584708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584708"/>
                  </a:lnTo>
                  <a:lnTo>
                    <a:pt x="0" y="584708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06400" cy="6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3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810500" y="4095750"/>
            <a:ext cx="3619500" cy="1905000"/>
            <a:chOff x="0" y="0"/>
            <a:chExt cx="4826000" cy="25400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826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4826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1" id="121"/>
          <p:cNvSpPr/>
          <p:nvPr/>
        </p:nvSpPr>
        <p:spPr>
          <a:xfrm>
            <a:off x="7810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2" id="122"/>
          <p:cNvSpPr/>
          <p:nvPr/>
        </p:nvSpPr>
        <p:spPr>
          <a:xfrm>
            <a:off x="8572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3" id="123"/>
          <p:cNvSpPr/>
          <p:nvPr/>
        </p:nvSpPr>
        <p:spPr>
          <a:xfrm>
            <a:off x="9334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4" id="124"/>
          <p:cNvSpPr/>
          <p:nvPr/>
        </p:nvSpPr>
        <p:spPr>
          <a:xfrm>
            <a:off x="10096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5" id="125"/>
          <p:cNvSpPr/>
          <p:nvPr/>
        </p:nvSpPr>
        <p:spPr>
          <a:xfrm>
            <a:off x="10858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6" id="126"/>
          <p:cNvSpPr/>
          <p:nvPr/>
        </p:nvSpPr>
        <p:spPr>
          <a:xfrm>
            <a:off x="7810500" y="4095750"/>
            <a:ext cx="3619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7" id="127"/>
          <p:cNvSpPr/>
          <p:nvPr/>
        </p:nvSpPr>
        <p:spPr>
          <a:xfrm>
            <a:off x="7810500" y="4857750"/>
            <a:ext cx="3619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8" id="128"/>
          <p:cNvSpPr/>
          <p:nvPr/>
        </p:nvSpPr>
        <p:spPr>
          <a:xfrm>
            <a:off x="7810500" y="5619750"/>
            <a:ext cx="3619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9" id="129"/>
          <p:cNvSpPr/>
          <p:nvPr/>
        </p:nvSpPr>
        <p:spPr>
          <a:xfrm>
            <a:off x="8353425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0" id="130"/>
          <p:cNvSpPr/>
          <p:nvPr/>
        </p:nvSpPr>
        <p:spPr>
          <a:xfrm>
            <a:off x="8986838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1" id="131"/>
          <p:cNvSpPr/>
          <p:nvPr/>
        </p:nvSpPr>
        <p:spPr>
          <a:xfrm>
            <a:off x="9620250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2" id="132"/>
          <p:cNvSpPr/>
          <p:nvPr/>
        </p:nvSpPr>
        <p:spPr>
          <a:xfrm>
            <a:off x="10253662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3" id="133"/>
          <p:cNvSpPr/>
          <p:nvPr/>
        </p:nvSpPr>
        <p:spPr>
          <a:xfrm>
            <a:off x="10887075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4" id="134"/>
          <p:cNvSpPr/>
          <p:nvPr/>
        </p:nvSpPr>
        <p:spPr>
          <a:xfrm>
            <a:off x="7867650" y="41529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5" id="135"/>
          <p:cNvSpPr/>
          <p:nvPr/>
        </p:nvSpPr>
        <p:spPr>
          <a:xfrm>
            <a:off x="7867650" y="41529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6" id="136"/>
          <p:cNvGrpSpPr/>
          <p:nvPr/>
        </p:nvGrpSpPr>
        <p:grpSpPr>
          <a:xfrm rot="0">
            <a:off x="7905750" y="5619750"/>
            <a:ext cx="304800" cy="438531"/>
            <a:chOff x="0" y="0"/>
            <a:chExt cx="406400" cy="58470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06400" cy="584708"/>
            </a:xfrm>
            <a:custGeom>
              <a:avLst/>
              <a:gdLst/>
              <a:ahLst/>
              <a:cxnLst/>
              <a:rect r="r" b="b" t="t" l="l"/>
              <a:pathLst>
                <a:path h="584708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584708"/>
                  </a:lnTo>
                  <a:lnTo>
                    <a:pt x="0" y="584708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406400" cy="6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4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1620500" y="4095750"/>
            <a:ext cx="5905500" cy="1905000"/>
            <a:chOff x="0" y="0"/>
            <a:chExt cx="7874000" cy="25400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874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7874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42" id="142"/>
          <p:cNvSpPr/>
          <p:nvPr/>
        </p:nvSpPr>
        <p:spPr>
          <a:xfrm>
            <a:off x="11620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3" id="143"/>
          <p:cNvSpPr/>
          <p:nvPr/>
        </p:nvSpPr>
        <p:spPr>
          <a:xfrm>
            <a:off x="12382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4" id="144"/>
          <p:cNvSpPr/>
          <p:nvPr/>
        </p:nvSpPr>
        <p:spPr>
          <a:xfrm>
            <a:off x="13144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5" id="145"/>
          <p:cNvSpPr/>
          <p:nvPr/>
        </p:nvSpPr>
        <p:spPr>
          <a:xfrm>
            <a:off x="13906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6" id="146"/>
          <p:cNvSpPr/>
          <p:nvPr/>
        </p:nvSpPr>
        <p:spPr>
          <a:xfrm>
            <a:off x="14668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7" id="147"/>
          <p:cNvSpPr/>
          <p:nvPr/>
        </p:nvSpPr>
        <p:spPr>
          <a:xfrm>
            <a:off x="15430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8" id="148"/>
          <p:cNvSpPr/>
          <p:nvPr/>
        </p:nvSpPr>
        <p:spPr>
          <a:xfrm>
            <a:off x="16192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9" id="149"/>
          <p:cNvSpPr/>
          <p:nvPr/>
        </p:nvSpPr>
        <p:spPr>
          <a:xfrm>
            <a:off x="16954500" y="4095750"/>
            <a:ext cx="0" cy="1905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0" id="150"/>
          <p:cNvSpPr/>
          <p:nvPr/>
        </p:nvSpPr>
        <p:spPr>
          <a:xfrm>
            <a:off x="11620500" y="4095750"/>
            <a:ext cx="5905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1" id="151"/>
          <p:cNvSpPr/>
          <p:nvPr/>
        </p:nvSpPr>
        <p:spPr>
          <a:xfrm>
            <a:off x="11620500" y="4857750"/>
            <a:ext cx="5905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2" id="152"/>
          <p:cNvSpPr/>
          <p:nvPr/>
        </p:nvSpPr>
        <p:spPr>
          <a:xfrm>
            <a:off x="11620500" y="5619750"/>
            <a:ext cx="5905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3" id="153"/>
          <p:cNvSpPr/>
          <p:nvPr/>
        </p:nvSpPr>
        <p:spPr>
          <a:xfrm>
            <a:off x="12506325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4" id="154"/>
          <p:cNvSpPr/>
          <p:nvPr/>
        </p:nvSpPr>
        <p:spPr>
          <a:xfrm>
            <a:off x="13539788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5" id="155"/>
          <p:cNvSpPr/>
          <p:nvPr/>
        </p:nvSpPr>
        <p:spPr>
          <a:xfrm>
            <a:off x="14573250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6" id="156"/>
          <p:cNvSpPr/>
          <p:nvPr/>
        </p:nvSpPr>
        <p:spPr>
          <a:xfrm>
            <a:off x="15606712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7" id="157"/>
          <p:cNvSpPr/>
          <p:nvPr/>
        </p:nvSpPr>
        <p:spPr>
          <a:xfrm>
            <a:off x="16640175" y="4381500"/>
            <a:ext cx="0" cy="1333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8" id="158"/>
          <p:cNvSpPr/>
          <p:nvPr/>
        </p:nvSpPr>
        <p:spPr>
          <a:xfrm>
            <a:off x="11677650" y="41529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9" id="159"/>
          <p:cNvSpPr/>
          <p:nvPr/>
        </p:nvSpPr>
        <p:spPr>
          <a:xfrm>
            <a:off x="11677650" y="41529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0" id="160"/>
          <p:cNvGrpSpPr/>
          <p:nvPr/>
        </p:nvGrpSpPr>
        <p:grpSpPr>
          <a:xfrm rot="0">
            <a:off x="11715750" y="5619750"/>
            <a:ext cx="304800" cy="438531"/>
            <a:chOff x="0" y="0"/>
            <a:chExt cx="406400" cy="58470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06400" cy="584708"/>
            </a:xfrm>
            <a:custGeom>
              <a:avLst/>
              <a:gdLst/>
              <a:ahLst/>
              <a:cxnLst/>
              <a:rect r="r" b="b" t="t" l="l"/>
              <a:pathLst>
                <a:path h="584708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584708"/>
                  </a:lnTo>
                  <a:lnTo>
                    <a:pt x="0" y="584708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406400" cy="6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5</a:t>
              </a:r>
            </a:p>
          </p:txBody>
        </p:sp>
      </p:grpSp>
      <p:sp>
        <p:nvSpPr>
          <p:cNvPr name="TextBox 163" id="163"/>
          <p:cNvSpPr txBox="true"/>
          <p:nvPr/>
        </p:nvSpPr>
        <p:spPr>
          <a:xfrm rot="0">
            <a:off x="762000" y="6057900"/>
            <a:ext cx="6858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225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01  Full-length support tacked plumb along the sidewall — corner posts referenced.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7810500" y="3962400"/>
            <a:ext cx="4953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43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02  Alignment check with laser plumb and torpedo level.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12954000" y="3952875"/>
            <a:ext cx="45720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06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03  Root pass, vertical up — E71T-1 flux core, downhand fill.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7810500" y="6057900"/>
            <a:ext cx="3619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225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04  Crew hand-off between weld positions.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11620500" y="6057900"/>
            <a:ext cx="5905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43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05  Support run complete, ready for gusset plates.</a:t>
            </a:r>
          </a:p>
        </p:txBody>
      </p:sp>
      <p:grpSp>
        <p:nvGrpSpPr>
          <p:cNvPr name="Group 168" id="168"/>
          <p:cNvGrpSpPr/>
          <p:nvPr/>
        </p:nvGrpSpPr>
        <p:grpSpPr>
          <a:xfrm rot="0">
            <a:off x="762000" y="6667500"/>
            <a:ext cx="16764000" cy="2476500"/>
            <a:chOff x="0" y="0"/>
            <a:chExt cx="22352000" cy="33020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235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2235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762000" y="6667500"/>
            <a:ext cx="57150" cy="2476500"/>
            <a:chOff x="0" y="0"/>
            <a:chExt cx="76200" cy="33020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762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3" id="173"/>
            <p:cNvSpPr txBox="true"/>
            <p:nvPr/>
          </p:nvSpPr>
          <p:spPr>
            <a:xfrm>
              <a:off x="0" y="-38100"/>
              <a:ext cx="762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4" id="174"/>
          <p:cNvSpPr txBox="true"/>
          <p:nvPr/>
        </p:nvSpPr>
        <p:spPr>
          <a:xfrm rot="0">
            <a:off x="1143000" y="68675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C0C0C0"/>
                </a:solidFill>
                <a:latin typeface="Inter 2 Bold"/>
                <a:ea typeface="Inter 2 Bold"/>
                <a:cs typeface="Inter 2 Bold"/>
                <a:sym typeface="Inter 2 Bold"/>
              </a:rPr>
              <a:t>FIELD CHALLENGES  &amp;  SOLUTIONS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1143000" y="7248525"/>
            <a:ext cx="38100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33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CHALLENGE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1143000" y="7439025"/>
            <a:ext cx="4953000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125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Corner posts out of plumb by ~3/8" over full height, biasing every support run.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6286500" y="7248525"/>
            <a:ext cx="38100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33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SOLUTION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6286500" y="7439025"/>
            <a:ext cx="4953000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125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Fabricated adjustable gusset plates to shim each support at the top and bottom rail.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11430000" y="7248525"/>
            <a:ext cx="47625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33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SAFETY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1430000" y="7439025"/>
            <a:ext cx="5905500" cy="4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125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Hot-work permit, forced-air ventilation, and dual fire watch throughout all vertical positions.</a:t>
            </a:r>
          </a:p>
        </p:txBody>
      </p:sp>
      <p:sp>
        <p:nvSpPr>
          <p:cNvPr name="AutoShape 181" id="181"/>
          <p:cNvSpPr/>
          <p:nvPr/>
        </p:nvSpPr>
        <p:spPr>
          <a:xfrm>
            <a:off x="762000" y="9677400"/>
            <a:ext cx="16764000" cy="0"/>
          </a:xfrm>
          <a:prstGeom prst="line">
            <a:avLst/>
          </a:prstGeom>
          <a:ln cap="flat" w="9525">
            <a:solidFill>
              <a:srgbClr val="DDDD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2" id="182"/>
          <p:cNvSpPr txBox="true"/>
          <p:nvPr/>
        </p:nvSpPr>
        <p:spPr>
          <a:xfrm rot="0">
            <a:off x="762000" y="98107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 b="true">
                <a:solidFill>
                  <a:srgbClr val="555555"/>
                </a:solidFill>
                <a:latin typeface="Oswald Bold"/>
                <a:ea typeface="Oswald Bold"/>
                <a:cs typeface="Oswald Bold"/>
                <a:sym typeface="Oswald Bold"/>
              </a:rPr>
              <a:t>METAL WORX, INC.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4762500" y="9829800"/>
            <a:ext cx="762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359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WALL SUPPORTS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15811500" y="9829800"/>
            <a:ext cx="1714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900" spc="359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828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762000" y="7334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PHASE 03  ·  OVERHEAD REINFORCEMENT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2000" y="1152525"/>
            <a:ext cx="133350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44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Reinforcing the Upper Structure.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2000" y="2257425"/>
            <a:ext cx="85725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840" b="true">
                <a:solidFill>
                  <a:srgbClr val="C0C0C0"/>
                </a:solidFill>
                <a:latin typeface="Oswald Bold"/>
                <a:ea typeface="Oswald Bold"/>
                <a:cs typeface="Oswald Bold"/>
                <a:sym typeface="Oswald Bold"/>
              </a:rPr>
              <a:t>BEFORE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25000" y="2257425"/>
            <a:ext cx="85725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84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AFTER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62000" y="2762250"/>
            <a:ext cx="8382000" cy="5334000"/>
            <a:chOff x="0" y="0"/>
            <a:chExt cx="11176000" cy="711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76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1176000">
                  <a:moveTo>
                    <a:pt x="0" y="0"/>
                  </a:moveTo>
                  <a:lnTo>
                    <a:pt x="11176000" y="0"/>
                  </a:lnTo>
                  <a:lnTo>
                    <a:pt x="11176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1176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8" id="48"/>
          <p:cNvSpPr/>
          <p:nvPr/>
        </p:nvSpPr>
        <p:spPr>
          <a:xfrm>
            <a:off x="762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1524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2286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3048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3810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4572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5334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6096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6858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7620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8382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9144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762000" y="2762250"/>
            <a:ext cx="83820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762000" y="3524250"/>
            <a:ext cx="83820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762000" y="4286250"/>
            <a:ext cx="83820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762000" y="5048250"/>
            <a:ext cx="83820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762000" y="5810250"/>
            <a:ext cx="83820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762000" y="6572250"/>
            <a:ext cx="83820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762000" y="7334250"/>
            <a:ext cx="83820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762000" y="8096250"/>
            <a:ext cx="83820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1524000" y="3905250"/>
            <a:ext cx="6858000" cy="571500"/>
            <a:chOff x="0" y="0"/>
            <a:chExt cx="9144000" cy="762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0" cy="342900"/>
            </a:xfrm>
            <a:custGeom>
              <a:avLst/>
              <a:gdLst/>
              <a:ahLst/>
              <a:cxnLst/>
              <a:rect r="r" b="b" t="t" l="l"/>
              <a:pathLst>
                <a:path h="342900" w="9144000">
                  <a:moveTo>
                    <a:pt x="0" y="0"/>
                  </a:moveTo>
                  <a:cubicBezTo>
                    <a:pt x="2286000" y="457200"/>
                    <a:pt x="6858000" y="457200"/>
                    <a:pt x="9144000" y="0"/>
                  </a:cubicBezTo>
                </a:path>
              </a:pathLst>
            </a:custGeom>
            <a:ln w="38100" cap="sq">
              <a:solidFill>
                <a:srgbClr val="666666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144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1" id="71"/>
          <p:cNvSpPr/>
          <p:nvPr/>
        </p:nvSpPr>
        <p:spPr>
          <a:xfrm>
            <a:off x="2095500" y="4476750"/>
            <a:ext cx="0" cy="2857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>
            <a:off x="3810000" y="4476750"/>
            <a:ext cx="0" cy="2857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>
            <a:off x="5524500" y="4476750"/>
            <a:ext cx="0" cy="2857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>
            <a:off x="7239000" y="4476750"/>
            <a:ext cx="0" cy="28575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838200" y="2838450"/>
            <a:ext cx="209550" cy="0"/>
          </a:xfrm>
          <a:prstGeom prst="line">
            <a:avLst/>
          </a:prstGeom>
          <a:ln cap="flat" w="19050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838200" y="2838450"/>
            <a:ext cx="0" cy="209550"/>
          </a:xfrm>
          <a:prstGeom prst="line">
            <a:avLst/>
          </a:prstGeom>
          <a:ln cap="flat" w="19050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9525000" y="2762250"/>
            <a:ext cx="8001000" cy="5334000"/>
            <a:chOff x="0" y="0"/>
            <a:chExt cx="10668000" cy="7112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668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668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0" id="80"/>
          <p:cNvSpPr/>
          <p:nvPr/>
        </p:nvSpPr>
        <p:spPr>
          <a:xfrm>
            <a:off x="9525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10287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11049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11811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12573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>
            <a:off x="13335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14097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14859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15621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16383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17145000" y="2762250"/>
            <a:ext cx="0" cy="533400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9525000" y="2762250"/>
            <a:ext cx="8001000" cy="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9525000" y="3524250"/>
            <a:ext cx="8001000" cy="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>
            <a:off x="9525000" y="4286250"/>
            <a:ext cx="8001000" cy="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9525000" y="5048250"/>
            <a:ext cx="8001000" cy="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>
            <a:off x="9525000" y="5810250"/>
            <a:ext cx="8001000" cy="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>
            <a:off x="9525000" y="6572250"/>
            <a:ext cx="8001000" cy="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>
            <a:off x="9525000" y="7334250"/>
            <a:ext cx="8001000" cy="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>
            <a:off x="9525000" y="8096250"/>
            <a:ext cx="8001000" cy="0"/>
          </a:xfrm>
          <a:prstGeom prst="line">
            <a:avLst/>
          </a:prstGeom>
          <a:ln cap="flat" w="9525">
            <a:solidFill>
              <a:srgbClr val="555555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>
            <a:off x="10096500" y="4095750"/>
            <a:ext cx="6858000" cy="0"/>
          </a:xfrm>
          <a:prstGeom prst="line">
            <a:avLst/>
          </a:prstGeom>
          <a:ln cap="flat" w="7620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>
            <a:off x="10668000" y="4095750"/>
            <a:ext cx="0" cy="3429000"/>
          </a:xfrm>
          <a:prstGeom prst="line">
            <a:avLst/>
          </a:prstGeom>
          <a:ln cap="flat" w="38100">
            <a:solidFill>
              <a:srgbClr val="88888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>
            <a:off x="12096750" y="4095750"/>
            <a:ext cx="0" cy="3429000"/>
          </a:xfrm>
          <a:prstGeom prst="line">
            <a:avLst/>
          </a:prstGeom>
          <a:ln cap="flat" w="38100">
            <a:solidFill>
              <a:srgbClr val="88888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>
            <a:off x="13525500" y="4095750"/>
            <a:ext cx="0" cy="3429000"/>
          </a:xfrm>
          <a:prstGeom prst="line">
            <a:avLst/>
          </a:prstGeom>
          <a:ln cap="flat" w="38100">
            <a:solidFill>
              <a:srgbClr val="88888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>
            <a:off x="14954250" y="4095750"/>
            <a:ext cx="0" cy="3429000"/>
          </a:xfrm>
          <a:prstGeom prst="line">
            <a:avLst/>
          </a:prstGeom>
          <a:ln cap="flat" w="38100">
            <a:solidFill>
              <a:srgbClr val="88888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>
            <a:off x="16383000" y="4095750"/>
            <a:ext cx="0" cy="3429000"/>
          </a:xfrm>
          <a:prstGeom prst="line">
            <a:avLst/>
          </a:prstGeom>
          <a:ln cap="flat" w="38100">
            <a:solidFill>
              <a:srgbClr val="88888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>
            <a:off x="10668000" y="4857750"/>
            <a:ext cx="5715000" cy="0"/>
          </a:xfrm>
          <a:prstGeom prst="line">
            <a:avLst/>
          </a:prstGeom>
          <a:ln cap="flat" w="28575">
            <a:solidFill>
              <a:srgbClr val="6666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>
            <a:off x="10668000" y="5619750"/>
            <a:ext cx="5715000" cy="0"/>
          </a:xfrm>
          <a:prstGeom prst="line">
            <a:avLst/>
          </a:prstGeom>
          <a:ln cap="flat" w="28575">
            <a:solidFill>
              <a:srgbClr val="6666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>
            <a:off x="10668000" y="6381750"/>
            <a:ext cx="5715000" cy="0"/>
          </a:xfrm>
          <a:prstGeom prst="line">
            <a:avLst/>
          </a:prstGeom>
          <a:ln cap="flat" w="28575">
            <a:solidFill>
              <a:srgbClr val="6666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>
            <a:off x="10668000" y="7143750"/>
            <a:ext cx="5715000" cy="0"/>
          </a:xfrm>
          <a:prstGeom prst="line">
            <a:avLst/>
          </a:prstGeom>
          <a:ln cap="flat" w="28575">
            <a:solidFill>
              <a:srgbClr val="6666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9" id="109"/>
          <p:cNvSpPr/>
          <p:nvPr/>
        </p:nvSpPr>
        <p:spPr>
          <a:xfrm>
            <a:off x="9601200" y="283845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>
            <a:off x="9601200" y="283845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1" id="111"/>
          <p:cNvSpPr txBox="true"/>
          <p:nvPr/>
        </p:nvSpPr>
        <p:spPr>
          <a:xfrm rot="0">
            <a:off x="762000" y="8229600"/>
            <a:ext cx="8382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43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Deflection observed under load; roof plane unrestrained between corner posts.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525000" y="8229600"/>
            <a:ext cx="8001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225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Cross-header and paired stiffeners tied into wall supports — plane locked, deflection eliminated.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762000" y="8924925"/>
            <a:ext cx="476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C0C0C0"/>
                </a:solidFill>
                <a:latin typeface="Inter 2 Bold"/>
                <a:ea typeface="Inter 2 Bold"/>
                <a:cs typeface="Inter 2 Bold"/>
                <a:sym typeface="Inter 2 Bold"/>
              </a:rPr>
              <a:t>TRANSFORMATION SUMMARY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762500" y="8915400"/>
            <a:ext cx="12763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Overhead deflection: 3/8" → 0.  Load rating: doubled.  Interior rigging: sanctioned for full spec.</a:t>
            </a:r>
          </a:p>
        </p:txBody>
      </p:sp>
      <p:sp>
        <p:nvSpPr>
          <p:cNvPr name="AutoShape 115" id="115"/>
          <p:cNvSpPr/>
          <p:nvPr/>
        </p:nvSpPr>
        <p:spPr>
          <a:xfrm>
            <a:off x="762000" y="9677400"/>
            <a:ext cx="167640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6" id="116"/>
          <p:cNvSpPr txBox="true"/>
          <p:nvPr/>
        </p:nvSpPr>
        <p:spPr>
          <a:xfrm rot="0">
            <a:off x="762000" y="98107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 b="true">
                <a:solidFill>
                  <a:srgbClr val="C0C0C0"/>
                </a:solidFill>
                <a:latin typeface="Oswald Bold"/>
                <a:ea typeface="Oswald Bold"/>
                <a:cs typeface="Oswald Bold"/>
                <a:sym typeface="Oswald Bold"/>
              </a:rPr>
              <a:t>METAL WORX, INC.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4762500" y="9829800"/>
            <a:ext cx="762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359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UPPER STRUCTURE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5811500" y="9829800"/>
            <a:ext cx="1714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900" spc="359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828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762000" y="5429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PHASE 04  ·  INTERIOR STEEL LINING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2000" y="800100"/>
            <a:ext cx="15240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Skinning the interior in welded plate.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62000" y="2095500"/>
            <a:ext cx="8191500" cy="6858000"/>
            <a:chOff x="0" y="0"/>
            <a:chExt cx="10922000" cy="9144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22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922000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762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1524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2286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3048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3810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4572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334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6096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6858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7620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8382000" y="2095500"/>
            <a:ext cx="0" cy="685800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762000" y="2095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762000" y="2857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762000" y="3619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762000" y="4381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762000" y="5143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762000" y="5905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762000" y="6667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762000" y="7429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762000" y="8191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762000" y="8953500"/>
            <a:ext cx="8191500" cy="0"/>
          </a:xfrm>
          <a:prstGeom prst="line">
            <a:avLst/>
          </a:prstGeom>
          <a:ln cap="flat" w="9525">
            <a:solidFill>
              <a:srgbClr val="55555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9334500" y="2095500"/>
            <a:ext cx="8191500" cy="6858000"/>
            <a:chOff x="0" y="0"/>
            <a:chExt cx="10922000" cy="9144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22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22000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43000" y="2476500"/>
            <a:ext cx="7429500" cy="3048000"/>
            <a:chOff x="0" y="0"/>
            <a:chExt cx="9906000" cy="4064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906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0A0A0A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906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3" id="73"/>
          <p:cNvSpPr/>
          <p:nvPr/>
        </p:nvSpPr>
        <p:spPr>
          <a:xfrm>
            <a:off x="1143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>
            <a:off x="1905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2667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3429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4191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4953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5715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6477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7239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8001000" y="2476500"/>
            <a:ext cx="0" cy="304800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1143000" y="2476500"/>
            <a:ext cx="7429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1143000" y="3238500"/>
            <a:ext cx="7429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>
            <a:off x="1143000" y="4000500"/>
            <a:ext cx="7429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1143000" y="4762500"/>
            <a:ext cx="7429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1143000" y="5524500"/>
            <a:ext cx="7429500" cy="0"/>
          </a:xfrm>
          <a:prstGeom prst="line">
            <a:avLst/>
          </a:prstGeom>
          <a:ln cap="flat" w="9525">
            <a:solidFill>
              <a:srgbClr val="555555">
                <a:alpha val="2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1524000" y="2667000"/>
            <a:ext cx="0" cy="2667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2857500" y="2667000"/>
            <a:ext cx="0" cy="2667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4191000" y="2667000"/>
            <a:ext cx="0" cy="2667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5524500" y="2667000"/>
            <a:ext cx="0" cy="2667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6858000" y="2667000"/>
            <a:ext cx="0" cy="2667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>
            <a:off x="8191500" y="2667000"/>
            <a:ext cx="0" cy="2667000"/>
          </a:xfrm>
          <a:prstGeom prst="line">
            <a:avLst/>
          </a:prstGeom>
          <a:ln cap="flat" w="2857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1219200" y="25527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>
            <a:off x="1219200" y="25527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6" id="96"/>
          <p:cNvGrpSpPr/>
          <p:nvPr/>
        </p:nvGrpSpPr>
        <p:grpSpPr>
          <a:xfrm rot="0">
            <a:off x="9715500" y="2476500"/>
            <a:ext cx="7429500" cy="3048000"/>
            <a:chOff x="0" y="0"/>
            <a:chExt cx="9906000" cy="4064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906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0A0A0A"/>
            </a:solidFill>
            <a:ln cap="sq">
              <a:noFill/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9906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9" id="99"/>
          <p:cNvSpPr/>
          <p:nvPr/>
        </p:nvSpPr>
        <p:spPr>
          <a:xfrm>
            <a:off x="9715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>
            <a:off x="10477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>
            <a:off x="11239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>
            <a:off x="12001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>
            <a:off x="12763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>
            <a:off x="13525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>
            <a:off x="14287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>
            <a:off x="15049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>
            <a:off x="15811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>
            <a:off x="16573500" y="2476500"/>
            <a:ext cx="0" cy="304800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9" id="109"/>
          <p:cNvSpPr/>
          <p:nvPr/>
        </p:nvSpPr>
        <p:spPr>
          <a:xfrm>
            <a:off x="9715500" y="2476500"/>
            <a:ext cx="7429500" cy="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>
            <a:off x="9715500" y="3238500"/>
            <a:ext cx="7429500" cy="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>
            <a:off x="9715500" y="4000500"/>
            <a:ext cx="7429500" cy="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>
            <a:off x="9715500" y="4762500"/>
            <a:ext cx="7429500" cy="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>
            <a:off x="9715500" y="5524500"/>
            <a:ext cx="7429500" cy="0"/>
          </a:xfrm>
          <a:prstGeom prst="line">
            <a:avLst/>
          </a:prstGeom>
          <a:ln cap="flat" w="9525">
            <a:solidFill>
              <a:srgbClr val="FFFFFF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4" id="114"/>
          <p:cNvGrpSpPr/>
          <p:nvPr/>
        </p:nvGrpSpPr>
        <p:grpSpPr>
          <a:xfrm rot="0">
            <a:off x="10096500" y="2857500"/>
            <a:ext cx="6667500" cy="571500"/>
            <a:chOff x="0" y="0"/>
            <a:chExt cx="8890000" cy="7620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89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889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0096500" y="3524250"/>
            <a:ext cx="6667500" cy="571500"/>
            <a:chOff x="0" y="0"/>
            <a:chExt cx="8890000" cy="7620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89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889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096500" y="4191000"/>
            <a:ext cx="6667500" cy="571500"/>
            <a:chOff x="0" y="0"/>
            <a:chExt cx="8890000" cy="7620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89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889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096500" y="4857750"/>
            <a:ext cx="6667500" cy="571500"/>
            <a:chOff x="0" y="0"/>
            <a:chExt cx="8890000" cy="7620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89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8890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6" id="126"/>
          <p:cNvSpPr/>
          <p:nvPr/>
        </p:nvSpPr>
        <p:spPr>
          <a:xfrm>
            <a:off x="9791700" y="2552700"/>
            <a:ext cx="2095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7" id="127"/>
          <p:cNvSpPr/>
          <p:nvPr/>
        </p:nvSpPr>
        <p:spPr>
          <a:xfrm>
            <a:off x="9791700" y="2552700"/>
            <a:ext cx="0" cy="2095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8" id="128"/>
          <p:cNvSpPr txBox="true"/>
          <p:nvPr/>
        </p:nvSpPr>
        <p:spPr>
          <a:xfrm rot="0">
            <a:off x="1143000" y="5791200"/>
            <a:ext cx="2857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67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CHALLENGE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143000" y="6134100"/>
            <a:ext cx="7429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Uneven substrate.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143000" y="6667500"/>
            <a:ext cx="7429500" cy="47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275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Original ribbed skin creates a discontinuous mounting surface — full-perimeter lining plate must span factory undulations without oil-canning or losing weld access to the corner posts.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715500" y="57912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67" b="true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METAL WORX SOLUTION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9715500" y="6134100"/>
            <a:ext cx="7429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Furring, plate, seam-weld.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9715500" y="6667500"/>
            <a:ext cx="7429500" cy="47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275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Fabricated furring strips index off the wall supports to build a true plane. 14-ga plate is fitted, stitch-welded, then continuous-seamed and ground flush — a monolithic interior ready for coating.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9715500" y="8315325"/>
            <a:ext cx="74295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330" b="true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CRAFTSMANSHIP CALLOUT  ·  Continuous seam · zero oil-can · coating-ready</a:t>
            </a:r>
          </a:p>
        </p:txBody>
      </p:sp>
      <p:sp>
        <p:nvSpPr>
          <p:cNvPr name="AutoShape 135" id="135"/>
          <p:cNvSpPr/>
          <p:nvPr/>
        </p:nvSpPr>
        <p:spPr>
          <a:xfrm>
            <a:off x="9715500" y="8191500"/>
            <a:ext cx="74295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6" id="136"/>
          <p:cNvSpPr/>
          <p:nvPr/>
        </p:nvSpPr>
        <p:spPr>
          <a:xfrm>
            <a:off x="762000" y="9677400"/>
            <a:ext cx="16764000" cy="0"/>
          </a:xfrm>
          <a:prstGeom prst="line">
            <a:avLst/>
          </a:prstGeom>
          <a:ln cap="flat" w="9525">
            <a:solidFill>
              <a:srgbClr val="DDDD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7" id="137"/>
          <p:cNvSpPr txBox="true"/>
          <p:nvPr/>
        </p:nvSpPr>
        <p:spPr>
          <a:xfrm rot="0">
            <a:off x="762000" y="98107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 b="true">
                <a:solidFill>
                  <a:srgbClr val="555555"/>
                </a:solidFill>
                <a:latin typeface="Oswald Bold"/>
                <a:ea typeface="Oswald Bold"/>
                <a:cs typeface="Oswald Bold"/>
                <a:sym typeface="Oswald Bold"/>
              </a:rPr>
              <a:t>METAL WORX, INC.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4762500" y="9829800"/>
            <a:ext cx="762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359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PHASE 4 — INTERIOR STEEL LINING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5811500" y="9829800"/>
            <a:ext cx="1714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900" spc="359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828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762000" y="7334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TECHNICAL  ·  FABRICATION DETAILS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2000" y="1152525"/>
            <a:ext cx="142875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44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Where the welds do the talking.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62000" y="2667000"/>
            <a:ext cx="10668000" cy="5905500"/>
            <a:chOff x="0" y="0"/>
            <a:chExt cx="14224000" cy="7874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22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422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762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1524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2286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3048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3810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4572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334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6096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6858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7620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8382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9144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9906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0668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1430000" y="2667000"/>
            <a:ext cx="0" cy="590550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762000" y="2667000"/>
            <a:ext cx="10668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762000" y="3429000"/>
            <a:ext cx="10668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762000" y="4191000"/>
            <a:ext cx="10668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762000" y="4953000"/>
            <a:ext cx="10668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762000" y="5715000"/>
            <a:ext cx="10668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762000" y="6477000"/>
            <a:ext cx="10668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762000" y="7239000"/>
            <a:ext cx="10668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>
            <a:off x="762000" y="8001000"/>
            <a:ext cx="10668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3429000" y="4381500"/>
            <a:ext cx="5334000" cy="571500"/>
            <a:chOff x="0" y="0"/>
            <a:chExt cx="7112000" cy="762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1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A3A3A"/>
            </a:solidFill>
            <a:ln w="19050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11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715000" y="4953000"/>
            <a:ext cx="571500" cy="2476500"/>
            <a:chOff x="0" y="0"/>
            <a:chExt cx="762000" cy="3302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3A3A3A"/>
            </a:solidFill>
            <a:ln w="19050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6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143500" y="4762500"/>
            <a:ext cx="1714500" cy="571500"/>
            <a:chOff x="0" y="0"/>
            <a:chExt cx="2286000" cy="762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86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286000">
                  <a:moveTo>
                    <a:pt x="0" y="762000"/>
                  </a:moveTo>
                  <a:lnTo>
                    <a:pt x="1143000" y="0"/>
                  </a:lnTo>
                  <a:lnTo>
                    <a:pt x="2286000" y="762000"/>
                  </a:lnTo>
                  <a:close/>
                </a:path>
              </a:pathLst>
            </a:custGeom>
            <a:solidFill>
              <a:srgbClr val="4A4A4A"/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286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143500" y="4905375"/>
            <a:ext cx="1714500" cy="38100"/>
            <a:chOff x="0" y="0"/>
            <a:chExt cx="2286000" cy="50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86000" cy="50800"/>
            </a:xfrm>
            <a:custGeom>
              <a:avLst/>
              <a:gdLst/>
              <a:ahLst/>
              <a:cxnLst/>
              <a:rect r="r" b="b" t="t" l="l"/>
              <a:pathLst>
                <a:path h="508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B347"/>
            </a:solid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28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1" id="81"/>
          <p:cNvSpPr/>
          <p:nvPr/>
        </p:nvSpPr>
        <p:spPr>
          <a:xfrm flipV="true">
            <a:off x="6096000" y="3810000"/>
            <a:ext cx="3048000" cy="1238250"/>
          </a:xfrm>
          <a:prstGeom prst="line">
            <a:avLst/>
          </a:prstGeom>
          <a:ln cap="flat" w="9525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2" id="82"/>
          <p:cNvGrpSpPr/>
          <p:nvPr/>
        </p:nvGrpSpPr>
        <p:grpSpPr>
          <a:xfrm rot="0">
            <a:off x="6057900" y="5010150"/>
            <a:ext cx="76200" cy="76200"/>
            <a:chOff x="0" y="0"/>
            <a:chExt cx="101600" cy="101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cubicBezTo>
                    <a:pt x="101600" y="78856"/>
                    <a:pt x="78856" y="101600"/>
                    <a:pt x="50800" y="101600"/>
                  </a:cubicBez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5" id="85"/>
          <p:cNvSpPr/>
          <p:nvPr/>
        </p:nvSpPr>
        <p:spPr>
          <a:xfrm flipH="true">
            <a:off x="3429000" y="6477000"/>
            <a:ext cx="2476500" cy="1143000"/>
          </a:xfrm>
          <a:prstGeom prst="line">
            <a:avLst/>
          </a:prstGeom>
          <a:ln cap="flat" w="9525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6" id="86"/>
          <p:cNvGrpSpPr/>
          <p:nvPr/>
        </p:nvGrpSpPr>
        <p:grpSpPr>
          <a:xfrm rot="0">
            <a:off x="5867400" y="6438900"/>
            <a:ext cx="76200" cy="76200"/>
            <a:chOff x="0" y="0"/>
            <a:chExt cx="101600" cy="101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78856" y="0"/>
                    <a:pt x="101600" y="22744"/>
                    <a:pt x="101600" y="50800"/>
                  </a:cubicBezTo>
                  <a:cubicBezTo>
                    <a:pt x="101600" y="78856"/>
                    <a:pt x="78856" y="101600"/>
                    <a:pt x="50800" y="101600"/>
                  </a:cubicBez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9" id="89"/>
          <p:cNvSpPr/>
          <p:nvPr/>
        </p:nvSpPr>
        <p:spPr>
          <a:xfrm>
            <a:off x="838200" y="27432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838200" y="27432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1" id="91"/>
          <p:cNvSpPr txBox="true"/>
          <p:nvPr/>
        </p:nvSpPr>
        <p:spPr>
          <a:xfrm rot="0">
            <a:off x="9144000" y="3524250"/>
            <a:ext cx="285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A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429750" y="3571875"/>
            <a:ext cx="2286000" cy="14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975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Fillet weld — 1/4" leg, all-around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048000" y="7505700"/>
            <a:ext cx="285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B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047750" y="7553325"/>
            <a:ext cx="2286000" cy="14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7"/>
              </a:lnSpc>
            </a:pPr>
            <a:r>
              <a:rPr lang="en-US" sz="975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Bracket — A36, 1/4" plate, laser-cut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1811000" y="2667000"/>
            <a:ext cx="5715000" cy="2952750"/>
            <a:chOff x="0" y="0"/>
            <a:chExt cx="7620000" cy="3937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620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937000"/>
                  </a:lnTo>
                  <a:lnTo>
                    <a:pt x="0" y="3937000"/>
                  </a:ln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620000" cy="397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8" id="98"/>
          <p:cNvSpPr/>
          <p:nvPr/>
        </p:nvSpPr>
        <p:spPr>
          <a:xfrm>
            <a:off x="11811000" y="266700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>
            <a:off x="12573000" y="266700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>
            <a:off x="13335000" y="266700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>
            <a:off x="14097000" y="266700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>
            <a:off x="14859000" y="266700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>
            <a:off x="15621000" y="266700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>
            <a:off x="16383000" y="266700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>
            <a:off x="17145000" y="266700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>
            <a:off x="11811000" y="2667000"/>
            <a:ext cx="5715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>
            <a:off x="11811000" y="3429000"/>
            <a:ext cx="5715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>
            <a:off x="11811000" y="4191000"/>
            <a:ext cx="5715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9" id="109"/>
          <p:cNvSpPr/>
          <p:nvPr/>
        </p:nvSpPr>
        <p:spPr>
          <a:xfrm>
            <a:off x="11811000" y="4953000"/>
            <a:ext cx="5715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>
            <a:off x="11887200" y="27432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>
            <a:off x="11887200" y="27432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11811000" y="5810250"/>
            <a:ext cx="5715000" cy="2952750"/>
            <a:chOff x="0" y="0"/>
            <a:chExt cx="7620000" cy="39370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620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937000"/>
                  </a:lnTo>
                  <a:lnTo>
                    <a:pt x="0" y="3937000"/>
                  </a:ln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7620000" cy="397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5" id="115"/>
          <p:cNvSpPr/>
          <p:nvPr/>
        </p:nvSpPr>
        <p:spPr>
          <a:xfrm>
            <a:off x="11811000" y="581025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>
            <a:off x="12573000" y="581025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7" id="117"/>
          <p:cNvSpPr/>
          <p:nvPr/>
        </p:nvSpPr>
        <p:spPr>
          <a:xfrm>
            <a:off x="13335000" y="581025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8" id="118"/>
          <p:cNvSpPr/>
          <p:nvPr/>
        </p:nvSpPr>
        <p:spPr>
          <a:xfrm>
            <a:off x="14097000" y="581025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9" id="119"/>
          <p:cNvSpPr/>
          <p:nvPr/>
        </p:nvSpPr>
        <p:spPr>
          <a:xfrm>
            <a:off x="14859000" y="581025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0" id="120"/>
          <p:cNvSpPr/>
          <p:nvPr/>
        </p:nvSpPr>
        <p:spPr>
          <a:xfrm>
            <a:off x="15621000" y="581025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1" id="121"/>
          <p:cNvSpPr/>
          <p:nvPr/>
        </p:nvSpPr>
        <p:spPr>
          <a:xfrm>
            <a:off x="16383000" y="581025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2" id="122"/>
          <p:cNvSpPr/>
          <p:nvPr/>
        </p:nvSpPr>
        <p:spPr>
          <a:xfrm>
            <a:off x="17145000" y="5810250"/>
            <a:ext cx="0" cy="295275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3" id="123"/>
          <p:cNvSpPr/>
          <p:nvPr/>
        </p:nvSpPr>
        <p:spPr>
          <a:xfrm>
            <a:off x="11811000" y="5810250"/>
            <a:ext cx="5715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4" id="124"/>
          <p:cNvSpPr/>
          <p:nvPr/>
        </p:nvSpPr>
        <p:spPr>
          <a:xfrm>
            <a:off x="11811000" y="6572250"/>
            <a:ext cx="5715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5" id="125"/>
          <p:cNvSpPr/>
          <p:nvPr/>
        </p:nvSpPr>
        <p:spPr>
          <a:xfrm>
            <a:off x="11811000" y="7334250"/>
            <a:ext cx="5715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6" id="126"/>
          <p:cNvSpPr/>
          <p:nvPr/>
        </p:nvSpPr>
        <p:spPr>
          <a:xfrm>
            <a:off x="11811000" y="8096250"/>
            <a:ext cx="5715000" cy="0"/>
          </a:xfrm>
          <a:prstGeom prst="line">
            <a:avLst/>
          </a:prstGeom>
          <a:ln cap="flat" w="9525">
            <a:solidFill>
              <a:srgbClr val="555555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7" id="127"/>
          <p:cNvSpPr/>
          <p:nvPr/>
        </p:nvSpPr>
        <p:spPr>
          <a:xfrm>
            <a:off x="11887200" y="588645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8" id="128"/>
          <p:cNvSpPr/>
          <p:nvPr/>
        </p:nvSpPr>
        <p:spPr>
          <a:xfrm>
            <a:off x="11887200" y="588645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9" id="129"/>
          <p:cNvGrpSpPr/>
          <p:nvPr/>
        </p:nvGrpSpPr>
        <p:grpSpPr>
          <a:xfrm rot="0">
            <a:off x="12573000" y="3810000"/>
            <a:ext cx="4191000" cy="762000"/>
            <a:chOff x="0" y="0"/>
            <a:chExt cx="5588000" cy="10160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588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3A3A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5588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3906500" y="4572000"/>
            <a:ext cx="1524000" cy="381000"/>
            <a:chOff x="0" y="0"/>
            <a:chExt cx="2032000" cy="5080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032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032000">
                  <a:moveTo>
                    <a:pt x="0" y="0"/>
                  </a:moveTo>
                  <a:lnTo>
                    <a:pt x="2032000" y="0"/>
                  </a:lnTo>
                  <a:lnTo>
                    <a:pt x="2032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4A4A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2032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35" id="135"/>
          <p:cNvSpPr/>
          <p:nvPr/>
        </p:nvSpPr>
        <p:spPr>
          <a:xfrm>
            <a:off x="12954000" y="6572250"/>
            <a:ext cx="0" cy="1619250"/>
          </a:xfrm>
          <a:prstGeom prst="line">
            <a:avLst/>
          </a:prstGeom>
          <a:ln cap="flat" w="57150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6" id="136"/>
          <p:cNvSpPr/>
          <p:nvPr/>
        </p:nvSpPr>
        <p:spPr>
          <a:xfrm>
            <a:off x="13716000" y="6572250"/>
            <a:ext cx="0" cy="1619250"/>
          </a:xfrm>
          <a:prstGeom prst="line">
            <a:avLst/>
          </a:prstGeom>
          <a:ln cap="flat" w="57150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7" id="137"/>
          <p:cNvSpPr/>
          <p:nvPr/>
        </p:nvSpPr>
        <p:spPr>
          <a:xfrm>
            <a:off x="14478000" y="6572250"/>
            <a:ext cx="0" cy="1619250"/>
          </a:xfrm>
          <a:prstGeom prst="line">
            <a:avLst/>
          </a:prstGeom>
          <a:ln cap="flat" w="57150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8" id="138"/>
          <p:cNvSpPr/>
          <p:nvPr/>
        </p:nvSpPr>
        <p:spPr>
          <a:xfrm>
            <a:off x="15240000" y="6572250"/>
            <a:ext cx="0" cy="1619250"/>
          </a:xfrm>
          <a:prstGeom prst="line">
            <a:avLst/>
          </a:prstGeom>
          <a:ln cap="flat" w="57150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9" id="139"/>
          <p:cNvSpPr/>
          <p:nvPr/>
        </p:nvSpPr>
        <p:spPr>
          <a:xfrm>
            <a:off x="16002000" y="6572250"/>
            <a:ext cx="0" cy="1619250"/>
          </a:xfrm>
          <a:prstGeom prst="line">
            <a:avLst/>
          </a:prstGeom>
          <a:ln cap="flat" w="57150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0" id="140"/>
          <p:cNvSpPr/>
          <p:nvPr/>
        </p:nvSpPr>
        <p:spPr>
          <a:xfrm>
            <a:off x="12763500" y="7143750"/>
            <a:ext cx="3810000" cy="0"/>
          </a:xfrm>
          <a:prstGeom prst="line">
            <a:avLst/>
          </a:prstGeom>
          <a:ln cap="flat" w="3810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1" id="141"/>
          <p:cNvSpPr txBox="true"/>
          <p:nvPr/>
        </p:nvSpPr>
        <p:spPr>
          <a:xfrm rot="0">
            <a:off x="762000" y="8686800"/>
            <a:ext cx="10668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43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Welded bracket assembly — floor rail to vertical stiffener, gusseted, 1/4" fillet all-around.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1811000" y="5676900"/>
            <a:ext cx="5715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43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Floor system bracket · A36 plate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1811000" y="8820150"/>
            <a:ext cx="5715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243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Wall reinforcement · paired stiffener + header</a:t>
            </a:r>
          </a:p>
        </p:txBody>
      </p:sp>
      <p:sp>
        <p:nvSpPr>
          <p:cNvPr name="AutoShape 144" id="144"/>
          <p:cNvSpPr/>
          <p:nvPr/>
        </p:nvSpPr>
        <p:spPr>
          <a:xfrm>
            <a:off x="762000" y="9677400"/>
            <a:ext cx="167640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5" id="145"/>
          <p:cNvSpPr txBox="true"/>
          <p:nvPr/>
        </p:nvSpPr>
        <p:spPr>
          <a:xfrm rot="0">
            <a:off x="762000" y="98107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 b="true">
                <a:solidFill>
                  <a:srgbClr val="C0C0C0"/>
                </a:solidFill>
                <a:latin typeface="Oswald Bold"/>
                <a:ea typeface="Oswald Bold"/>
                <a:cs typeface="Oswald Bold"/>
                <a:sym typeface="Oswald Bold"/>
              </a:rPr>
              <a:t>METAL WORX, INC.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4762500" y="9829800"/>
            <a:ext cx="762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359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FABRICATION DETAILS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5811500" y="9829800"/>
            <a:ext cx="1714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900" spc="359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8288000" y="0"/>
            <a:ext cx="0" cy="1028700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EEEEEE">
                <a:alpha val="5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762000" y="5429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SECTION 05  ·  MILESTONE SUMMARY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2000" y="800100"/>
            <a:ext cx="15240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Every stage · checked and closed.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62000" y="2286000"/>
            <a:ext cx="4048125" cy="3048000"/>
            <a:chOff x="0" y="0"/>
            <a:chExt cx="5397500" cy="40640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5397500" cy="4064000"/>
              <a:chOff x="0" y="0"/>
              <a:chExt cx="5397500" cy="40640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3975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5397500">
                    <a:moveTo>
                      <a:pt x="0" y="0"/>
                    </a:moveTo>
                    <a:lnTo>
                      <a:pt x="5397500" y="0"/>
                    </a:lnTo>
                    <a:lnTo>
                      <a:pt x="53975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DDDDD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53975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0"/>
              <a:ext cx="76200" cy="4064000"/>
              <a:chOff x="0" y="0"/>
              <a:chExt cx="76200" cy="40640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62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762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4508500" y="355600"/>
              <a:ext cx="533400" cy="673710"/>
              <a:chOff x="0" y="0"/>
              <a:chExt cx="533400" cy="67371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33400" cy="673710"/>
              </a:xfrm>
              <a:custGeom>
                <a:avLst/>
                <a:gdLst/>
                <a:ahLst/>
                <a:cxnLst/>
                <a:rect r="r" b="b" t="t" l="l"/>
                <a:pathLst>
                  <a:path h="673710" w="533400">
                    <a:moveTo>
                      <a:pt x="266700" y="0"/>
                    </a:moveTo>
                    <a:cubicBezTo>
                      <a:pt x="413994" y="0"/>
                      <a:pt x="533400" y="150815"/>
                      <a:pt x="533400" y="336855"/>
                    </a:cubicBezTo>
                    <a:cubicBezTo>
                      <a:pt x="533400" y="522895"/>
                      <a:pt x="413994" y="673710"/>
                      <a:pt x="266700" y="673710"/>
                    </a:cubicBezTo>
                    <a:cubicBezTo>
                      <a:pt x="119406" y="673710"/>
                      <a:pt x="0" y="522895"/>
                      <a:pt x="0" y="336855"/>
                    </a:cubicBezTo>
                    <a:cubicBezTo>
                      <a:pt x="0" y="150815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533400" cy="711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✓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355600" y="1143000"/>
              <a:ext cx="4686300" cy="1778000"/>
              <a:chOff x="0" y="0"/>
              <a:chExt cx="4686300" cy="17780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6863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4686300">
                    <a:moveTo>
                      <a:pt x="0" y="0"/>
                    </a:moveTo>
                    <a:lnTo>
                      <a:pt x="4686300" y="0"/>
                    </a:lnTo>
                    <a:lnTo>
                      <a:pt x="46863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A1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46863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56" id="56"/>
            <p:cNvSpPr/>
            <p:nvPr/>
          </p:nvSpPr>
          <p:spPr>
            <a:xfrm>
              <a:off x="7620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>
              <a:off x="173037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>
              <a:off x="269875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366712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>
              <a:off x="46355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5000625" y="2286000"/>
            <a:ext cx="4048125" cy="3048000"/>
            <a:chOff x="0" y="0"/>
            <a:chExt cx="5397500" cy="406400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5397500" cy="4064000"/>
              <a:chOff x="0" y="0"/>
              <a:chExt cx="5397500" cy="40640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53975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5397500">
                    <a:moveTo>
                      <a:pt x="0" y="0"/>
                    </a:moveTo>
                    <a:lnTo>
                      <a:pt x="5397500" y="0"/>
                    </a:lnTo>
                    <a:lnTo>
                      <a:pt x="53975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DDDDD"/>
                </a:solidFill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53975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0" y="0"/>
              <a:ext cx="76200" cy="4064000"/>
              <a:chOff x="0" y="0"/>
              <a:chExt cx="76200" cy="40640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762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762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4508500" y="355600"/>
              <a:ext cx="533400" cy="673710"/>
              <a:chOff x="0" y="0"/>
              <a:chExt cx="533400" cy="67371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33400" cy="673710"/>
              </a:xfrm>
              <a:custGeom>
                <a:avLst/>
                <a:gdLst/>
                <a:ahLst/>
                <a:cxnLst/>
                <a:rect r="r" b="b" t="t" l="l"/>
                <a:pathLst>
                  <a:path h="673710" w="533400">
                    <a:moveTo>
                      <a:pt x="266700" y="0"/>
                    </a:moveTo>
                    <a:cubicBezTo>
                      <a:pt x="413994" y="0"/>
                      <a:pt x="533400" y="150815"/>
                      <a:pt x="533400" y="336855"/>
                    </a:cubicBezTo>
                    <a:cubicBezTo>
                      <a:pt x="533400" y="522895"/>
                      <a:pt x="413994" y="673710"/>
                      <a:pt x="266700" y="673710"/>
                    </a:cubicBezTo>
                    <a:cubicBezTo>
                      <a:pt x="119406" y="673710"/>
                      <a:pt x="0" y="522895"/>
                      <a:pt x="0" y="336855"/>
                    </a:cubicBezTo>
                    <a:cubicBezTo>
                      <a:pt x="0" y="150815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533400" cy="711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✓</a:t>
                </a: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355600" y="1143000"/>
              <a:ext cx="4686300" cy="1778000"/>
              <a:chOff x="0" y="0"/>
              <a:chExt cx="4686300" cy="17780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46863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4686300">
                    <a:moveTo>
                      <a:pt x="0" y="0"/>
                    </a:moveTo>
                    <a:lnTo>
                      <a:pt x="4686300" y="0"/>
                    </a:lnTo>
                    <a:lnTo>
                      <a:pt x="46863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A1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46863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74" id="74"/>
            <p:cNvSpPr/>
            <p:nvPr/>
          </p:nvSpPr>
          <p:spPr>
            <a:xfrm>
              <a:off x="7620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5" id="75"/>
            <p:cNvSpPr/>
            <p:nvPr/>
          </p:nvSpPr>
          <p:spPr>
            <a:xfrm>
              <a:off x="173037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6" id="76"/>
            <p:cNvSpPr/>
            <p:nvPr/>
          </p:nvSpPr>
          <p:spPr>
            <a:xfrm>
              <a:off x="269875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7" id="77"/>
            <p:cNvSpPr/>
            <p:nvPr/>
          </p:nvSpPr>
          <p:spPr>
            <a:xfrm>
              <a:off x="366712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>
              <a:off x="46355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239250" y="2286000"/>
            <a:ext cx="4048125" cy="3048000"/>
            <a:chOff x="0" y="0"/>
            <a:chExt cx="5397500" cy="4064000"/>
          </a:xfrm>
        </p:grpSpPr>
        <p:grpSp>
          <p:nvGrpSpPr>
            <p:cNvPr name="Group 80" id="80"/>
            <p:cNvGrpSpPr/>
            <p:nvPr/>
          </p:nvGrpSpPr>
          <p:grpSpPr>
            <a:xfrm rot="0">
              <a:off x="0" y="0"/>
              <a:ext cx="5397500" cy="4064000"/>
              <a:chOff x="0" y="0"/>
              <a:chExt cx="5397500" cy="40640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53975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5397500">
                    <a:moveTo>
                      <a:pt x="0" y="0"/>
                    </a:moveTo>
                    <a:lnTo>
                      <a:pt x="5397500" y="0"/>
                    </a:lnTo>
                    <a:lnTo>
                      <a:pt x="53975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DDDDD"/>
                </a:solidFill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53975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0" y="0"/>
              <a:ext cx="76200" cy="4064000"/>
              <a:chOff x="0" y="0"/>
              <a:chExt cx="76200" cy="4064000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762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38100"/>
                <a:ext cx="762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4508500" y="355600"/>
              <a:ext cx="533400" cy="673710"/>
              <a:chOff x="0" y="0"/>
              <a:chExt cx="533400" cy="67371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533400" cy="673710"/>
              </a:xfrm>
              <a:custGeom>
                <a:avLst/>
                <a:gdLst/>
                <a:ahLst/>
                <a:cxnLst/>
                <a:rect r="r" b="b" t="t" l="l"/>
                <a:pathLst>
                  <a:path h="673710" w="533400">
                    <a:moveTo>
                      <a:pt x="266700" y="0"/>
                    </a:moveTo>
                    <a:cubicBezTo>
                      <a:pt x="413994" y="0"/>
                      <a:pt x="533400" y="150815"/>
                      <a:pt x="533400" y="336855"/>
                    </a:cubicBezTo>
                    <a:cubicBezTo>
                      <a:pt x="533400" y="522895"/>
                      <a:pt x="413994" y="673710"/>
                      <a:pt x="266700" y="673710"/>
                    </a:cubicBezTo>
                    <a:cubicBezTo>
                      <a:pt x="119406" y="673710"/>
                      <a:pt x="0" y="522895"/>
                      <a:pt x="0" y="336855"/>
                    </a:cubicBezTo>
                    <a:cubicBezTo>
                      <a:pt x="0" y="150815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38100"/>
                <a:ext cx="533400" cy="711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✓</a:t>
                </a:r>
              </a:p>
            </p:txBody>
          </p:sp>
        </p:grpSp>
        <p:grpSp>
          <p:nvGrpSpPr>
            <p:cNvPr name="Group 89" id="89"/>
            <p:cNvGrpSpPr/>
            <p:nvPr/>
          </p:nvGrpSpPr>
          <p:grpSpPr>
            <a:xfrm rot="0">
              <a:off x="355600" y="1143000"/>
              <a:ext cx="4686300" cy="1778000"/>
              <a:chOff x="0" y="0"/>
              <a:chExt cx="4686300" cy="177800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46863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4686300">
                    <a:moveTo>
                      <a:pt x="0" y="0"/>
                    </a:moveTo>
                    <a:lnTo>
                      <a:pt x="4686300" y="0"/>
                    </a:lnTo>
                    <a:lnTo>
                      <a:pt x="46863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A1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38100"/>
                <a:ext cx="46863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92" id="92"/>
            <p:cNvSpPr/>
            <p:nvPr/>
          </p:nvSpPr>
          <p:spPr>
            <a:xfrm>
              <a:off x="7620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3" id="93"/>
            <p:cNvSpPr/>
            <p:nvPr/>
          </p:nvSpPr>
          <p:spPr>
            <a:xfrm>
              <a:off x="173037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4" id="94"/>
            <p:cNvSpPr/>
            <p:nvPr/>
          </p:nvSpPr>
          <p:spPr>
            <a:xfrm>
              <a:off x="269875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5" id="95"/>
            <p:cNvSpPr/>
            <p:nvPr/>
          </p:nvSpPr>
          <p:spPr>
            <a:xfrm>
              <a:off x="366712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6" id="96"/>
            <p:cNvSpPr/>
            <p:nvPr/>
          </p:nvSpPr>
          <p:spPr>
            <a:xfrm>
              <a:off x="46355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3477875" y="2286000"/>
            <a:ext cx="4048125" cy="3048000"/>
            <a:chOff x="0" y="0"/>
            <a:chExt cx="5397500" cy="4064000"/>
          </a:xfrm>
        </p:grpSpPr>
        <p:grpSp>
          <p:nvGrpSpPr>
            <p:cNvPr name="Group 98" id="98"/>
            <p:cNvGrpSpPr/>
            <p:nvPr/>
          </p:nvGrpSpPr>
          <p:grpSpPr>
            <a:xfrm rot="0">
              <a:off x="0" y="0"/>
              <a:ext cx="5397500" cy="4064000"/>
              <a:chOff x="0" y="0"/>
              <a:chExt cx="5397500" cy="406400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53975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5397500">
                    <a:moveTo>
                      <a:pt x="0" y="0"/>
                    </a:moveTo>
                    <a:lnTo>
                      <a:pt x="5397500" y="0"/>
                    </a:lnTo>
                    <a:lnTo>
                      <a:pt x="53975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DDDDD"/>
                </a:solidFill>
                <a:prstDash val="solid"/>
                <a:miter/>
              </a:ln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38100"/>
                <a:ext cx="53975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0" y="0"/>
              <a:ext cx="76200" cy="4064000"/>
              <a:chOff x="0" y="0"/>
              <a:chExt cx="76200" cy="4064000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762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3" id="103"/>
              <p:cNvSpPr txBox="true"/>
              <p:nvPr/>
            </p:nvSpPr>
            <p:spPr>
              <a:xfrm>
                <a:off x="0" y="-38100"/>
                <a:ext cx="762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4508500" y="355600"/>
              <a:ext cx="533400" cy="673710"/>
              <a:chOff x="0" y="0"/>
              <a:chExt cx="533400" cy="67371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533400" cy="673710"/>
              </a:xfrm>
              <a:custGeom>
                <a:avLst/>
                <a:gdLst/>
                <a:ahLst/>
                <a:cxnLst/>
                <a:rect r="r" b="b" t="t" l="l"/>
                <a:pathLst>
                  <a:path h="673710" w="533400">
                    <a:moveTo>
                      <a:pt x="266700" y="0"/>
                    </a:moveTo>
                    <a:cubicBezTo>
                      <a:pt x="413994" y="0"/>
                      <a:pt x="533400" y="150815"/>
                      <a:pt x="533400" y="336855"/>
                    </a:cubicBezTo>
                    <a:cubicBezTo>
                      <a:pt x="533400" y="522895"/>
                      <a:pt x="413994" y="673710"/>
                      <a:pt x="266700" y="673710"/>
                    </a:cubicBezTo>
                    <a:cubicBezTo>
                      <a:pt x="119406" y="673710"/>
                      <a:pt x="0" y="522895"/>
                      <a:pt x="0" y="336855"/>
                    </a:cubicBezTo>
                    <a:cubicBezTo>
                      <a:pt x="0" y="150815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38100"/>
                <a:ext cx="533400" cy="711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✓</a:t>
                </a: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355600" y="1143000"/>
              <a:ext cx="4686300" cy="1778000"/>
              <a:chOff x="0" y="0"/>
              <a:chExt cx="4686300" cy="17780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46863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4686300">
                    <a:moveTo>
                      <a:pt x="0" y="0"/>
                    </a:moveTo>
                    <a:lnTo>
                      <a:pt x="4686300" y="0"/>
                    </a:lnTo>
                    <a:lnTo>
                      <a:pt x="46863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A1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0" y="-38100"/>
                <a:ext cx="46863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10" id="110"/>
            <p:cNvSpPr/>
            <p:nvPr/>
          </p:nvSpPr>
          <p:spPr>
            <a:xfrm>
              <a:off x="7620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1" id="111"/>
            <p:cNvSpPr/>
            <p:nvPr/>
          </p:nvSpPr>
          <p:spPr>
            <a:xfrm>
              <a:off x="173037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2" id="112"/>
            <p:cNvSpPr/>
            <p:nvPr/>
          </p:nvSpPr>
          <p:spPr>
            <a:xfrm>
              <a:off x="269875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3" id="113"/>
            <p:cNvSpPr/>
            <p:nvPr/>
          </p:nvSpPr>
          <p:spPr>
            <a:xfrm>
              <a:off x="366712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4" id="114"/>
            <p:cNvSpPr/>
            <p:nvPr/>
          </p:nvSpPr>
          <p:spPr>
            <a:xfrm>
              <a:off x="46355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762000" y="5524500"/>
            <a:ext cx="4048125" cy="3048000"/>
            <a:chOff x="0" y="0"/>
            <a:chExt cx="5397500" cy="4064000"/>
          </a:xfrm>
        </p:grpSpPr>
        <p:grpSp>
          <p:nvGrpSpPr>
            <p:cNvPr name="Group 116" id="116"/>
            <p:cNvGrpSpPr/>
            <p:nvPr/>
          </p:nvGrpSpPr>
          <p:grpSpPr>
            <a:xfrm rot="0">
              <a:off x="0" y="0"/>
              <a:ext cx="5397500" cy="4064000"/>
              <a:chOff x="0" y="0"/>
              <a:chExt cx="5397500" cy="4064000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53975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5397500">
                    <a:moveTo>
                      <a:pt x="0" y="0"/>
                    </a:moveTo>
                    <a:lnTo>
                      <a:pt x="5397500" y="0"/>
                    </a:lnTo>
                    <a:lnTo>
                      <a:pt x="53975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DDDDD"/>
                </a:solidFill>
                <a:prstDash val="solid"/>
                <a:miter/>
              </a:ln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38100"/>
                <a:ext cx="53975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0" y="0"/>
              <a:ext cx="76200" cy="4064000"/>
              <a:chOff x="0" y="0"/>
              <a:chExt cx="76200" cy="4064000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762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0" y="-38100"/>
                <a:ext cx="762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4508500" y="355600"/>
              <a:ext cx="533400" cy="673710"/>
              <a:chOff x="0" y="0"/>
              <a:chExt cx="533400" cy="673710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533400" cy="673710"/>
              </a:xfrm>
              <a:custGeom>
                <a:avLst/>
                <a:gdLst/>
                <a:ahLst/>
                <a:cxnLst/>
                <a:rect r="r" b="b" t="t" l="l"/>
                <a:pathLst>
                  <a:path h="673710" w="533400">
                    <a:moveTo>
                      <a:pt x="266700" y="0"/>
                    </a:moveTo>
                    <a:cubicBezTo>
                      <a:pt x="413994" y="0"/>
                      <a:pt x="533400" y="150815"/>
                      <a:pt x="533400" y="336855"/>
                    </a:cubicBezTo>
                    <a:cubicBezTo>
                      <a:pt x="533400" y="522895"/>
                      <a:pt x="413994" y="673710"/>
                      <a:pt x="266700" y="673710"/>
                    </a:cubicBezTo>
                    <a:cubicBezTo>
                      <a:pt x="119406" y="673710"/>
                      <a:pt x="0" y="522895"/>
                      <a:pt x="0" y="336855"/>
                    </a:cubicBezTo>
                    <a:cubicBezTo>
                      <a:pt x="0" y="150815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38100"/>
                <a:ext cx="533400" cy="711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✓</a:t>
                </a:r>
              </a:p>
            </p:txBody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355600" y="1143000"/>
              <a:ext cx="4686300" cy="1778000"/>
              <a:chOff x="0" y="0"/>
              <a:chExt cx="4686300" cy="1778000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46863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4686300">
                    <a:moveTo>
                      <a:pt x="0" y="0"/>
                    </a:moveTo>
                    <a:lnTo>
                      <a:pt x="4686300" y="0"/>
                    </a:lnTo>
                    <a:lnTo>
                      <a:pt x="46863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A1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0" y="-38100"/>
                <a:ext cx="46863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28" id="128"/>
            <p:cNvSpPr/>
            <p:nvPr/>
          </p:nvSpPr>
          <p:spPr>
            <a:xfrm>
              <a:off x="7620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9" id="129"/>
            <p:cNvSpPr/>
            <p:nvPr/>
          </p:nvSpPr>
          <p:spPr>
            <a:xfrm>
              <a:off x="173037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0" id="130"/>
            <p:cNvSpPr/>
            <p:nvPr/>
          </p:nvSpPr>
          <p:spPr>
            <a:xfrm>
              <a:off x="269875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1" id="131"/>
            <p:cNvSpPr/>
            <p:nvPr/>
          </p:nvSpPr>
          <p:spPr>
            <a:xfrm>
              <a:off x="366712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2" id="132"/>
            <p:cNvSpPr/>
            <p:nvPr/>
          </p:nvSpPr>
          <p:spPr>
            <a:xfrm>
              <a:off x="46355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5000625" y="5524500"/>
            <a:ext cx="4048125" cy="3048000"/>
            <a:chOff x="0" y="0"/>
            <a:chExt cx="5397500" cy="4064000"/>
          </a:xfrm>
        </p:grpSpPr>
        <p:grpSp>
          <p:nvGrpSpPr>
            <p:cNvPr name="Group 134" id="134"/>
            <p:cNvGrpSpPr/>
            <p:nvPr/>
          </p:nvGrpSpPr>
          <p:grpSpPr>
            <a:xfrm rot="0">
              <a:off x="0" y="0"/>
              <a:ext cx="5397500" cy="4064000"/>
              <a:chOff x="0" y="0"/>
              <a:chExt cx="5397500" cy="4064000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53975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5397500">
                    <a:moveTo>
                      <a:pt x="0" y="0"/>
                    </a:moveTo>
                    <a:lnTo>
                      <a:pt x="5397500" y="0"/>
                    </a:lnTo>
                    <a:lnTo>
                      <a:pt x="53975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DDDDD"/>
                </a:solidFill>
                <a:prstDash val="solid"/>
                <a:miter/>
              </a:ln>
            </p:spPr>
          </p:sp>
          <p:sp>
            <p:nvSpPr>
              <p:cNvPr name="TextBox 136" id="136"/>
              <p:cNvSpPr txBox="true"/>
              <p:nvPr/>
            </p:nvSpPr>
            <p:spPr>
              <a:xfrm>
                <a:off x="0" y="-38100"/>
                <a:ext cx="53975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7" id="137"/>
            <p:cNvGrpSpPr/>
            <p:nvPr/>
          </p:nvGrpSpPr>
          <p:grpSpPr>
            <a:xfrm rot="0">
              <a:off x="0" y="0"/>
              <a:ext cx="76200" cy="4064000"/>
              <a:chOff x="0" y="0"/>
              <a:chExt cx="76200" cy="4064000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762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9" id="139"/>
              <p:cNvSpPr txBox="true"/>
              <p:nvPr/>
            </p:nvSpPr>
            <p:spPr>
              <a:xfrm>
                <a:off x="0" y="-38100"/>
                <a:ext cx="762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4508500" y="355600"/>
              <a:ext cx="533400" cy="673710"/>
              <a:chOff x="0" y="0"/>
              <a:chExt cx="533400" cy="673710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533400" cy="673710"/>
              </a:xfrm>
              <a:custGeom>
                <a:avLst/>
                <a:gdLst/>
                <a:ahLst/>
                <a:cxnLst/>
                <a:rect r="r" b="b" t="t" l="l"/>
                <a:pathLst>
                  <a:path h="673710" w="533400">
                    <a:moveTo>
                      <a:pt x="266700" y="0"/>
                    </a:moveTo>
                    <a:cubicBezTo>
                      <a:pt x="413994" y="0"/>
                      <a:pt x="533400" y="150815"/>
                      <a:pt x="533400" y="336855"/>
                    </a:cubicBezTo>
                    <a:cubicBezTo>
                      <a:pt x="533400" y="522895"/>
                      <a:pt x="413994" y="673710"/>
                      <a:pt x="266700" y="673710"/>
                    </a:cubicBezTo>
                    <a:cubicBezTo>
                      <a:pt x="119406" y="673710"/>
                      <a:pt x="0" y="522895"/>
                      <a:pt x="0" y="336855"/>
                    </a:cubicBezTo>
                    <a:cubicBezTo>
                      <a:pt x="0" y="150815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2" id="142"/>
              <p:cNvSpPr txBox="true"/>
              <p:nvPr/>
            </p:nvSpPr>
            <p:spPr>
              <a:xfrm>
                <a:off x="0" y="-38100"/>
                <a:ext cx="533400" cy="711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✓</a:t>
                </a:r>
              </a:p>
            </p:txBody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355600" y="1143000"/>
              <a:ext cx="4686300" cy="1778000"/>
              <a:chOff x="0" y="0"/>
              <a:chExt cx="4686300" cy="1778000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46863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4686300">
                    <a:moveTo>
                      <a:pt x="0" y="0"/>
                    </a:moveTo>
                    <a:lnTo>
                      <a:pt x="4686300" y="0"/>
                    </a:lnTo>
                    <a:lnTo>
                      <a:pt x="46863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A1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0" y="-38100"/>
                <a:ext cx="46863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46" id="146"/>
            <p:cNvSpPr/>
            <p:nvPr/>
          </p:nvSpPr>
          <p:spPr>
            <a:xfrm>
              <a:off x="7620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7" id="147"/>
            <p:cNvSpPr/>
            <p:nvPr/>
          </p:nvSpPr>
          <p:spPr>
            <a:xfrm>
              <a:off x="173037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8" id="148"/>
            <p:cNvSpPr/>
            <p:nvPr/>
          </p:nvSpPr>
          <p:spPr>
            <a:xfrm>
              <a:off x="269875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9" id="149"/>
            <p:cNvSpPr/>
            <p:nvPr/>
          </p:nvSpPr>
          <p:spPr>
            <a:xfrm>
              <a:off x="366712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0" id="150"/>
            <p:cNvSpPr/>
            <p:nvPr/>
          </p:nvSpPr>
          <p:spPr>
            <a:xfrm>
              <a:off x="46355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9239250" y="5524500"/>
            <a:ext cx="4048125" cy="3048000"/>
            <a:chOff x="0" y="0"/>
            <a:chExt cx="5397500" cy="4064000"/>
          </a:xfrm>
        </p:grpSpPr>
        <p:grpSp>
          <p:nvGrpSpPr>
            <p:cNvPr name="Group 152" id="152"/>
            <p:cNvGrpSpPr/>
            <p:nvPr/>
          </p:nvGrpSpPr>
          <p:grpSpPr>
            <a:xfrm rot="0">
              <a:off x="0" y="0"/>
              <a:ext cx="5397500" cy="4064000"/>
              <a:chOff x="0" y="0"/>
              <a:chExt cx="5397500" cy="4064000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53975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5397500">
                    <a:moveTo>
                      <a:pt x="0" y="0"/>
                    </a:moveTo>
                    <a:lnTo>
                      <a:pt x="5397500" y="0"/>
                    </a:lnTo>
                    <a:lnTo>
                      <a:pt x="53975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DDDDD"/>
                </a:solidFill>
                <a:prstDash val="solid"/>
                <a:miter/>
              </a:ln>
            </p:spPr>
          </p:sp>
          <p:sp>
            <p:nvSpPr>
              <p:cNvPr name="TextBox 154" id="154"/>
              <p:cNvSpPr txBox="true"/>
              <p:nvPr/>
            </p:nvSpPr>
            <p:spPr>
              <a:xfrm>
                <a:off x="0" y="-38100"/>
                <a:ext cx="53975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5" id="155"/>
            <p:cNvGrpSpPr/>
            <p:nvPr/>
          </p:nvGrpSpPr>
          <p:grpSpPr>
            <a:xfrm rot="0">
              <a:off x="0" y="0"/>
              <a:ext cx="76200" cy="4064000"/>
              <a:chOff x="0" y="0"/>
              <a:chExt cx="76200" cy="4064000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0" y="0"/>
                <a:ext cx="762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7" id="157"/>
              <p:cNvSpPr txBox="true"/>
              <p:nvPr/>
            </p:nvSpPr>
            <p:spPr>
              <a:xfrm>
                <a:off x="0" y="-38100"/>
                <a:ext cx="762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4508500" y="355600"/>
              <a:ext cx="533400" cy="673710"/>
              <a:chOff x="0" y="0"/>
              <a:chExt cx="533400" cy="673710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533400" cy="673710"/>
              </a:xfrm>
              <a:custGeom>
                <a:avLst/>
                <a:gdLst/>
                <a:ahLst/>
                <a:cxnLst/>
                <a:rect r="r" b="b" t="t" l="l"/>
                <a:pathLst>
                  <a:path h="673710" w="533400">
                    <a:moveTo>
                      <a:pt x="266700" y="0"/>
                    </a:moveTo>
                    <a:cubicBezTo>
                      <a:pt x="413994" y="0"/>
                      <a:pt x="533400" y="150815"/>
                      <a:pt x="533400" y="336855"/>
                    </a:cubicBezTo>
                    <a:cubicBezTo>
                      <a:pt x="533400" y="522895"/>
                      <a:pt x="413994" y="673710"/>
                      <a:pt x="266700" y="673710"/>
                    </a:cubicBezTo>
                    <a:cubicBezTo>
                      <a:pt x="119406" y="673710"/>
                      <a:pt x="0" y="522895"/>
                      <a:pt x="0" y="336855"/>
                    </a:cubicBezTo>
                    <a:cubicBezTo>
                      <a:pt x="0" y="150815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0" id="160"/>
              <p:cNvSpPr txBox="true"/>
              <p:nvPr/>
            </p:nvSpPr>
            <p:spPr>
              <a:xfrm>
                <a:off x="0" y="-38100"/>
                <a:ext cx="533400" cy="711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✓</a:t>
                </a:r>
              </a:p>
            </p:txBody>
          </p:sp>
        </p:grpSp>
        <p:grpSp>
          <p:nvGrpSpPr>
            <p:cNvPr name="Group 161" id="161"/>
            <p:cNvGrpSpPr/>
            <p:nvPr/>
          </p:nvGrpSpPr>
          <p:grpSpPr>
            <a:xfrm rot="0">
              <a:off x="355600" y="1143000"/>
              <a:ext cx="4686300" cy="1778000"/>
              <a:chOff x="0" y="0"/>
              <a:chExt cx="4686300" cy="1778000"/>
            </a:xfrm>
          </p:grpSpPr>
          <p:sp>
            <p:nvSpPr>
              <p:cNvPr name="Freeform 162" id="162"/>
              <p:cNvSpPr/>
              <p:nvPr/>
            </p:nvSpPr>
            <p:spPr>
              <a:xfrm flipH="false" flipV="false" rot="0">
                <a:off x="0" y="0"/>
                <a:ext cx="46863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4686300">
                    <a:moveTo>
                      <a:pt x="0" y="0"/>
                    </a:moveTo>
                    <a:lnTo>
                      <a:pt x="4686300" y="0"/>
                    </a:lnTo>
                    <a:lnTo>
                      <a:pt x="46863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A1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3" id="163"/>
              <p:cNvSpPr txBox="true"/>
              <p:nvPr/>
            </p:nvSpPr>
            <p:spPr>
              <a:xfrm>
                <a:off x="0" y="-38100"/>
                <a:ext cx="46863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64" id="164"/>
            <p:cNvSpPr/>
            <p:nvPr/>
          </p:nvSpPr>
          <p:spPr>
            <a:xfrm>
              <a:off x="7620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5" id="165"/>
            <p:cNvSpPr/>
            <p:nvPr/>
          </p:nvSpPr>
          <p:spPr>
            <a:xfrm>
              <a:off x="173037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6" id="166"/>
            <p:cNvSpPr/>
            <p:nvPr/>
          </p:nvSpPr>
          <p:spPr>
            <a:xfrm>
              <a:off x="269875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7" id="167"/>
            <p:cNvSpPr/>
            <p:nvPr/>
          </p:nvSpPr>
          <p:spPr>
            <a:xfrm>
              <a:off x="366712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8" id="168"/>
            <p:cNvSpPr/>
            <p:nvPr/>
          </p:nvSpPr>
          <p:spPr>
            <a:xfrm>
              <a:off x="46355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477875" y="5524500"/>
            <a:ext cx="4048125" cy="3048000"/>
            <a:chOff x="0" y="0"/>
            <a:chExt cx="5397500" cy="4064000"/>
          </a:xfrm>
        </p:grpSpPr>
        <p:grpSp>
          <p:nvGrpSpPr>
            <p:cNvPr name="Group 170" id="170"/>
            <p:cNvGrpSpPr/>
            <p:nvPr/>
          </p:nvGrpSpPr>
          <p:grpSpPr>
            <a:xfrm rot="0">
              <a:off x="0" y="0"/>
              <a:ext cx="5397500" cy="4064000"/>
              <a:chOff x="0" y="0"/>
              <a:chExt cx="5397500" cy="4064000"/>
            </a:xfrm>
          </p:grpSpPr>
          <p:sp>
            <p:nvSpPr>
              <p:cNvPr name="Freeform 171" id="171"/>
              <p:cNvSpPr/>
              <p:nvPr/>
            </p:nvSpPr>
            <p:spPr>
              <a:xfrm flipH="false" flipV="false" rot="0">
                <a:off x="0" y="0"/>
                <a:ext cx="53975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5397500">
                    <a:moveTo>
                      <a:pt x="0" y="0"/>
                    </a:moveTo>
                    <a:lnTo>
                      <a:pt x="5397500" y="0"/>
                    </a:lnTo>
                    <a:lnTo>
                      <a:pt x="53975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DDDDD"/>
                </a:solidFill>
                <a:prstDash val="solid"/>
                <a:miter/>
              </a:ln>
            </p:spPr>
          </p:sp>
          <p:sp>
            <p:nvSpPr>
              <p:cNvPr name="TextBox 172" id="172"/>
              <p:cNvSpPr txBox="true"/>
              <p:nvPr/>
            </p:nvSpPr>
            <p:spPr>
              <a:xfrm>
                <a:off x="0" y="-38100"/>
                <a:ext cx="53975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3" id="173"/>
            <p:cNvGrpSpPr/>
            <p:nvPr/>
          </p:nvGrpSpPr>
          <p:grpSpPr>
            <a:xfrm rot="0">
              <a:off x="0" y="0"/>
              <a:ext cx="76200" cy="4064000"/>
              <a:chOff x="0" y="0"/>
              <a:chExt cx="76200" cy="4064000"/>
            </a:xfrm>
          </p:grpSpPr>
          <p:sp>
            <p:nvSpPr>
              <p:cNvPr name="Freeform 174" id="174"/>
              <p:cNvSpPr/>
              <p:nvPr/>
            </p:nvSpPr>
            <p:spPr>
              <a:xfrm flipH="false" flipV="false" rot="0">
                <a:off x="0" y="0"/>
                <a:ext cx="762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5" id="175"/>
              <p:cNvSpPr txBox="true"/>
              <p:nvPr/>
            </p:nvSpPr>
            <p:spPr>
              <a:xfrm>
                <a:off x="0" y="-38100"/>
                <a:ext cx="762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6" id="176"/>
            <p:cNvGrpSpPr/>
            <p:nvPr/>
          </p:nvGrpSpPr>
          <p:grpSpPr>
            <a:xfrm rot="0">
              <a:off x="4508500" y="355600"/>
              <a:ext cx="533400" cy="673710"/>
              <a:chOff x="0" y="0"/>
              <a:chExt cx="533400" cy="673710"/>
            </a:xfrm>
          </p:grpSpPr>
          <p:sp>
            <p:nvSpPr>
              <p:cNvPr name="Freeform 177" id="177"/>
              <p:cNvSpPr/>
              <p:nvPr/>
            </p:nvSpPr>
            <p:spPr>
              <a:xfrm flipH="false" flipV="false" rot="0">
                <a:off x="0" y="0"/>
                <a:ext cx="533400" cy="673710"/>
              </a:xfrm>
              <a:custGeom>
                <a:avLst/>
                <a:gdLst/>
                <a:ahLst/>
                <a:cxnLst/>
                <a:rect r="r" b="b" t="t" l="l"/>
                <a:pathLst>
                  <a:path h="673710" w="533400">
                    <a:moveTo>
                      <a:pt x="266700" y="0"/>
                    </a:moveTo>
                    <a:cubicBezTo>
                      <a:pt x="413994" y="0"/>
                      <a:pt x="533400" y="150815"/>
                      <a:pt x="533400" y="336855"/>
                    </a:cubicBezTo>
                    <a:cubicBezTo>
                      <a:pt x="533400" y="522895"/>
                      <a:pt x="413994" y="673710"/>
                      <a:pt x="266700" y="673710"/>
                    </a:cubicBezTo>
                    <a:cubicBezTo>
                      <a:pt x="119406" y="673710"/>
                      <a:pt x="0" y="522895"/>
                      <a:pt x="0" y="336855"/>
                    </a:cubicBezTo>
                    <a:cubicBezTo>
                      <a:pt x="0" y="150815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8" id="178"/>
              <p:cNvSpPr txBox="true"/>
              <p:nvPr/>
            </p:nvSpPr>
            <p:spPr>
              <a:xfrm>
                <a:off x="0" y="-38100"/>
                <a:ext cx="533400" cy="7118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✓</a:t>
                </a:r>
              </a:p>
            </p:txBody>
          </p:sp>
        </p:grpSp>
        <p:grpSp>
          <p:nvGrpSpPr>
            <p:cNvPr name="Group 179" id="179"/>
            <p:cNvGrpSpPr/>
            <p:nvPr/>
          </p:nvGrpSpPr>
          <p:grpSpPr>
            <a:xfrm rot="0">
              <a:off x="355600" y="1143000"/>
              <a:ext cx="4686300" cy="1778000"/>
              <a:chOff x="0" y="0"/>
              <a:chExt cx="4686300" cy="1778000"/>
            </a:xfrm>
          </p:grpSpPr>
          <p:sp>
            <p:nvSpPr>
              <p:cNvPr name="Freeform 180" id="180"/>
              <p:cNvSpPr/>
              <p:nvPr/>
            </p:nvSpPr>
            <p:spPr>
              <a:xfrm flipH="false" flipV="false" rot="0">
                <a:off x="0" y="0"/>
                <a:ext cx="46863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4686300">
                    <a:moveTo>
                      <a:pt x="0" y="0"/>
                    </a:moveTo>
                    <a:lnTo>
                      <a:pt x="4686300" y="0"/>
                    </a:lnTo>
                    <a:lnTo>
                      <a:pt x="46863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1A1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1" id="181"/>
              <p:cNvSpPr txBox="true"/>
              <p:nvPr/>
            </p:nvSpPr>
            <p:spPr>
              <a:xfrm>
                <a:off x="0" y="-38100"/>
                <a:ext cx="46863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82" id="182"/>
            <p:cNvSpPr/>
            <p:nvPr/>
          </p:nvSpPr>
          <p:spPr>
            <a:xfrm>
              <a:off x="7620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3" id="183"/>
            <p:cNvSpPr/>
            <p:nvPr/>
          </p:nvSpPr>
          <p:spPr>
            <a:xfrm>
              <a:off x="173037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4" id="184"/>
            <p:cNvSpPr/>
            <p:nvPr/>
          </p:nvSpPr>
          <p:spPr>
            <a:xfrm>
              <a:off x="269875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5" id="185"/>
            <p:cNvSpPr/>
            <p:nvPr/>
          </p:nvSpPr>
          <p:spPr>
            <a:xfrm>
              <a:off x="3667125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6" id="186"/>
            <p:cNvSpPr/>
            <p:nvPr/>
          </p:nvSpPr>
          <p:spPr>
            <a:xfrm>
              <a:off x="4635500" y="1397000"/>
              <a:ext cx="0" cy="1270000"/>
            </a:xfrm>
            <a:prstGeom prst="line">
              <a:avLst/>
            </a:prstGeom>
            <a:ln cap="flat" w="25400">
              <a:solidFill>
                <a:srgbClr val="55555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87" id="187"/>
          <p:cNvSpPr txBox="true"/>
          <p:nvPr/>
        </p:nvSpPr>
        <p:spPr>
          <a:xfrm rot="0">
            <a:off x="990600" y="2505075"/>
            <a:ext cx="95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188" id="188"/>
          <p:cNvSpPr txBox="true"/>
          <p:nvPr/>
        </p:nvSpPr>
        <p:spPr>
          <a:xfrm rot="0">
            <a:off x="1028700" y="4676775"/>
            <a:ext cx="3514725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Arrival and inspection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5229225" y="2505075"/>
            <a:ext cx="95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5267325" y="4676775"/>
            <a:ext cx="3514725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Structural foundation fabricated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9467850" y="2505075"/>
            <a:ext cx="95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9505950" y="4676775"/>
            <a:ext cx="3514725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Wall supports installed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13706475" y="2505075"/>
            <a:ext cx="95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13744575" y="4676775"/>
            <a:ext cx="3514725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Overhead reinforcement finished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990600" y="5743575"/>
            <a:ext cx="95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1028700" y="7915275"/>
            <a:ext cx="3514725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Interior lining completed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5229225" y="5743575"/>
            <a:ext cx="95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5267325" y="7915275"/>
            <a:ext cx="3514725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Test fitting and alignment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9467850" y="5743575"/>
            <a:ext cx="95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07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9505950" y="7915275"/>
            <a:ext cx="3514725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Installation finalized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13706475" y="5743575"/>
            <a:ext cx="95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5121B"/>
                </a:solidFill>
                <a:latin typeface="Oswald Bold"/>
                <a:ea typeface="Oswald Bold"/>
                <a:cs typeface="Oswald Bold"/>
                <a:sym typeface="Oswald Bold"/>
              </a:rPr>
              <a:t>08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13744575" y="7915275"/>
            <a:ext cx="3514725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A1A1A"/>
                </a:solidFill>
                <a:latin typeface="Oswald Bold"/>
                <a:ea typeface="Oswald Bold"/>
                <a:cs typeface="Oswald Bold"/>
                <a:sym typeface="Oswald Bold"/>
              </a:rPr>
              <a:t>Project completed</a:t>
            </a:r>
          </a:p>
        </p:txBody>
      </p:sp>
      <p:sp>
        <p:nvSpPr>
          <p:cNvPr name="AutoShape 203" id="203"/>
          <p:cNvSpPr/>
          <p:nvPr/>
        </p:nvSpPr>
        <p:spPr>
          <a:xfrm>
            <a:off x="762000" y="9677400"/>
            <a:ext cx="16764000" cy="0"/>
          </a:xfrm>
          <a:prstGeom prst="line">
            <a:avLst/>
          </a:prstGeom>
          <a:ln cap="flat" w="9525">
            <a:solidFill>
              <a:srgbClr val="DDDD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4" id="204"/>
          <p:cNvSpPr txBox="true"/>
          <p:nvPr/>
        </p:nvSpPr>
        <p:spPr>
          <a:xfrm rot="0">
            <a:off x="762000" y="98107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 b="true">
                <a:solidFill>
                  <a:srgbClr val="555555"/>
                </a:solidFill>
                <a:latin typeface="Oswald Bold"/>
                <a:ea typeface="Oswald Bold"/>
                <a:cs typeface="Oswald Bold"/>
                <a:sym typeface="Oswald Bold"/>
              </a:rPr>
              <a:t>METAL WORX, INC.</a:t>
            </a:r>
          </a:p>
        </p:txBody>
      </p:sp>
      <p:sp>
        <p:nvSpPr>
          <p:cNvPr name="TextBox 205" id="205"/>
          <p:cNvSpPr txBox="true"/>
          <p:nvPr/>
        </p:nvSpPr>
        <p:spPr>
          <a:xfrm rot="0">
            <a:off x="4762500" y="9829800"/>
            <a:ext cx="762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359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MILESTONE SUMMARY</a:t>
            </a:r>
          </a:p>
        </p:txBody>
      </p:sp>
      <p:sp>
        <p:nvSpPr>
          <p:cNvPr name="TextBox 206" id="206"/>
          <p:cNvSpPr txBox="true"/>
          <p:nvPr/>
        </p:nvSpPr>
        <p:spPr>
          <a:xfrm rot="0">
            <a:off x="15811500" y="9829800"/>
            <a:ext cx="1714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900" spc="359">
                <a:solidFill>
                  <a:srgbClr val="555555"/>
                </a:solidFill>
                <a:latin typeface="Inter 2"/>
                <a:ea typeface="Inter 2"/>
                <a:cs typeface="Inter 2"/>
                <a:sym typeface="Inter 2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828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762000" y="7334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SECTION 06  ·  INSTALLATION FIELDWORK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2000" y="1190625"/>
            <a:ext cx="14287500" cy="157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61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Boots on the ground.</a:t>
            </a:r>
          </a:p>
          <a:p>
            <a:pPr algn="l">
              <a:lnSpc>
                <a:spcPts val="6027"/>
              </a:lnSpc>
            </a:pPr>
            <a:r>
              <a:rPr lang="en-US" sz="61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On-site, on-spec.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62000" y="3238500"/>
            <a:ext cx="11239500" cy="5524500"/>
            <a:chOff x="0" y="0"/>
            <a:chExt cx="14986000" cy="7366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98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14986000">
                  <a:moveTo>
                    <a:pt x="0" y="0"/>
                  </a:moveTo>
                  <a:lnTo>
                    <a:pt x="14986000" y="0"/>
                  </a:lnTo>
                  <a:lnTo>
                    <a:pt x="14986000" y="7366000"/>
                  </a:lnTo>
                  <a:lnTo>
                    <a:pt x="0" y="7366000"/>
                  </a:ln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49860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762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1524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2286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3048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3810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4572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334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6096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6858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7620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8382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9144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9906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0668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1430000" y="3238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762000" y="3238500"/>
            <a:ext cx="11239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762000" y="4000500"/>
            <a:ext cx="11239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762000" y="4762500"/>
            <a:ext cx="11239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762000" y="5524500"/>
            <a:ext cx="11239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762000" y="6286500"/>
            <a:ext cx="11239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762000" y="7048500"/>
            <a:ext cx="11239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762000" y="7810500"/>
            <a:ext cx="11239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>
            <a:off x="762000" y="8572500"/>
            <a:ext cx="11239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3390900" y="5334000"/>
            <a:ext cx="457200" cy="457200"/>
            <a:chOff x="0" y="0"/>
            <a:chExt cx="609600" cy="609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A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238500" y="5791200"/>
            <a:ext cx="762000" cy="1714500"/>
            <a:chOff x="0" y="0"/>
            <a:chExt cx="1016000" cy="2286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1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16000">
                  <a:moveTo>
                    <a:pt x="203200" y="0"/>
                  </a:moveTo>
                  <a:lnTo>
                    <a:pt x="812800" y="0"/>
                  </a:lnTo>
                  <a:lnTo>
                    <a:pt x="1016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1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810000" y="6096000"/>
            <a:ext cx="190500" cy="190500"/>
            <a:chOff x="0" y="0"/>
            <a:chExt cx="254000" cy="254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DD66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867400" y="5334000"/>
            <a:ext cx="457200" cy="457200"/>
            <a:chOff x="0" y="0"/>
            <a:chExt cx="609600" cy="609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A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715000" y="5791200"/>
            <a:ext cx="762000" cy="1714500"/>
            <a:chOff x="0" y="0"/>
            <a:chExt cx="1016000" cy="2286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1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16000">
                  <a:moveTo>
                    <a:pt x="203200" y="0"/>
                  </a:moveTo>
                  <a:lnTo>
                    <a:pt x="812800" y="0"/>
                  </a:lnTo>
                  <a:lnTo>
                    <a:pt x="1016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1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362700" y="6191250"/>
            <a:ext cx="190500" cy="190500"/>
            <a:chOff x="0" y="0"/>
            <a:chExt cx="254000" cy="254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DD66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343900" y="5334000"/>
            <a:ext cx="457200" cy="457200"/>
            <a:chOff x="0" y="0"/>
            <a:chExt cx="60960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A2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191500" y="5791200"/>
            <a:ext cx="762000" cy="1714500"/>
            <a:chOff x="0" y="0"/>
            <a:chExt cx="1016000" cy="2286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1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16000">
                  <a:moveTo>
                    <a:pt x="203200" y="0"/>
                  </a:moveTo>
                  <a:lnTo>
                    <a:pt x="812800" y="0"/>
                  </a:lnTo>
                  <a:lnTo>
                    <a:pt x="1016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01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915400" y="6286500"/>
            <a:ext cx="190500" cy="190500"/>
            <a:chOff x="0" y="0"/>
            <a:chExt cx="254000" cy="254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127000" y="0"/>
                  </a:moveTo>
                  <a:cubicBezTo>
                    <a:pt x="197140" y="0"/>
                    <a:pt x="254000" y="56860"/>
                    <a:pt x="254000" y="127000"/>
                  </a:cubicBezTo>
                  <a:cubicBezTo>
                    <a:pt x="254000" y="197140"/>
                    <a:pt x="197140" y="254000"/>
                    <a:pt x="127000" y="254000"/>
                  </a:cubicBezTo>
                  <a:cubicBezTo>
                    <a:pt x="56860" y="254000"/>
                    <a:pt x="0" y="197140"/>
                    <a:pt x="0" y="127000"/>
                  </a:cubicBez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DD66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6" id="96"/>
          <p:cNvSpPr/>
          <p:nvPr/>
        </p:nvSpPr>
        <p:spPr>
          <a:xfrm>
            <a:off x="1143000" y="7810500"/>
            <a:ext cx="10477500" cy="0"/>
          </a:xfrm>
          <a:prstGeom prst="line">
            <a:avLst/>
          </a:prstGeom>
          <a:ln cap="flat" w="3810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>
            <a:off x="838200" y="33147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>
            <a:off x="838200" y="33147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1143000" y="8191500"/>
            <a:ext cx="1905000" cy="381000"/>
            <a:chOff x="0" y="0"/>
            <a:chExt cx="2540000" cy="508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40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540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143000" y="826770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ON-SITE INSTALL</a:t>
            </a:r>
          </a:p>
        </p:txBody>
      </p:sp>
      <p:sp>
        <p:nvSpPr>
          <p:cNvPr name="AutoShape 103" id="103"/>
          <p:cNvSpPr/>
          <p:nvPr/>
        </p:nvSpPr>
        <p:spPr>
          <a:xfrm>
            <a:off x="12382500" y="3143250"/>
            <a:ext cx="53340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>
            <a:off x="12382500" y="4171950"/>
            <a:ext cx="53340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>
            <a:off x="12382500" y="5200650"/>
            <a:ext cx="53340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>
            <a:off x="12382500" y="6229350"/>
            <a:ext cx="53340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>
            <a:off x="12382500" y="7258050"/>
            <a:ext cx="53340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8" id="108"/>
          <p:cNvSpPr txBox="true"/>
          <p:nvPr/>
        </p:nvSpPr>
        <p:spPr>
          <a:xfrm rot="0">
            <a:off x="12382500" y="3209925"/>
            <a:ext cx="53340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CREW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382500" y="3419475"/>
            <a:ext cx="5334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5-person install team, all trades on-site.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382500" y="4238625"/>
            <a:ext cx="53340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EQUIPMENT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2382500" y="4448175"/>
            <a:ext cx="5334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Rough-terrain forklift · MIG rig · plasma cutter.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2382500" y="5267325"/>
            <a:ext cx="53340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SAFETY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382500" y="5476875"/>
            <a:ext cx="5334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Fire watch · hot-work permit · PPE tier 3.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2382500" y="6296025"/>
            <a:ext cx="53340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SITE CONDITIONS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2382500" y="6505575"/>
            <a:ext cx="5334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Concrete pad, 42° F, mild wind — heat blankets deployed.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382500" y="7324725"/>
            <a:ext cx="533400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825" spc="288" b="true">
                <a:solidFill>
                  <a:srgbClr val="B5121B"/>
                </a:solidFill>
                <a:latin typeface="Inter 2 Bold"/>
                <a:ea typeface="Inter 2 Bold"/>
                <a:cs typeface="Inter 2 Bold"/>
                <a:sym typeface="Inter 2 Bold"/>
              </a:rPr>
              <a:t>CHALLENGE OVERCOME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2382500" y="7534275"/>
            <a:ext cx="5334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Field-verified corner variance; on-site shims fabricated in ≈ 40 minutes.</a:t>
            </a:r>
          </a:p>
        </p:txBody>
      </p:sp>
      <p:sp>
        <p:nvSpPr>
          <p:cNvPr name="AutoShape 118" id="118"/>
          <p:cNvSpPr/>
          <p:nvPr/>
        </p:nvSpPr>
        <p:spPr>
          <a:xfrm>
            <a:off x="762000" y="9677400"/>
            <a:ext cx="16764000" cy="0"/>
          </a:xfrm>
          <a:prstGeom prst="line">
            <a:avLst/>
          </a:prstGeom>
          <a:ln cap="flat" w="9525">
            <a:solidFill>
              <a:srgbClr val="5555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9" id="119"/>
          <p:cNvSpPr txBox="true"/>
          <p:nvPr/>
        </p:nvSpPr>
        <p:spPr>
          <a:xfrm rot="0">
            <a:off x="762000" y="98107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 b="true">
                <a:solidFill>
                  <a:srgbClr val="C0C0C0"/>
                </a:solidFill>
                <a:latin typeface="Oswald Bold"/>
                <a:ea typeface="Oswald Bold"/>
                <a:cs typeface="Oswald Bold"/>
                <a:sym typeface="Oswald Bold"/>
              </a:rPr>
              <a:t>METAL WORX, INC.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4762500" y="9829800"/>
            <a:ext cx="7620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spc="359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INSTALLATION FIELDWORK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5811500" y="9829800"/>
            <a:ext cx="1714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900" spc="359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A0A0A">
                    <a:alpha val="100000"/>
                  </a:srgbClr>
                </a:gs>
                <a:gs pos="100000">
                  <a:srgbClr val="1A1A1A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82880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76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152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304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381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0" y="533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0" y="609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0" y="7620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0" y="8382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0" y="9906000"/>
            <a:ext cx="18288000" cy="0"/>
          </a:xfrm>
          <a:prstGeom prst="line">
            <a:avLst/>
          </a:prstGeom>
          <a:ln cap="flat" w="9525">
            <a:solidFill>
              <a:srgbClr val="555555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2476500" y="2286000"/>
            <a:ext cx="13335000" cy="4953000"/>
            <a:chOff x="0" y="0"/>
            <a:chExt cx="17780000" cy="66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780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17780000">
                  <a:moveTo>
                    <a:pt x="0" y="0"/>
                  </a:moveTo>
                  <a:lnTo>
                    <a:pt x="17780000" y="0"/>
                  </a:lnTo>
                  <a:lnTo>
                    <a:pt x="17780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7780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>
            <a:off x="30480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38608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46736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54864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62992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71120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79248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87376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95504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103632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111760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119888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28016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36144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144272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15240000" y="2667000"/>
            <a:ext cx="0" cy="4191000"/>
          </a:xfrm>
          <a:prstGeom prst="line">
            <a:avLst/>
          </a:prstGeom>
          <a:ln cap="flat" w="19050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8534400" y="4095750"/>
            <a:ext cx="1219200" cy="1333500"/>
            <a:chOff x="0" y="0"/>
            <a:chExt cx="1625600" cy="1778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6256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625600">
                  <a:moveTo>
                    <a:pt x="812800" y="0"/>
                  </a:moveTo>
                  <a:lnTo>
                    <a:pt x="1625600" y="444500"/>
                  </a:lnTo>
                  <a:lnTo>
                    <a:pt x="1625600" y="1333500"/>
                  </a:lnTo>
                  <a:lnTo>
                    <a:pt x="812800" y="1778000"/>
                  </a:lnTo>
                  <a:lnTo>
                    <a:pt x="0" y="1333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1625600" cy="184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30"/>
                </a:lnSpc>
              </a:pPr>
              <a:r>
                <a:rPr lang="en-US" sz="3450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MW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095500" y="7239000"/>
            <a:ext cx="14097000" cy="38100"/>
            <a:chOff x="0" y="0"/>
            <a:chExt cx="18796000" cy="50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796000" cy="50800"/>
            </a:xfrm>
            <a:custGeom>
              <a:avLst/>
              <a:gdLst/>
              <a:ahLst/>
              <a:cxnLst/>
              <a:rect r="r" b="b" t="t" l="l"/>
              <a:pathLst>
                <a:path h="50800" w="18796000">
                  <a:moveTo>
                    <a:pt x="0" y="0"/>
                  </a:moveTo>
                  <a:lnTo>
                    <a:pt x="18796000" y="0"/>
                  </a:lnTo>
                  <a:lnTo>
                    <a:pt x="1879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879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9" id="69"/>
          <p:cNvSpPr/>
          <p:nvPr/>
        </p:nvSpPr>
        <p:spPr>
          <a:xfrm>
            <a:off x="762000" y="7620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762000" y="7620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>
            <a:off x="17316450" y="7620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>
            <a:off x="17316450" y="7620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>
            <a:off x="762000" y="931545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>
            <a:off x="762000" y="931545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17316450" y="931545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17316450" y="931545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7" id="77"/>
          <p:cNvSpPr txBox="true"/>
          <p:nvPr/>
        </p:nvSpPr>
        <p:spPr>
          <a:xfrm rot="0">
            <a:off x="0" y="1114425"/>
            <a:ext cx="18288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 spc="420">
                <a:solidFill>
                  <a:srgbClr val="C0C0C0"/>
                </a:solidFill>
                <a:latin typeface="Inter 2 Bold"/>
                <a:ea typeface="Inter 2 Bold"/>
                <a:cs typeface="Inter 2 Bold"/>
                <a:sym typeface="Inter 2 Bold"/>
              </a:rPr>
              <a:t>PROJECT COMPLETE  ·  Q2 · 2026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0" y="1619250"/>
            <a:ext cx="1828800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SSU Connex — Delivered.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0" y="2266950"/>
            <a:ext cx="1828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405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Custom Metal Fabrication  ·  Fayetteville, NC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476500" y="8534400"/>
            <a:ext cx="13335000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sz="1350">
                <a:solidFill>
                  <a:srgbClr val="C0C0C0"/>
                </a:solidFill>
                <a:latin typeface="Inter 2"/>
                <a:ea typeface="Inter 2"/>
                <a:cs typeface="Inter 2"/>
                <a:sym typeface="Inter 2"/>
              </a:rPr>
              <a:t>Built to endure — the finished conversion passed client acceptance on the first walkthrough. Reinforced, sealed, and coating-ready.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B5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0" y="0"/>
            <a:ext cx="7810500" cy="10287000"/>
            <a:chOff x="0" y="0"/>
            <a:chExt cx="1041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1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1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477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1239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2001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2763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525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4287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5049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5811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6573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7335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8097500" y="0"/>
            <a:ext cx="0" cy="1028700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477500" y="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477500" y="762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477500" y="1524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0477500" y="2286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0477500" y="3048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477500" y="3810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0477500" y="4572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0477500" y="5334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0477500" y="6096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0477500" y="6858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0477500" y="7620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477500" y="8382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0477500" y="9144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0477500" y="9906000"/>
            <a:ext cx="7810500" cy="0"/>
          </a:xfrm>
          <a:prstGeom prst="line">
            <a:avLst/>
          </a:prstGeom>
          <a:ln cap="flat" w="9525">
            <a:solidFill>
              <a:srgbClr val="555555">
                <a:alpha val="17647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1049000" y="1333500"/>
            <a:ext cx="6667500" cy="5524500"/>
            <a:chOff x="0" y="0"/>
            <a:chExt cx="8890000" cy="736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90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7366000"/>
                  </a:lnTo>
                  <a:lnTo>
                    <a:pt x="0" y="7366000"/>
                  </a:ln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890000" cy="740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1049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1811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12573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13335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4097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4859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5621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6383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17145000" y="1333500"/>
            <a:ext cx="0" cy="552450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11049000" y="1333500"/>
            <a:ext cx="6667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1049000" y="2095500"/>
            <a:ext cx="6667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11049000" y="2857500"/>
            <a:ext cx="6667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1049000" y="3619500"/>
            <a:ext cx="6667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1049000" y="4381500"/>
            <a:ext cx="6667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11049000" y="5143500"/>
            <a:ext cx="6667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1049000" y="5905500"/>
            <a:ext cx="6667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11049000" y="6667500"/>
            <a:ext cx="6667500" cy="0"/>
          </a:xfrm>
          <a:prstGeom prst="line">
            <a:avLst/>
          </a:prstGeom>
          <a:ln cap="flat" w="9525">
            <a:solidFill>
              <a:srgbClr val="555555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1620500" y="3048000"/>
            <a:ext cx="5524500" cy="2286000"/>
            <a:chOff x="0" y="0"/>
            <a:chExt cx="7366000" cy="3048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555555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36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3" id="53"/>
          <p:cNvSpPr/>
          <p:nvPr/>
        </p:nvSpPr>
        <p:spPr>
          <a:xfrm>
            <a:off x="12001500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12530667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13059833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13589000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14118167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14647333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5176500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5705667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16234833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16764000" y="3238500"/>
            <a:ext cx="0" cy="190500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1334750" y="6096000"/>
            <a:ext cx="533400" cy="590550"/>
            <a:chOff x="0" y="0"/>
            <a:chExt cx="711200" cy="787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1200" cy="787400"/>
            </a:xfrm>
            <a:custGeom>
              <a:avLst/>
              <a:gdLst/>
              <a:ahLst/>
              <a:cxnLst/>
              <a:rect r="r" b="b" t="t" l="l"/>
              <a:pathLst>
                <a:path h="787400" w="711200">
                  <a:moveTo>
                    <a:pt x="355600" y="0"/>
                  </a:moveTo>
                  <a:lnTo>
                    <a:pt x="711200" y="196850"/>
                  </a:lnTo>
                  <a:lnTo>
                    <a:pt x="711200" y="590550"/>
                  </a:lnTo>
                  <a:lnTo>
                    <a:pt x="355600" y="787400"/>
                  </a:lnTo>
                  <a:lnTo>
                    <a:pt x="0" y="5905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B5121B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7112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MW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>
            <a:off x="11125200" y="1409700"/>
            <a:ext cx="209550" cy="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11125200" y="1409700"/>
            <a:ext cx="0" cy="209550"/>
          </a:xfrm>
          <a:prstGeom prst="line">
            <a:avLst/>
          </a:prstGeom>
          <a:ln cap="flat" w="19050">
            <a:solidFill>
              <a:srgbClr val="B512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952500" y="6591300"/>
            <a:ext cx="3048000" cy="419100"/>
            <a:chOff x="0" y="0"/>
            <a:chExt cx="4064000" cy="558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64000" cy="558800"/>
            </a:xfrm>
            <a:custGeom>
              <a:avLst/>
              <a:gdLst/>
              <a:ahLst/>
              <a:cxnLst/>
              <a:rect r="r" b="b" t="t" l="l"/>
              <a:pathLst>
                <a:path h="5588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558800"/>
                  </a:lnTo>
                  <a:lnTo>
                    <a:pt x="0" y="558800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064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191000" y="6591300"/>
            <a:ext cx="3048000" cy="419100"/>
            <a:chOff x="0" y="0"/>
            <a:chExt cx="4064000" cy="558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64000" cy="558800"/>
            </a:xfrm>
            <a:custGeom>
              <a:avLst/>
              <a:gdLst/>
              <a:ahLst/>
              <a:cxnLst/>
              <a:rect r="r" b="b" t="t" l="l"/>
              <a:pathLst>
                <a:path h="5588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558800"/>
                  </a:lnTo>
                  <a:lnTo>
                    <a:pt x="0" y="558800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064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2500" y="7067550"/>
            <a:ext cx="6286500" cy="419100"/>
            <a:chOff x="0" y="0"/>
            <a:chExt cx="8382000" cy="558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382000" cy="558800"/>
            </a:xfrm>
            <a:custGeom>
              <a:avLst/>
              <a:gdLst/>
              <a:ahLst/>
              <a:cxnLst/>
              <a:rect r="r" b="b" t="t" l="l"/>
              <a:pathLst>
                <a:path h="558800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1A1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8382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952500" y="9239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420" b="true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RESULTS  ·  DELIVERED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52500" y="1552575"/>
            <a:ext cx="9525000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96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Custom Metal.</a:t>
            </a:r>
          </a:p>
          <a:p>
            <a:pPr algn="l">
              <a:lnSpc>
                <a:spcPts val="9119"/>
              </a:lnSpc>
            </a:pPr>
            <a:r>
              <a:rPr lang="en-US" sz="96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Built to Last.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52500" y="4362450"/>
            <a:ext cx="22860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315" b="true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DELIVERY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52500" y="457200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On time · On spec · Zero rework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52500" y="501015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315" b="true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CRAFTSMANSHIP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52500" y="52197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Full-penetration welds · square to ±1/16"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52500" y="5657850"/>
            <a:ext cx="285750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315" b="true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IMPACT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52500" y="58674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Load rating doubled · client re-order authorized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52500" y="6629400"/>
            <a:ext cx="3048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5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VETERAN OWNED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191000" y="6629400"/>
            <a:ext cx="3048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5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AMERICAN MADE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52500" y="7105650"/>
            <a:ext cx="6286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5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BUILT STRONG. FINISHED RIGHT.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52500" y="9315450"/>
            <a:ext cx="85725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341" b="true">
                <a:solidFill>
                  <a:srgbClr val="FFFFFF"/>
                </a:solidFill>
                <a:latin typeface="Inter 2 Bold"/>
                <a:ea typeface="Inter 2 Bold"/>
                <a:cs typeface="Inter 2 Bold"/>
                <a:sym typeface="Inter 2 Bold"/>
              </a:rPr>
              <a:t>METAL WORX, INC.   ·   Fayetteville, NC   ·   metalworxnc.com   ·   (910) 000-0000</a:t>
            </a:r>
          </a:p>
        </p:txBody>
      </p:sp>
      <p:sp>
        <p:nvSpPr>
          <p:cNvPr name="AutoShape 89" id="89"/>
          <p:cNvSpPr/>
          <p:nvPr/>
        </p:nvSpPr>
        <p:spPr>
          <a:xfrm>
            <a:off x="952500" y="9144000"/>
            <a:ext cx="85725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11049000" y="571500"/>
            <a:ext cx="2880360" cy="617220"/>
            <a:chOff x="0" y="0"/>
            <a:chExt cx="3840480" cy="822960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0" y="0"/>
              <a:ext cx="731520" cy="822960"/>
              <a:chOff x="0" y="0"/>
              <a:chExt cx="731520" cy="82296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73152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731520">
                    <a:moveTo>
                      <a:pt x="365760" y="0"/>
                    </a:moveTo>
                    <a:lnTo>
                      <a:pt x="731520" y="205740"/>
                    </a:lnTo>
                    <a:lnTo>
                      <a:pt x="731520" y="617220"/>
                    </a:lnTo>
                    <a:lnTo>
                      <a:pt x="365760" y="822960"/>
                    </a:lnTo>
                    <a:lnTo>
                      <a:pt x="0" y="617220"/>
                    </a:lnTo>
                    <a:lnTo>
                      <a:pt x="0" y="205740"/>
                    </a:lnTo>
                    <a:close/>
                  </a:path>
                </a:pathLst>
              </a:custGeom>
              <a:solidFill>
                <a:srgbClr val="B5121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38100"/>
                <a:ext cx="731520" cy="861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35"/>
                  </a:lnSpc>
                </a:pPr>
                <a:r>
                  <a:rPr lang="en-US" b="true" sz="2025" spc="40">
                    <a:solidFill>
                      <a:srgbClr val="FFFFFF"/>
                    </a:solidFill>
                    <a:latin typeface="Oswald Bold"/>
                    <a:ea typeface="Oswald Bold"/>
                    <a:cs typeface="Oswald Bold"/>
                    <a:sym typeface="Oswald Bold"/>
                  </a:rPr>
                  <a:t>MW</a:t>
                </a:r>
              </a:p>
            </p:txBody>
          </p:sp>
        </p:grpSp>
        <p:sp>
          <p:nvSpPr>
            <p:cNvPr name="TextBox 94" id="94"/>
            <p:cNvSpPr txBox="true"/>
            <p:nvPr/>
          </p:nvSpPr>
          <p:spPr>
            <a:xfrm rot="0">
              <a:off x="868680" y="76200"/>
              <a:ext cx="29718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25" b="true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METAL WORX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868680" y="392430"/>
              <a:ext cx="2971800" cy="148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4"/>
                </a:lnSpc>
              </a:pPr>
              <a:r>
                <a:rPr lang="en-US" sz="675" spc="337">
                  <a:solidFill>
                    <a:srgbClr val="C0C0C0"/>
                  </a:solidFill>
                  <a:latin typeface="Inter 2"/>
                  <a:ea typeface="Inter 2"/>
                  <a:cs typeface="Inter 2"/>
                  <a:sym typeface="Inter 2"/>
                </a:rPr>
                <a:t>INCORPORATED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DAHWIqHVpjg</dc:identifier>
  <dcterms:modified xsi:type="dcterms:W3CDTF">2011-08-01T06:04:30Z</dcterms:modified>
  <cp:revision>1</cp:revision>
  <dc:title>SSU Connex Storyboard</dc:title>
</cp:coreProperties>
</file>